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3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sldSz cx="9144000" cy="5143500" type="screen16x9"/>
  <p:notesSz cx="6858000" cy="9144000"/>
  <p:embeddedFontLst>
    <p:embeddedFont>
      <p:font typeface="Inter" panose="020B0604020202020204" charset="0"/>
      <p:bold r:id="rId33"/>
      <p:boldItalic r:id="rId34"/>
    </p:embeddedFont>
    <p:embeddedFont>
      <p:font typeface="Inter ExtraBold" panose="020B0604020202020204" charset="0"/>
      <p:bold r:id="rId35"/>
      <p:boldItalic r:id="rId36"/>
    </p:embeddedFont>
    <p:embeddedFont>
      <p:font typeface="Inter SemiBold" panose="020B0604020202020204" charset="0"/>
      <p:regular r:id="rId37"/>
      <p:bold r:id="rId38"/>
      <p:italic r:id="rId39"/>
      <p:boldItalic r:id="rId40"/>
    </p:embeddedFont>
    <p:embeddedFont>
      <p:font typeface="Maven Pro" panose="020B0604020202020204" charset="0"/>
      <p:regular r:id="rId41"/>
      <p:bold r:id="rId42"/>
    </p:embeddedFont>
    <p:embeddedFont>
      <p:font typeface="Nunito" pitchFamily="2" charset="0"/>
      <p:regular r:id="rId43"/>
      <p:bold r:id="rId44"/>
      <p:italic r:id="rId45"/>
      <p:boldItalic r:id="rId4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C260433-5063-4EFD-BB7D-BC0E921B3F6F}" v="51" dt="2026-08-20T08:11:34.56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4463" autoAdjust="0"/>
  </p:normalViewPr>
  <p:slideViewPr>
    <p:cSldViewPr snapToGrid="0">
      <p:cViewPr varScale="1">
        <p:scale>
          <a:sx n="94" d="100"/>
          <a:sy n="94" d="100"/>
        </p:scale>
        <p:origin x="312" y="72"/>
      </p:cViewPr>
      <p:guideLst>
        <p:guide orient="horz" pos="162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7.fntdata"/><Relationship Id="rId21" Type="http://schemas.openxmlformats.org/officeDocument/2006/relationships/slide" Target="slides/slide20.xml"/><Relationship Id="rId34" Type="http://schemas.openxmlformats.org/officeDocument/2006/relationships/font" Target="fonts/font2.fntdata"/><Relationship Id="rId42" Type="http://schemas.openxmlformats.org/officeDocument/2006/relationships/font" Target="fonts/font10.fntdata"/><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font" Target="fonts/font5.fntdata"/><Relationship Id="rId40" Type="http://schemas.openxmlformats.org/officeDocument/2006/relationships/font" Target="fonts/font8.fntdata"/><Relationship Id="rId45" Type="http://schemas.openxmlformats.org/officeDocument/2006/relationships/font" Target="fonts/font13.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4.fntdata"/><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12.fntdata"/><Relationship Id="rId52"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3.fntdata"/><Relationship Id="rId43" Type="http://schemas.openxmlformats.org/officeDocument/2006/relationships/font" Target="fonts/font11.fntdata"/><Relationship Id="rId48" Type="http://schemas.openxmlformats.org/officeDocument/2006/relationships/viewProps" Target="viewProps.xml"/><Relationship Id="rId8" Type="http://schemas.openxmlformats.org/officeDocument/2006/relationships/slide" Target="slides/slide7.xml"/><Relationship Id="rId51" Type="http://schemas.microsoft.com/office/2016/11/relationships/changesInfo" Target="changesInfos/changesInfo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1.fntdata"/><Relationship Id="rId38" Type="http://schemas.openxmlformats.org/officeDocument/2006/relationships/font" Target="fonts/font6.fntdata"/><Relationship Id="rId46" Type="http://schemas.openxmlformats.org/officeDocument/2006/relationships/font" Target="fonts/font14.fntdata"/><Relationship Id="rId20" Type="http://schemas.openxmlformats.org/officeDocument/2006/relationships/slide" Target="slides/slide19.xml"/><Relationship Id="rId41"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üneyt Başkurt" userId="b986fa7f24abe8eb" providerId="LiveId" clId="{C345C111-1465-49C6-BB65-02CDC4CE760B}"/>
    <pc:docChg chg="undo custSel addSld modSld">
      <pc:chgData name="Cüneyt Başkurt" userId="b986fa7f24abe8eb" providerId="LiveId" clId="{C345C111-1465-49C6-BB65-02CDC4CE760B}" dt="2026-08-20T10:37:43.506" v="474" actId="478"/>
      <pc:docMkLst>
        <pc:docMk/>
      </pc:docMkLst>
      <pc:sldChg chg="modNotesTx">
        <pc:chgData name="Cüneyt Başkurt" userId="b986fa7f24abe8eb" providerId="LiveId" clId="{C345C111-1465-49C6-BB65-02CDC4CE760B}" dt="2026-08-20T06:52:51.981" v="287" actId="20577"/>
        <pc:sldMkLst>
          <pc:docMk/>
          <pc:sldMk cId="0" sldId="257"/>
        </pc:sldMkLst>
      </pc:sldChg>
      <pc:sldChg chg="modNotesTx">
        <pc:chgData name="Cüneyt Başkurt" userId="b986fa7f24abe8eb" providerId="LiveId" clId="{C345C111-1465-49C6-BB65-02CDC4CE760B}" dt="2026-08-20T07:09:18.443" v="370" actId="20577"/>
        <pc:sldMkLst>
          <pc:docMk/>
          <pc:sldMk cId="0" sldId="258"/>
        </pc:sldMkLst>
      </pc:sldChg>
      <pc:sldChg chg="modNotesTx">
        <pc:chgData name="Cüneyt Başkurt" userId="b986fa7f24abe8eb" providerId="LiveId" clId="{C345C111-1465-49C6-BB65-02CDC4CE760B}" dt="2026-08-20T07:10:47.720" v="372" actId="20577"/>
        <pc:sldMkLst>
          <pc:docMk/>
          <pc:sldMk cId="0" sldId="259"/>
        </pc:sldMkLst>
      </pc:sldChg>
      <pc:sldChg chg="modNotesTx">
        <pc:chgData name="Cüneyt Başkurt" userId="b986fa7f24abe8eb" providerId="LiveId" clId="{C345C111-1465-49C6-BB65-02CDC4CE760B}" dt="2026-08-20T07:13:09.164" v="373" actId="20577"/>
        <pc:sldMkLst>
          <pc:docMk/>
          <pc:sldMk cId="0" sldId="260"/>
        </pc:sldMkLst>
      </pc:sldChg>
      <pc:sldChg chg="modNotesTx">
        <pc:chgData name="Cüneyt Başkurt" userId="b986fa7f24abe8eb" providerId="LiveId" clId="{C345C111-1465-49C6-BB65-02CDC4CE760B}" dt="2026-08-20T07:15:19.478" v="383" actId="20577"/>
        <pc:sldMkLst>
          <pc:docMk/>
          <pc:sldMk cId="0" sldId="261"/>
        </pc:sldMkLst>
      </pc:sldChg>
      <pc:sldChg chg="modNotesTx">
        <pc:chgData name="Cüneyt Başkurt" userId="b986fa7f24abe8eb" providerId="LiveId" clId="{C345C111-1465-49C6-BB65-02CDC4CE760B}" dt="2026-08-20T07:18:06.942" v="397" actId="20577"/>
        <pc:sldMkLst>
          <pc:docMk/>
          <pc:sldMk cId="0" sldId="262"/>
        </pc:sldMkLst>
      </pc:sldChg>
      <pc:sldChg chg="addSp delSp modSp mod modNotesTx">
        <pc:chgData name="Cüneyt Başkurt" userId="b986fa7f24abe8eb" providerId="LiveId" clId="{C345C111-1465-49C6-BB65-02CDC4CE760B}" dt="2026-08-20T10:37:43.506" v="474" actId="478"/>
        <pc:sldMkLst>
          <pc:docMk/>
          <pc:sldMk cId="0" sldId="267"/>
        </pc:sldMkLst>
        <pc:spChg chg="add del mod">
          <ac:chgData name="Cüneyt Başkurt" userId="b986fa7f24abe8eb" providerId="LiveId" clId="{C345C111-1465-49C6-BB65-02CDC4CE760B}" dt="2026-08-20T10:37:43.506" v="474" actId="478"/>
          <ac:spMkLst>
            <pc:docMk/>
            <pc:sldMk cId="0" sldId="267"/>
            <ac:spMk id="3" creationId="{795D3318-BA2F-F24A-4917-0C7874F009E0}"/>
          </ac:spMkLst>
        </pc:spChg>
      </pc:sldChg>
      <pc:sldChg chg="modSp mod">
        <pc:chgData name="Cüneyt Başkurt" userId="b986fa7f24abe8eb" providerId="LiveId" clId="{C345C111-1465-49C6-BB65-02CDC4CE760B}" dt="2026-08-20T07:54:06.513" v="402" actId="14100"/>
        <pc:sldMkLst>
          <pc:docMk/>
          <pc:sldMk cId="0" sldId="271"/>
        </pc:sldMkLst>
        <pc:spChg chg="mod">
          <ac:chgData name="Cüneyt Başkurt" userId="b986fa7f24abe8eb" providerId="LiveId" clId="{C345C111-1465-49C6-BB65-02CDC4CE760B}" dt="2026-08-20T07:54:06.513" v="402" actId="14100"/>
          <ac:spMkLst>
            <pc:docMk/>
            <pc:sldMk cId="0" sldId="271"/>
            <ac:spMk id="380" creationId="{00000000-0000-0000-0000-000000000000}"/>
          </ac:spMkLst>
        </pc:spChg>
      </pc:sldChg>
      <pc:sldChg chg="modNotesTx">
        <pc:chgData name="Cüneyt Başkurt" userId="b986fa7f24abe8eb" providerId="LiveId" clId="{C345C111-1465-49C6-BB65-02CDC4CE760B}" dt="2026-08-20T07:57:32.845" v="417" actId="20577"/>
        <pc:sldMkLst>
          <pc:docMk/>
          <pc:sldMk cId="0" sldId="272"/>
        </pc:sldMkLst>
      </pc:sldChg>
      <pc:sldChg chg="modNotesTx">
        <pc:chgData name="Cüneyt Başkurt" userId="b986fa7f24abe8eb" providerId="LiveId" clId="{C345C111-1465-49C6-BB65-02CDC4CE760B}" dt="2026-08-20T08:10:08.021" v="441" actId="5793"/>
        <pc:sldMkLst>
          <pc:docMk/>
          <pc:sldMk cId="0" sldId="279"/>
        </pc:sldMkLst>
      </pc:sldChg>
      <pc:sldChg chg="delSp modSp new mod">
        <pc:chgData name="Cüneyt Başkurt" userId="b986fa7f24abe8eb" providerId="LiveId" clId="{C345C111-1465-49C6-BB65-02CDC4CE760B}" dt="2026-08-20T08:20:10.018" v="467" actId="113"/>
        <pc:sldMkLst>
          <pc:docMk/>
          <pc:sldMk cId="615884542" sldId="285"/>
        </pc:sldMkLst>
        <pc:spChg chg="mod">
          <ac:chgData name="Cüneyt Başkurt" userId="b986fa7f24abe8eb" providerId="LiveId" clId="{C345C111-1465-49C6-BB65-02CDC4CE760B}" dt="2026-08-20T08:20:10.018" v="467" actId="113"/>
          <ac:spMkLst>
            <pc:docMk/>
            <pc:sldMk cId="615884542" sldId="285"/>
            <ac:spMk id="2" creationId="{DB778B77-326E-B526-E758-98F48B017F7A}"/>
          </ac:spMkLst>
        </pc:spChg>
        <pc:spChg chg="del">
          <ac:chgData name="Cüneyt Başkurt" userId="b986fa7f24abe8eb" providerId="LiveId" clId="{C345C111-1465-49C6-BB65-02CDC4CE760B}" dt="2026-08-20T08:19:41.146" v="455" actId="478"/>
          <ac:spMkLst>
            <pc:docMk/>
            <pc:sldMk cId="615884542" sldId="285"/>
            <ac:spMk id="3" creationId="{FE222B4E-9479-2FB3-81A5-3479E92AAB7B}"/>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medium.com/@serhanbaymaz/graph-nedir-4046bad39529" TargetMode="External"/><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www.geeksforgeeks.org/dbms/what-is-graph-database/" TargetMode="External"/><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www.geeksforgeeks.org/dbms/what-is-graph-database/" TargetMode="External"/><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www.geeksforgeeks.org/graphql/difference-between-graph-database-and-relational-database/" TargetMode="External"/><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www.geeksforgeeks.org/blogs/open-source-graph-databases/" TargetMode="External"/><Relationship Id="rId2" Type="http://schemas.openxmlformats.org/officeDocument/2006/relationships/slide" Target="../slides/slide6.xml"/><Relationship Id="rId1" Type="http://schemas.openxmlformats.org/officeDocument/2006/relationships/notesMaster" Target="../notesMasters/notesMaster1.xml"/><Relationship Id="rId4" Type="http://schemas.openxmlformats.org/officeDocument/2006/relationships/hyperlink" Target="https://singhnaveen.medium.com/what-are-graph-databases-and-different-types-of-graph-databases-369e5040a9d0" TargetMode="Externa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s://www.geeksforgeeks.org/dbms/neo4j-introduction/" TargetMode="External"/><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3" Type="http://schemas.openxmlformats.org/officeDocument/2006/relationships/hyperlink" Target="https://ndjson.com/examples/" TargetMode="External"/><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3" Type="http://schemas.openxmlformats.org/officeDocument/2006/relationships/hyperlink" Target="https://neo4j.com/blog/developer/graphrag-field-guide-rag-patterns/" TargetMode="External"/><Relationship Id="rId2" Type="http://schemas.openxmlformats.org/officeDocument/2006/relationships/slide" Target="../slides/slide13.xml"/><Relationship Id="rId1" Type="http://schemas.openxmlformats.org/officeDocument/2006/relationships/notesMaster" Target="../notesMasters/notesMaster1.xml"/><Relationship Id="rId5" Type="http://schemas.openxmlformats.org/officeDocument/2006/relationships/hyperlink" Target="https://graphrag.com/reference/" TargetMode="External"/><Relationship Id="rId4" Type="http://schemas.openxmlformats.org/officeDocument/2006/relationships/hyperlink" Target="https://graphrag.com/concepts/intro-to-graphrag/" TargetMode="Externa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g3f3ea35063a_0_2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0" name="Google Shape;280;g3f3ea35063a_0_2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tr" u="sng" dirty="0">
                <a:solidFill>
                  <a:schemeClr val="hlink"/>
                </a:solidFill>
                <a:hlinkClick r:id="rId3"/>
              </a:rPr>
              <a:t>Graph nedir?. Graph veri yapısı, bir veri kümesini… | by Serhanbaymaz | Medium</a:t>
            </a:r>
            <a:r>
              <a:rPr lang="tr" dirty="0">
                <a:solidFill>
                  <a:schemeClr val="dk1"/>
                </a:solidFill>
              </a:rPr>
              <a:t> </a:t>
            </a:r>
          </a:p>
          <a:p>
            <a:pPr marL="0" lvl="0" indent="0" algn="l" rtl="0">
              <a:spcBef>
                <a:spcPts val="0"/>
              </a:spcBef>
              <a:spcAft>
                <a:spcPts val="0"/>
              </a:spcAft>
              <a:buNone/>
            </a:pPr>
            <a:endParaRPr lang="tr" dirty="0">
              <a:solidFill>
                <a:schemeClr val="dk1"/>
              </a:solidFill>
            </a:endParaRPr>
          </a:p>
          <a:p>
            <a:pPr marL="0" lvl="0" indent="0" algn="l" rtl="0">
              <a:spcBef>
                <a:spcPts val="0"/>
              </a:spcBef>
              <a:spcAft>
                <a:spcPts val="0"/>
              </a:spcAft>
              <a:buNone/>
            </a:pPr>
            <a:r>
              <a:rPr lang="tr" dirty="0">
                <a:solidFill>
                  <a:schemeClr val="dk1"/>
                </a:solidFill>
              </a:rPr>
              <a:t>Graf Nedir?</a:t>
            </a:r>
          </a:p>
          <a:p>
            <a:pPr marL="0" lvl="0" indent="0" algn="l" rtl="0">
              <a:spcBef>
                <a:spcPts val="0"/>
              </a:spcBef>
              <a:spcAft>
                <a:spcPts val="0"/>
              </a:spcAft>
              <a:buNone/>
            </a:pPr>
            <a:r>
              <a:rPr lang="tr" dirty="0">
                <a:solidFill>
                  <a:schemeClr val="dk1"/>
                </a:solidFill>
              </a:rPr>
              <a:t>Düğümlerden ve ilişkilerden oluşan veri modeli.</a:t>
            </a:r>
          </a:p>
          <a:p>
            <a:pPr marL="0" lvl="0" indent="0" algn="l" rtl="0">
              <a:spcBef>
                <a:spcPts val="0"/>
              </a:spcBef>
              <a:spcAft>
                <a:spcPts val="0"/>
              </a:spcAft>
              <a:buNone/>
            </a:pPr>
            <a:endParaRPr lang="tr" dirty="0">
              <a:solidFill>
                <a:schemeClr val="dk1"/>
              </a:solidFill>
            </a:endParaRPr>
          </a:p>
          <a:p>
            <a:pPr marL="0" lvl="0" indent="0" algn="l" rtl="0">
              <a:spcBef>
                <a:spcPts val="0"/>
              </a:spcBef>
              <a:spcAft>
                <a:spcPts val="0"/>
              </a:spcAft>
              <a:buNone/>
            </a:pPr>
            <a:r>
              <a:rPr lang="tr" dirty="0">
                <a:solidFill>
                  <a:schemeClr val="dk1"/>
                </a:solidFill>
              </a:rPr>
              <a:t>Yönlü graf: Düğümler arasındaki ilişkinin yönü belirlidir.</a:t>
            </a:r>
          </a:p>
          <a:p>
            <a:pPr marL="0" lvl="0" indent="0" algn="l" rtl="0">
              <a:spcBef>
                <a:spcPts val="0"/>
              </a:spcBef>
              <a:spcAft>
                <a:spcPts val="0"/>
              </a:spcAft>
              <a:buNone/>
            </a:pPr>
            <a:r>
              <a:rPr lang="tr" dirty="0">
                <a:solidFill>
                  <a:schemeClr val="dk1"/>
                </a:solidFill>
              </a:rPr>
              <a:t>Yönsüz graf: Düğümler arasındaki ilişkinin yönü belirsizdir.</a:t>
            </a:r>
          </a:p>
          <a:p>
            <a:pPr marL="0" lvl="0" indent="0" algn="l" rtl="0">
              <a:spcBef>
                <a:spcPts val="0"/>
              </a:spcBef>
              <a:spcAft>
                <a:spcPts val="0"/>
              </a:spcAft>
              <a:buNone/>
            </a:pPr>
            <a:r>
              <a:rPr lang="tr" dirty="0">
                <a:solidFill>
                  <a:schemeClr val="dk1"/>
                </a:solidFill>
              </a:rPr>
              <a:t>!</a:t>
            </a:r>
            <a:r>
              <a:rPr lang="tr-TR" dirty="0"/>
              <a:t> Bilginin veya sürecin hangi kaynaktan çıkıp nereye gittiğini tanımlar.</a:t>
            </a:r>
          </a:p>
          <a:p>
            <a:pPr marL="0" lvl="0" indent="0" algn="l" rtl="0">
              <a:spcBef>
                <a:spcPts val="0"/>
              </a:spcBef>
              <a:spcAft>
                <a:spcPts val="0"/>
              </a:spcAft>
              <a:buNone/>
            </a:pPr>
            <a:r>
              <a:rPr lang="tr-TR" dirty="0">
                <a:solidFill>
                  <a:schemeClr val="dk1"/>
                </a:solidFill>
              </a:rPr>
              <a:t>Ful graf: </a:t>
            </a:r>
            <a:r>
              <a:rPr lang="tr-TR" dirty="0"/>
              <a:t>Graftaki her düğümün diğer tüm düğümlerle doğrudan bir bağlantısının bulunduğu tam bağlantılı yapı.</a:t>
            </a:r>
          </a:p>
          <a:p>
            <a:pPr marL="0" lvl="0" indent="0" algn="l" rtl="0">
              <a:spcBef>
                <a:spcPts val="0"/>
              </a:spcBef>
              <a:spcAft>
                <a:spcPts val="0"/>
              </a:spcAft>
              <a:buNone/>
            </a:pPr>
            <a:endParaRPr lang="tr" dirty="0">
              <a:solidFill>
                <a:schemeClr val="dk1"/>
              </a:solidFill>
            </a:endParaRPr>
          </a:p>
          <a:p>
            <a:pPr marL="0" lvl="0" indent="0" algn="l" rtl="0">
              <a:spcBef>
                <a:spcPts val="0"/>
              </a:spcBef>
              <a:spcAft>
                <a:spcPts val="0"/>
              </a:spcAft>
              <a:buNone/>
            </a:pPr>
            <a:endParaRPr lang="tr" dirty="0">
              <a:solidFill>
                <a:schemeClr val="dk1"/>
              </a:solidFill>
            </a:endParaRPr>
          </a:p>
          <a:p>
            <a:pPr marL="0" lvl="0" indent="0" algn="l" rtl="0">
              <a:spcBef>
                <a:spcPts val="0"/>
              </a:spcBef>
              <a:spcAft>
                <a:spcPts val="0"/>
              </a:spcAft>
              <a:buNone/>
            </a:pPr>
            <a:endParaRPr lang="tr" dirty="0">
              <a:solidFill>
                <a:schemeClr val="dk1"/>
              </a:solidFill>
            </a:endParaRPr>
          </a:p>
          <a:p>
            <a:pPr marL="0" lvl="0" indent="0" algn="l" rtl="0">
              <a:spcBef>
                <a:spcPts val="0"/>
              </a:spcBef>
              <a:spcAft>
                <a:spcPts val="0"/>
              </a:spcAft>
              <a:buNone/>
            </a:pPr>
            <a:endParaRPr lang="tr" dirty="0">
              <a:solidFill>
                <a:schemeClr val="dk1"/>
              </a:solid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Google Shape;286;g3f3ea35063a_0_9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7" name="Google Shape;287;g3f3ea35063a_0_9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tr" u="sng" dirty="0">
                <a:solidFill>
                  <a:schemeClr val="hlink"/>
                </a:solidFill>
                <a:hlinkClick r:id="rId3"/>
              </a:rPr>
              <a:t>What is Graph Database - Introduction - GeeksforGeeks</a:t>
            </a:r>
            <a:r>
              <a:rPr lang="tr" dirty="0">
                <a:solidFill>
                  <a:schemeClr val="dk1"/>
                </a:solidFill>
              </a:rPr>
              <a:t> </a:t>
            </a:r>
          </a:p>
          <a:p>
            <a:pPr marL="0" lvl="0" indent="0" algn="l" rtl="0">
              <a:spcBef>
                <a:spcPts val="0"/>
              </a:spcBef>
              <a:spcAft>
                <a:spcPts val="0"/>
              </a:spcAft>
              <a:buNone/>
            </a:pPr>
            <a:r>
              <a:rPr lang="tr-TR" dirty="0"/>
              <a:t>İlişkisel (SQL) veya doküman tabanlı (</a:t>
            </a:r>
            <a:r>
              <a:rPr lang="tr-TR" dirty="0" err="1"/>
              <a:t>NoSQL</a:t>
            </a:r>
            <a:r>
              <a:rPr lang="tr-TR" dirty="0"/>
              <a:t>) sistemlerin aksine; verileri </a:t>
            </a:r>
            <a:r>
              <a:rPr lang="tr-TR" b="1" dirty="0"/>
              <a:t>Düğümler (</a:t>
            </a:r>
            <a:r>
              <a:rPr lang="tr-TR" b="1" dirty="0" err="1"/>
              <a:t>Nodes</a:t>
            </a:r>
            <a:r>
              <a:rPr lang="tr-TR" b="1" dirty="0"/>
              <a:t>)</a:t>
            </a:r>
            <a:r>
              <a:rPr lang="tr-TR" dirty="0"/>
              <a:t>, </a:t>
            </a:r>
            <a:r>
              <a:rPr lang="tr-TR" b="1" dirty="0"/>
              <a:t>İlişkiler (</a:t>
            </a:r>
            <a:r>
              <a:rPr lang="tr-TR" b="1" dirty="0" err="1"/>
              <a:t>Edges</a:t>
            </a:r>
            <a:r>
              <a:rPr lang="tr-TR" b="1" dirty="0"/>
              <a:t>)</a:t>
            </a:r>
            <a:r>
              <a:rPr lang="tr-TR" dirty="0"/>
              <a:t> ve </a:t>
            </a:r>
            <a:r>
              <a:rPr lang="tr-TR" b="1" dirty="0"/>
              <a:t>Özellikler (</a:t>
            </a:r>
            <a:r>
              <a:rPr lang="tr-TR" b="1" dirty="0" err="1"/>
              <a:t>Properties</a:t>
            </a:r>
            <a:r>
              <a:rPr lang="tr-TR" b="1" dirty="0"/>
              <a:t>)</a:t>
            </a:r>
            <a:r>
              <a:rPr lang="tr-TR" dirty="0"/>
              <a:t> olarak saklayan </a:t>
            </a:r>
            <a:r>
              <a:rPr lang="tr-TR" dirty="0" err="1"/>
              <a:t>veritabanlarıdır</a:t>
            </a:r>
            <a:r>
              <a:rPr lang="tr-TR" dirty="0"/>
              <a:t>.</a:t>
            </a:r>
          </a:p>
          <a:p>
            <a:pPr marL="0" lvl="0" indent="0" algn="l" rtl="0">
              <a:spcBef>
                <a:spcPts val="0"/>
              </a:spcBef>
              <a:spcAft>
                <a:spcPts val="0"/>
              </a:spcAft>
              <a:buNone/>
            </a:pPr>
            <a:r>
              <a:rPr lang="tr-TR" dirty="0"/>
              <a:t>Geleneksel </a:t>
            </a:r>
            <a:r>
              <a:rPr lang="tr-TR" dirty="0" err="1"/>
              <a:t>veritabanlarında</a:t>
            </a:r>
            <a:r>
              <a:rPr lang="tr-TR" dirty="0"/>
              <a:t> tabloları bağlamak için ağır </a:t>
            </a:r>
            <a:r>
              <a:rPr lang="tr-TR" sz="1100" b="0" i="0" u="none" strike="noStrike" cap="none" spc="0" dirty="0">
                <a:solidFill>
                  <a:srgbClr val="000000"/>
                </a:solidFill>
                <a:latin typeface="Arial"/>
                <a:ea typeface="Arial"/>
                <a:cs typeface="Arial"/>
                <a:sym typeface="Arial"/>
              </a:rPr>
              <a:t>JOIN</a:t>
            </a:r>
            <a:r>
              <a:rPr lang="tr-TR" dirty="0"/>
              <a:t> operasyonları gerekirken, graf </a:t>
            </a:r>
            <a:r>
              <a:rPr lang="tr-TR" dirty="0" err="1"/>
              <a:t>veritabanlarında</a:t>
            </a:r>
            <a:r>
              <a:rPr lang="tr-TR" dirty="0"/>
              <a:t> ilişkiler fiziksel olarak saklanır ve tek adımda hızlıca gezilebilir (</a:t>
            </a:r>
            <a:r>
              <a:rPr lang="tr-TR" i="1" dirty="0" err="1"/>
              <a:t>Graph</a:t>
            </a:r>
            <a:r>
              <a:rPr lang="tr-TR" i="1" dirty="0"/>
              <a:t> </a:t>
            </a:r>
            <a:r>
              <a:rPr lang="tr-TR" i="1" dirty="0" err="1"/>
              <a:t>Traversal</a:t>
            </a:r>
            <a:r>
              <a:rPr lang="tr-TR" dirty="0"/>
              <a:t>).</a:t>
            </a:r>
          </a:p>
          <a:p>
            <a:pPr marL="0" lvl="0" indent="0" algn="l" rtl="0">
              <a:spcBef>
                <a:spcPts val="0"/>
              </a:spcBef>
              <a:spcAft>
                <a:spcPts val="0"/>
              </a:spcAft>
              <a:buNone/>
            </a:pPr>
            <a:endParaRPr lang="tr-TR" dirty="0"/>
          </a:p>
          <a:p>
            <a:pPr marL="0" lvl="0" indent="0" algn="l" rtl="0">
              <a:spcBef>
                <a:spcPts val="0"/>
              </a:spcBef>
              <a:spcAft>
                <a:spcPts val="0"/>
              </a:spcAft>
              <a:buNone/>
            </a:pPr>
            <a:r>
              <a:rPr lang="tr-TR" b="1" dirty="0"/>
              <a:t>JOIN NEDEN MALIYETLI??</a:t>
            </a:r>
          </a:p>
          <a:p>
            <a:pPr marL="228600" lvl="0" indent="-228600" algn="l" rtl="0">
              <a:spcBef>
                <a:spcPts val="0"/>
              </a:spcBef>
              <a:spcAft>
                <a:spcPts val="0"/>
              </a:spcAft>
              <a:buAutoNum type="arabicPeriod"/>
            </a:pPr>
            <a:r>
              <a:rPr lang="tr-TR" b="1" dirty="0"/>
              <a:t>Her Sorguda Yeniden Hesaplama (On-</a:t>
            </a:r>
            <a:r>
              <a:rPr lang="tr-TR" b="1" dirty="0" err="1"/>
              <a:t>the</a:t>
            </a:r>
            <a:r>
              <a:rPr lang="tr-TR" b="1" dirty="0"/>
              <a:t>-</a:t>
            </a:r>
            <a:r>
              <a:rPr lang="tr-TR" b="1" dirty="0" err="1"/>
              <a:t>Fly</a:t>
            </a:r>
            <a:r>
              <a:rPr lang="tr-TR" b="1" dirty="0"/>
              <a:t>): </a:t>
            </a:r>
            <a:r>
              <a:rPr lang="tr-TR" dirty="0"/>
              <a:t>İlişkisel </a:t>
            </a:r>
            <a:r>
              <a:rPr lang="tr-TR" dirty="0" err="1"/>
              <a:t>veritabanlarında</a:t>
            </a:r>
            <a:r>
              <a:rPr lang="tr-TR" dirty="0"/>
              <a:t> ilişkiler fiziksel olarak kaydedilmez. İlişkiler (Yabancı Anahtar - </a:t>
            </a:r>
            <a:r>
              <a:rPr lang="tr-TR" dirty="0" err="1"/>
              <a:t>Foreign</a:t>
            </a:r>
            <a:r>
              <a:rPr lang="tr-TR" dirty="0"/>
              <a:t> </a:t>
            </a:r>
            <a:r>
              <a:rPr lang="tr-TR" dirty="0" err="1"/>
              <a:t>Key</a:t>
            </a:r>
            <a:r>
              <a:rPr lang="tr-TR" dirty="0"/>
              <a:t>), ancak sorgu çalıştığı anda tabloların eşleştirilmesiyle </a:t>
            </a:r>
            <a:r>
              <a:rPr lang="tr-TR" b="1" dirty="0"/>
              <a:t>matematiksel olarak o an hesaplanır</a:t>
            </a:r>
            <a:r>
              <a:rPr lang="tr-TR" dirty="0"/>
              <a:t>.</a:t>
            </a:r>
          </a:p>
          <a:p>
            <a:pPr marL="228600" lvl="0" indent="-228600" algn="l" rtl="0">
              <a:spcBef>
                <a:spcPts val="0"/>
              </a:spcBef>
              <a:spcAft>
                <a:spcPts val="0"/>
              </a:spcAft>
              <a:buAutoNum type="arabicPeriod"/>
            </a:pPr>
            <a:r>
              <a:rPr lang="tr-TR" b="1" dirty="0"/>
              <a:t>İndeks ve Tablo Tarama Yükü (B-</a:t>
            </a:r>
            <a:r>
              <a:rPr lang="tr-TR" b="1" dirty="0" err="1"/>
              <a:t>Tree</a:t>
            </a:r>
            <a:r>
              <a:rPr lang="tr-TR" b="1" dirty="0"/>
              <a:t> Geçişleri): </a:t>
            </a:r>
            <a:r>
              <a:rPr lang="tr-TR" dirty="0"/>
              <a:t>Sistem, iki tabloyu birleştirmek için devasa indeks ağaçlarında (B-</a:t>
            </a:r>
            <a:r>
              <a:rPr lang="tr-TR" dirty="0" err="1"/>
              <a:t>Tree</a:t>
            </a:r>
            <a:r>
              <a:rPr lang="tr-TR" dirty="0"/>
              <a:t>) arama yapmak ve eşleşen satırları bulmak zorundadır. Veri boyutu milyarlarca satıra çıktığında disk (I/O) ve CPU kullanımı tavan yapar.</a:t>
            </a:r>
          </a:p>
          <a:p>
            <a:pPr marL="0" lvl="0" indent="0" algn="l" rtl="0">
              <a:spcBef>
                <a:spcPts val="0"/>
              </a:spcBef>
              <a:spcAft>
                <a:spcPts val="0"/>
              </a:spcAft>
              <a:buNone/>
            </a:pPr>
            <a:r>
              <a:rPr lang="tr-TR" sz="1100" b="1" i="0" u="none" strike="noStrike" cap="none" spc="0" dirty="0">
                <a:solidFill>
                  <a:srgbClr val="000000"/>
                </a:solidFill>
                <a:effectLst/>
                <a:latin typeface="Arial"/>
                <a:ea typeface="Arial"/>
                <a:cs typeface="Arial"/>
                <a:sym typeface="Arial"/>
              </a:rPr>
              <a:t>B-</a:t>
            </a:r>
            <a:r>
              <a:rPr lang="tr-TR" sz="1100" b="1" i="0" u="none" strike="noStrike" cap="none" spc="0" dirty="0" err="1">
                <a:solidFill>
                  <a:srgbClr val="000000"/>
                </a:solidFill>
                <a:effectLst/>
                <a:latin typeface="Arial"/>
                <a:ea typeface="Arial"/>
                <a:cs typeface="Arial"/>
                <a:sym typeface="Arial"/>
              </a:rPr>
              <a:t>Tree</a:t>
            </a:r>
            <a:r>
              <a:rPr lang="tr-TR" sz="1100" b="1" i="0" u="none" strike="noStrike" cap="none" spc="0" dirty="0">
                <a:solidFill>
                  <a:srgbClr val="000000"/>
                </a:solidFill>
                <a:effectLst/>
                <a:latin typeface="Arial"/>
                <a:ea typeface="Arial"/>
                <a:cs typeface="Arial"/>
                <a:sym typeface="Arial"/>
              </a:rPr>
              <a:t> (B-Ağacı)</a:t>
            </a:r>
            <a:r>
              <a:rPr lang="tr-TR" sz="1100" b="0" i="0" u="none" strike="noStrike" cap="none" spc="0" dirty="0">
                <a:solidFill>
                  <a:srgbClr val="000000"/>
                </a:solidFill>
                <a:effectLst/>
                <a:latin typeface="Arial"/>
                <a:ea typeface="Arial"/>
                <a:cs typeface="Arial"/>
                <a:sym typeface="Arial"/>
              </a:rPr>
              <a:t>, verilerin sıralı bir şekilde tutulmasını sağlayan ve arama, ekleme, silme gibi işlemlerin </a:t>
            </a:r>
            <a:r>
              <a:rPr lang="tr-TR" sz="1100" b="0" i="0" u="none" strike="noStrike" cap="none" spc="0" dirty="0" err="1">
                <a:solidFill>
                  <a:srgbClr val="000000"/>
                </a:solidFill>
                <a:effectLst/>
                <a:latin typeface="Arial"/>
                <a:ea typeface="Arial"/>
                <a:cs typeface="Arial"/>
                <a:sym typeface="Arial"/>
              </a:rPr>
              <a:t>logarithmic</a:t>
            </a:r>
            <a:r>
              <a:rPr lang="tr-TR" sz="1100" b="0" i="0" u="none" strike="noStrike" cap="none" spc="0" dirty="0">
                <a:solidFill>
                  <a:srgbClr val="000000"/>
                </a:solidFill>
                <a:effectLst/>
                <a:latin typeface="Arial"/>
                <a:ea typeface="Arial"/>
                <a:cs typeface="Arial"/>
                <a:sym typeface="Arial"/>
              </a:rPr>
              <a:t> (</a:t>
            </a:r>
            <a:r>
              <a:rPr lang="tr-TR" dirty="0"/>
              <a:t>O(log n)</a:t>
            </a:r>
            <a:r>
              <a:rPr lang="tr-TR" sz="1100" b="0" i="0" u="none" strike="noStrike" cap="none" spc="0" dirty="0">
                <a:solidFill>
                  <a:srgbClr val="000000"/>
                </a:solidFill>
                <a:effectLst/>
                <a:latin typeface="Arial"/>
                <a:ea typeface="Arial"/>
                <a:cs typeface="Arial"/>
                <a:sym typeface="Arial"/>
              </a:rPr>
              <a:t>) sürede yapılmasını imkan tanıyan kendi kendini dengeleyen bir ağaç veri yapısıdır.</a:t>
            </a:r>
            <a:endParaRPr lang="tr-TR" dirty="0"/>
          </a:p>
          <a:p>
            <a:pPr marL="0" lvl="0" indent="0" algn="l" rtl="0">
              <a:spcBef>
                <a:spcPts val="0"/>
              </a:spcBef>
              <a:spcAft>
                <a:spcPts val="0"/>
              </a:spcAft>
              <a:buNone/>
            </a:pPr>
            <a:r>
              <a:rPr lang="tr-TR" b="1" dirty="0"/>
              <a:t>3. Derinlik Arttıkça Çöken Performans (Kombinatoryal Patlama): </a:t>
            </a:r>
            <a:r>
              <a:rPr lang="tr-TR" dirty="0"/>
              <a:t>2 tabloyu JOIN etmek kolaydır. Ancak </a:t>
            </a:r>
            <a:r>
              <a:rPr lang="tr-TR" i="1" dirty="0"/>
              <a:t>"A'nın arkadaşının, satın aldığı ürünün, kategorisindeki diğer ürünler"</a:t>
            </a:r>
            <a:r>
              <a:rPr lang="tr-TR" dirty="0"/>
              <a:t> gibi 4-5 adımlı (</a:t>
            </a:r>
            <a:r>
              <a:rPr lang="tr-TR" dirty="0" err="1"/>
              <a:t>multi</a:t>
            </a:r>
            <a:r>
              <a:rPr lang="tr-TR" dirty="0"/>
              <a:t>-hop) bir sorgu yazarsan, bellek geçici ara tablolarla şişer ve sorgu süreleri milisaniyelerden dakikalara çıkar.</a:t>
            </a:r>
          </a:p>
          <a:p>
            <a:pPr marL="0" lvl="0" indent="0" algn="l" rtl="0">
              <a:spcBef>
                <a:spcPts val="0"/>
              </a:spcBef>
              <a:spcAft>
                <a:spcPts val="0"/>
              </a:spcAft>
              <a:buNone/>
            </a:pPr>
            <a:r>
              <a:rPr lang="tr-TR" b="1" dirty="0"/>
              <a:t>4. Bellek (RAM) Tüketimi:</a:t>
            </a:r>
            <a:r>
              <a:rPr lang="tr-TR" dirty="0"/>
              <a:t> JOIN işlemleri eşleşen kayıtları bellekte tutmak ve yeni geçici sanal tablolar oluşturmak zorundadır. Bu da yüksek bellek maliyeti yaratır.</a:t>
            </a:r>
            <a:endParaRPr b="1"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g3f3ea35063a_0_9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3" name="Google Shape;293;g3f3ea35063a_0_9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tr" u="sng" dirty="0">
                <a:solidFill>
                  <a:schemeClr val="hlink"/>
                </a:solidFill>
                <a:hlinkClick r:id="rId3"/>
              </a:rPr>
              <a:t>What is Graph Database - Introduction - GeeksforGeeks</a:t>
            </a:r>
            <a:r>
              <a:rPr lang="tr" dirty="0">
                <a:solidFill>
                  <a:schemeClr val="dk1"/>
                </a:solidFill>
              </a:rPr>
              <a:t> </a:t>
            </a:r>
          </a:p>
          <a:p>
            <a:pPr lvl="0"/>
            <a:r>
              <a:rPr lang="tr-TR" b="1" dirty="0"/>
              <a:t>Çoktan-Çoğa (</a:t>
            </a:r>
            <a:r>
              <a:rPr lang="tr-TR" b="1" dirty="0" err="1"/>
              <a:t>Many-to-Many</a:t>
            </a:r>
            <a:r>
              <a:rPr lang="tr-TR" b="1" dirty="0"/>
              <a:t>) İlişki Kolaylığı:</a:t>
            </a:r>
            <a:r>
              <a:rPr lang="tr-TR" dirty="0"/>
              <a:t> </a:t>
            </a:r>
            <a:r>
              <a:rPr lang="tr-TR" dirty="0" err="1"/>
              <a:t>RDBMS'te</a:t>
            </a:r>
            <a:r>
              <a:rPr lang="tr-TR" dirty="0"/>
              <a:t> karmaşık ara tablolar (</a:t>
            </a:r>
            <a:r>
              <a:rPr lang="tr-TR" i="1" dirty="0" err="1"/>
              <a:t>junction</a:t>
            </a:r>
            <a:r>
              <a:rPr lang="tr-TR" i="1" dirty="0"/>
              <a:t>/</a:t>
            </a:r>
            <a:r>
              <a:rPr lang="tr-TR" i="1" dirty="0" err="1"/>
              <a:t>bridge</a:t>
            </a:r>
            <a:r>
              <a:rPr lang="tr-TR" i="1" dirty="0"/>
              <a:t> </a:t>
            </a:r>
            <a:r>
              <a:rPr lang="tr-TR" i="1" dirty="0" err="1"/>
              <a:t>tables</a:t>
            </a:r>
            <a:r>
              <a:rPr lang="tr-TR" dirty="0"/>
              <a:t>) ve ağır </a:t>
            </a:r>
            <a:r>
              <a:rPr lang="tr-TR" dirty="0" err="1"/>
              <a:t>JOIN'ler</a:t>
            </a:r>
            <a:r>
              <a:rPr lang="tr-TR" dirty="0"/>
              <a:t> gerektiren yapılar, grafta doğrudan iki yönlü doğal bağlantılarla çözülür.</a:t>
            </a:r>
          </a:p>
          <a:p>
            <a:pPr lvl="0"/>
            <a:r>
              <a:rPr lang="tr-TR" b="1" dirty="0"/>
              <a:t>İlişkinin Verinin Kendisi Kadar Değerli Olması:</a:t>
            </a:r>
            <a:r>
              <a:rPr lang="tr-TR" dirty="0"/>
              <a:t> Odak noktası tekil verilerden ziyade varlıkların birbirleriyle nasıl bağlandığıysa (bilgi grafları, öneri sistemleri, dolandırıcılık tespiti) graf </a:t>
            </a:r>
            <a:r>
              <a:rPr lang="tr-TR" dirty="0" err="1"/>
              <a:t>veritabanı</a:t>
            </a:r>
            <a:r>
              <a:rPr lang="tr-TR" dirty="0"/>
              <a:t> gerekir.</a:t>
            </a:r>
          </a:p>
          <a:p>
            <a:pPr lvl="0"/>
            <a:r>
              <a:rPr lang="tr-TR" b="1" dirty="0"/>
              <a:t>Büyük Ölçekte Düşük Gecikme (</a:t>
            </a:r>
            <a:r>
              <a:rPr lang="tr-TR" b="1" dirty="0" err="1"/>
              <a:t>Low</a:t>
            </a:r>
            <a:r>
              <a:rPr lang="tr-TR" b="1" dirty="0"/>
              <a:t> </a:t>
            </a:r>
            <a:r>
              <a:rPr lang="tr-TR" b="1" dirty="0" err="1"/>
              <a:t>Latency</a:t>
            </a:r>
            <a:r>
              <a:rPr lang="tr-TR" b="1" dirty="0"/>
              <a:t>):</a:t>
            </a:r>
            <a:r>
              <a:rPr lang="tr-TR" dirty="0"/>
              <a:t> </a:t>
            </a:r>
            <a:r>
              <a:rPr lang="tr-TR" dirty="0" err="1"/>
              <a:t>Veritabanı</a:t>
            </a:r>
            <a:r>
              <a:rPr lang="tr-TR" dirty="0"/>
              <a:t> terabaytlarca büyüse bile sorgu süresi tüm tablonun boyutuna değil, yalnızca gezilen lokal alt-grafın (</a:t>
            </a:r>
            <a:r>
              <a:rPr lang="tr-TR" i="1" dirty="0" err="1"/>
              <a:t>subgraph</a:t>
            </a:r>
            <a:r>
              <a:rPr lang="tr-TR" dirty="0"/>
              <a:t>) derinliğine bağlıdır.</a:t>
            </a:r>
          </a:p>
          <a:p>
            <a:pPr marL="0" lvl="0" indent="0" algn="l" rtl="0">
              <a:spcBef>
                <a:spcPts val="0"/>
              </a:spcBef>
              <a:spcAft>
                <a:spcPts val="0"/>
              </a:spcAft>
              <a:buNone/>
            </a:pPr>
            <a:endParaRPr lang="tr-TR" dirty="0"/>
          </a:p>
          <a:p>
            <a:pPr marL="0" lvl="0" indent="0" algn="l" rtl="0">
              <a:spcBef>
                <a:spcPts val="0"/>
              </a:spcBef>
              <a:spcAft>
                <a:spcPts val="0"/>
              </a:spcAft>
              <a:buNone/>
            </a:pPr>
            <a:r>
              <a:rPr lang="tr-TR" b="1" dirty="0"/>
              <a:t>Miktar Değil, Gezinme (</a:t>
            </a:r>
            <a:r>
              <a:rPr lang="tr-TR" b="1" dirty="0" err="1"/>
              <a:t>Traversal</a:t>
            </a:r>
            <a:r>
              <a:rPr lang="tr-TR" b="1" dirty="0"/>
              <a:t>) Önemli:</a:t>
            </a:r>
            <a:r>
              <a:rPr lang="tr-TR" dirty="0"/>
              <a:t> Sadece ilişkinin çok olması graf </a:t>
            </a:r>
            <a:r>
              <a:rPr lang="tr-TR" dirty="0" err="1"/>
              <a:t>veritabanı</a:t>
            </a:r>
            <a:r>
              <a:rPr lang="tr-TR" dirty="0"/>
              <a:t> seçmek için yeterli bir sebep değildir. Asıl kriter, uygulamanın bu ilişkiler arasında </a:t>
            </a:r>
            <a:r>
              <a:rPr lang="tr-TR" b="1" dirty="0"/>
              <a:t>sürekli adım adım gezinip gezinmediğidir</a:t>
            </a:r>
            <a:r>
              <a:rPr lang="tr-TR" dirty="0"/>
              <a:t> (</a:t>
            </a:r>
            <a:r>
              <a:rPr lang="tr-TR" i="1" dirty="0"/>
              <a:t>Multi-hop </a:t>
            </a:r>
            <a:r>
              <a:rPr lang="tr-TR" i="1" dirty="0" err="1"/>
              <a:t>Traversals</a:t>
            </a:r>
            <a:r>
              <a:rPr lang="tr-TR" dirty="0"/>
              <a:t>).</a:t>
            </a:r>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p:cNvGrpSpPr/>
        <p:nvPr/>
      </p:nvGrpSpPr>
      <p:grpSpPr>
        <a:xfrm>
          <a:off x="0" y="0"/>
          <a:ext cx="0" cy="0"/>
          <a:chOff x="0" y="0"/>
          <a:chExt cx="0" cy="0"/>
        </a:xfrm>
      </p:grpSpPr>
      <p:sp>
        <p:nvSpPr>
          <p:cNvPr id="299" name="Google Shape;299;g3f3ea35063a_0_9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0" name="Google Shape;300;g3f3ea35063a_0_9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tr" u="sng" dirty="0">
                <a:solidFill>
                  <a:schemeClr val="hlink"/>
                </a:solidFill>
                <a:hlinkClick r:id="rId3"/>
              </a:rPr>
              <a:t>Difference between Graph Database and Relational Database - GeeksforGeeks</a:t>
            </a:r>
            <a:r>
              <a:rPr lang="tr" dirty="0">
                <a:solidFill>
                  <a:schemeClr val="dk1"/>
                </a:solidFill>
              </a:rPr>
              <a:t> </a:t>
            </a:r>
          </a:p>
          <a:p>
            <a:pPr lvl="0"/>
            <a:r>
              <a:rPr lang="tr-TR" b="1" dirty="0"/>
              <a:t>Veri Yapısı ve Esneklik (Data </a:t>
            </a:r>
            <a:r>
              <a:rPr lang="tr-TR" b="1" dirty="0" err="1"/>
              <a:t>Structure</a:t>
            </a:r>
            <a:r>
              <a:rPr lang="tr-TR" b="1" dirty="0"/>
              <a:t> &amp; </a:t>
            </a:r>
            <a:r>
              <a:rPr lang="tr-TR" b="1" dirty="0" err="1"/>
              <a:t>Schema</a:t>
            </a:r>
            <a:r>
              <a:rPr lang="tr-TR" b="1" dirty="0"/>
              <a:t>):</a:t>
            </a:r>
            <a:endParaRPr lang="tr-TR" dirty="0"/>
          </a:p>
          <a:p>
            <a:pPr lvl="1"/>
            <a:r>
              <a:rPr lang="tr-TR" dirty="0"/>
              <a:t>RDBMS katı tablolara ve şemalara bağımlıdır; yeni bir alan veya ilişki eklemek maliyetli </a:t>
            </a:r>
            <a:r>
              <a:rPr lang="tr-TR" dirty="0" err="1"/>
              <a:t>migration</a:t>
            </a:r>
            <a:r>
              <a:rPr lang="tr-TR" dirty="0"/>
              <a:t> süreçleri gerektirir.</a:t>
            </a:r>
          </a:p>
          <a:p>
            <a:pPr lvl="1"/>
            <a:r>
              <a:rPr lang="tr-TR" dirty="0"/>
              <a:t>Graf </a:t>
            </a:r>
            <a:r>
              <a:rPr lang="tr-TR" dirty="0" err="1"/>
              <a:t>veritabanları</a:t>
            </a:r>
            <a:r>
              <a:rPr lang="tr-TR" dirty="0"/>
              <a:t> şemasız veya esnek şemalıdır; yeni düğüm veya ilişki tipleri mevcut yapıyı bozmadan kolayca eklenebilir.</a:t>
            </a:r>
          </a:p>
          <a:p>
            <a:pPr lvl="0"/>
            <a:r>
              <a:rPr lang="tr-TR" b="1" dirty="0"/>
              <a:t>Sorgu Performansı (Query </a:t>
            </a:r>
            <a:r>
              <a:rPr lang="tr-TR" b="1" dirty="0" err="1"/>
              <a:t>Speed</a:t>
            </a:r>
            <a:r>
              <a:rPr lang="tr-TR" b="1" dirty="0"/>
              <a:t>):</a:t>
            </a:r>
            <a:endParaRPr lang="tr-TR" dirty="0"/>
          </a:p>
          <a:p>
            <a:pPr lvl="1"/>
            <a:r>
              <a:rPr lang="tr-TR" dirty="0"/>
              <a:t>RDBMS ilişkileri </a:t>
            </a:r>
            <a:r>
              <a:rPr lang="tr-TR" sz="1100" b="0" i="0" u="none" strike="noStrike" cap="none" spc="0" dirty="0">
                <a:solidFill>
                  <a:srgbClr val="000000"/>
                </a:solidFill>
                <a:latin typeface="Arial"/>
                <a:ea typeface="Arial"/>
                <a:cs typeface="Arial"/>
                <a:sym typeface="Arial"/>
              </a:rPr>
              <a:t>JOIN</a:t>
            </a:r>
            <a:r>
              <a:rPr lang="tr-TR" dirty="0"/>
              <a:t> ile o an hesaplar ve derinlik arttıkça yavaşlar.</a:t>
            </a:r>
          </a:p>
          <a:p>
            <a:pPr lvl="1"/>
            <a:r>
              <a:rPr lang="tr-TR" dirty="0"/>
              <a:t>Graf </a:t>
            </a:r>
            <a:r>
              <a:rPr lang="tr-TR" dirty="0" err="1"/>
              <a:t>veritabanları</a:t>
            </a:r>
            <a:r>
              <a:rPr lang="tr-TR" dirty="0"/>
              <a:t> doğrudan fiziksel bağlantıları izlediği için ilişkisel aramalarda çok daha hızlıdır.</a:t>
            </a:r>
          </a:p>
          <a:p>
            <a:pPr lvl="0"/>
            <a:r>
              <a:rPr lang="tr-TR" b="1" dirty="0"/>
              <a:t>Kullanım Senaryoları (</a:t>
            </a:r>
            <a:r>
              <a:rPr lang="tr-TR" b="1" dirty="0" err="1"/>
              <a:t>Use</a:t>
            </a:r>
            <a:r>
              <a:rPr lang="tr-TR" b="1" dirty="0"/>
              <a:t> </a:t>
            </a:r>
            <a:r>
              <a:rPr lang="tr-TR" b="1" dirty="0" err="1"/>
              <a:t>Cases</a:t>
            </a:r>
            <a:r>
              <a:rPr lang="tr-TR" b="1" dirty="0"/>
              <a:t>):</a:t>
            </a:r>
            <a:endParaRPr lang="tr-TR" dirty="0"/>
          </a:p>
          <a:p>
            <a:pPr lvl="1"/>
            <a:r>
              <a:rPr lang="tr-TR" dirty="0"/>
              <a:t>RDBMS; finans, envanter, muhasebe gibi katı ACID ve standart tablo yapısı isteyen sistemlerde standarttır.</a:t>
            </a:r>
          </a:p>
          <a:p>
            <a:pPr lvl="1"/>
            <a:r>
              <a:rPr lang="tr-TR" dirty="0"/>
              <a:t>Graf </a:t>
            </a:r>
            <a:r>
              <a:rPr lang="tr-TR" dirty="0" err="1"/>
              <a:t>veritabanları</a:t>
            </a:r>
            <a:r>
              <a:rPr lang="tr-TR" dirty="0"/>
              <a:t>; sosyal ağlar, dolandırıcılık tespiti, öneri sistemleri ve </a:t>
            </a:r>
            <a:r>
              <a:rPr lang="tr-TR" b="1" dirty="0" err="1"/>
              <a:t>GraphRAG</a:t>
            </a:r>
            <a:r>
              <a:rPr lang="tr-TR" b="1" dirty="0"/>
              <a:t> bilgi grafları (Knowledge </a:t>
            </a:r>
            <a:r>
              <a:rPr lang="tr-TR" b="1" dirty="0" err="1"/>
              <a:t>Graphs</a:t>
            </a:r>
            <a:r>
              <a:rPr lang="tr-TR" b="1" dirty="0"/>
              <a:t>)</a:t>
            </a:r>
            <a:r>
              <a:rPr lang="tr-TR" dirty="0"/>
              <a:t> için idealdir.</a:t>
            </a:r>
          </a:p>
          <a:p>
            <a:pPr lvl="0"/>
            <a:r>
              <a:rPr lang="tr-TR" b="1" dirty="0"/>
              <a:t>Ölçeklenebilirlik ve Olgunluk (</a:t>
            </a:r>
            <a:r>
              <a:rPr lang="tr-TR" b="1" dirty="0" err="1"/>
              <a:t>Scalability</a:t>
            </a:r>
            <a:r>
              <a:rPr lang="tr-TR" b="1" dirty="0"/>
              <a:t> &amp; </a:t>
            </a:r>
            <a:r>
              <a:rPr lang="tr-TR" b="1" dirty="0" err="1"/>
              <a:t>Maturity</a:t>
            </a:r>
            <a:r>
              <a:rPr lang="tr-TR" b="1" dirty="0"/>
              <a:t>):</a:t>
            </a:r>
            <a:endParaRPr lang="tr-TR" dirty="0"/>
          </a:p>
          <a:p>
            <a:pPr lvl="1"/>
            <a:r>
              <a:rPr lang="tr-TR" dirty="0"/>
              <a:t>RDBMS 40+ yıllık olgun bir ekosisteme ve güçlü araç desteğine sahiptir.</a:t>
            </a:r>
          </a:p>
          <a:p>
            <a:pPr lvl="1"/>
            <a:r>
              <a:rPr lang="tr-TR" dirty="0"/>
              <a:t>Graf </a:t>
            </a:r>
            <a:r>
              <a:rPr lang="tr-TR" dirty="0" err="1"/>
              <a:t>veritabanlarında</a:t>
            </a:r>
            <a:r>
              <a:rPr lang="tr-TR" dirty="0"/>
              <a:t> grafı birden fazla sunucuya bölmek (</a:t>
            </a:r>
            <a:r>
              <a:rPr lang="tr-TR" i="1" dirty="0" err="1"/>
              <a:t>graph</a:t>
            </a:r>
            <a:r>
              <a:rPr lang="tr-TR" i="1" dirty="0"/>
              <a:t> </a:t>
            </a:r>
            <a:r>
              <a:rPr lang="tr-TR" i="1" dirty="0" err="1"/>
              <a:t>partitioning</a:t>
            </a:r>
            <a:r>
              <a:rPr lang="tr-TR" i="1" dirty="0"/>
              <a:t> / </a:t>
            </a:r>
            <a:r>
              <a:rPr lang="tr-TR" i="1" dirty="0" err="1"/>
              <a:t>sharding</a:t>
            </a:r>
            <a:r>
              <a:rPr lang="tr-TR" dirty="0"/>
              <a:t>) yatay ölçeklemede zorluk yaratabilir; ancak dikeyde ve alt-graf aramalarında yüksek performans sunar.</a:t>
            </a:r>
          </a:p>
          <a:p>
            <a:pPr marL="0" lvl="0" indent="0" algn="l" rtl="0">
              <a:spcBef>
                <a:spcPts val="0"/>
              </a:spcBef>
              <a:spcAft>
                <a:spcPts val="0"/>
              </a:spcAft>
              <a:buNone/>
            </a:pPr>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3f3ea35063a_0_10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3f3ea35063a_0_10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tr" u="sng" dirty="0">
                <a:solidFill>
                  <a:schemeClr val="hlink"/>
                </a:solidFill>
                <a:hlinkClick r:id="rId3"/>
              </a:rPr>
              <a:t>Top 10 Open Source Graph Databases in 2025 - GeeksforGeeks</a:t>
            </a:r>
            <a:r>
              <a:rPr lang="tr" dirty="0">
                <a:solidFill>
                  <a:schemeClr val="dk1"/>
                </a:solidFill>
              </a:rPr>
              <a:t> </a:t>
            </a:r>
            <a:endParaRPr dirty="0">
              <a:solidFill>
                <a:schemeClr val="dk1"/>
              </a:solidFill>
            </a:endParaRPr>
          </a:p>
          <a:p>
            <a:pPr marL="0" lvl="0" indent="0" algn="l" rtl="0">
              <a:spcBef>
                <a:spcPts val="0"/>
              </a:spcBef>
              <a:spcAft>
                <a:spcPts val="0"/>
              </a:spcAft>
              <a:buNone/>
            </a:pPr>
            <a:r>
              <a:rPr lang="tr" u="sng" dirty="0">
                <a:solidFill>
                  <a:schemeClr val="hlink"/>
                </a:solidFill>
                <a:hlinkClick r:id="rId4"/>
              </a:rPr>
              <a:t>What are Graph databases and different types of Graph databases | by Naveen Singh | Medium</a:t>
            </a:r>
            <a:r>
              <a:rPr lang="tr" dirty="0">
                <a:solidFill>
                  <a:schemeClr val="dk1"/>
                </a:solidFill>
              </a:rPr>
              <a:t> </a:t>
            </a:r>
          </a:p>
          <a:p>
            <a:pPr marL="0" lvl="0" indent="0" algn="l" rtl="0">
              <a:spcBef>
                <a:spcPts val="0"/>
              </a:spcBef>
              <a:spcAft>
                <a:spcPts val="0"/>
              </a:spcAft>
              <a:buNone/>
            </a:pPr>
            <a:endParaRPr lang="tr" dirty="0">
              <a:solidFill>
                <a:schemeClr val="dk1"/>
              </a:solidFill>
            </a:endParaRPr>
          </a:p>
          <a:p>
            <a:pPr marL="0" lvl="0" indent="0" algn="l" rtl="0">
              <a:spcBef>
                <a:spcPts val="0"/>
              </a:spcBef>
              <a:spcAft>
                <a:spcPts val="0"/>
              </a:spcAft>
              <a:buNone/>
            </a:pPr>
            <a:r>
              <a:rPr lang="tr-TR" b="1" dirty="0"/>
              <a:t>Neo4j:</a:t>
            </a:r>
            <a:r>
              <a:rPr lang="tr-TR" dirty="0"/>
              <a:t> Sektör standardı haline gelmiş en popüler yerel (</a:t>
            </a:r>
            <a:r>
              <a:rPr lang="tr-TR" i="1" dirty="0" err="1"/>
              <a:t>native</a:t>
            </a:r>
            <a:r>
              <a:rPr lang="tr-TR" dirty="0"/>
              <a:t>) graf </a:t>
            </a:r>
            <a:r>
              <a:rPr lang="tr-TR" dirty="0" err="1"/>
              <a:t>veritabanıdır</a:t>
            </a:r>
            <a:r>
              <a:rPr lang="tr-TR" dirty="0"/>
              <a:t>; </a:t>
            </a:r>
            <a:r>
              <a:rPr lang="tr-TR" b="1" dirty="0" err="1"/>
              <a:t>Cypher</a:t>
            </a:r>
            <a:r>
              <a:rPr lang="tr-TR" dirty="0"/>
              <a:t> sorgu dili ve ACID uyumluluğu ile </a:t>
            </a:r>
            <a:r>
              <a:rPr lang="tr-TR" dirty="0" err="1"/>
              <a:t>GraphRAG</a:t>
            </a:r>
            <a:r>
              <a:rPr lang="tr-TR" dirty="0"/>
              <a:t> projelerinde en yaygın kullanılan seçenektir.</a:t>
            </a:r>
            <a:endParaRPr lang="tr" dirty="0">
              <a:solidFill>
                <a:schemeClr val="dk1"/>
              </a:solidFill>
            </a:endParaRPr>
          </a:p>
          <a:p>
            <a:pPr marL="0" lvl="0" indent="0" algn="l" rtl="0">
              <a:spcBef>
                <a:spcPts val="0"/>
              </a:spcBef>
              <a:spcAft>
                <a:spcPts val="0"/>
              </a:spcAft>
              <a:buNone/>
            </a:pPr>
            <a:r>
              <a:rPr lang="tr-TR" b="1" dirty="0" err="1"/>
              <a:t>ArangoDB</a:t>
            </a:r>
            <a:r>
              <a:rPr lang="tr-TR" b="1" dirty="0"/>
              <a:t>:</a:t>
            </a:r>
            <a:r>
              <a:rPr lang="tr-TR" dirty="0"/>
              <a:t> Graf, doküman (JSON) ve anahtar-değer modellerini tek bir motorda birleştiren çok modelli (</a:t>
            </a:r>
            <a:r>
              <a:rPr lang="tr-TR" i="1" dirty="0" err="1"/>
              <a:t>multi</a:t>
            </a:r>
            <a:r>
              <a:rPr lang="tr-TR" i="1" dirty="0"/>
              <a:t>-model</a:t>
            </a:r>
            <a:r>
              <a:rPr lang="tr-TR" dirty="0"/>
              <a:t>) bir </a:t>
            </a:r>
            <a:r>
              <a:rPr lang="tr-TR" dirty="0" err="1"/>
              <a:t>veritabanıdır</a:t>
            </a:r>
            <a:r>
              <a:rPr lang="tr-TR" dirty="0"/>
              <a:t>; tek sorgu diliyle (AQL) esnek yapılar kurmayı sağlar.</a:t>
            </a:r>
          </a:p>
          <a:p>
            <a:pPr marL="0" lvl="0" indent="0" algn="l" rtl="0">
              <a:spcBef>
                <a:spcPts val="0"/>
              </a:spcBef>
              <a:spcAft>
                <a:spcPts val="0"/>
              </a:spcAft>
              <a:buNone/>
            </a:pPr>
            <a:r>
              <a:rPr lang="tr-TR" b="1" dirty="0" err="1"/>
              <a:t>Dgraph</a:t>
            </a:r>
            <a:r>
              <a:rPr lang="tr-TR" b="1" dirty="0"/>
              <a:t>:</a:t>
            </a:r>
            <a:r>
              <a:rPr lang="tr-TR" dirty="0"/>
              <a:t> Doğrudan </a:t>
            </a:r>
            <a:r>
              <a:rPr lang="tr-TR" b="1" dirty="0" err="1"/>
              <a:t>GraphQL</a:t>
            </a:r>
            <a:r>
              <a:rPr lang="tr-TR" dirty="0"/>
              <a:t> tabanlı çalışan, yatayda kolayca dağıtık (</a:t>
            </a:r>
            <a:r>
              <a:rPr lang="tr-TR" i="1" dirty="0" err="1"/>
              <a:t>distributed</a:t>
            </a:r>
            <a:r>
              <a:rPr lang="tr-TR" dirty="0"/>
              <a:t>) çalışabilmesi ve ölçeklenebilmesi için tasarlanmış açık kaynaklı bir graf </a:t>
            </a:r>
            <a:r>
              <a:rPr lang="tr-TR" dirty="0" err="1"/>
              <a:t>veritabanıdır</a:t>
            </a:r>
            <a:r>
              <a:rPr lang="tr-TR" dirty="0"/>
              <a:t>.</a:t>
            </a:r>
          </a:p>
          <a:p>
            <a:pPr marL="0" lvl="0" indent="0" algn="l" rtl="0">
              <a:spcBef>
                <a:spcPts val="0"/>
              </a:spcBef>
              <a:spcAft>
                <a:spcPts val="0"/>
              </a:spcAft>
              <a:buNone/>
            </a:pPr>
            <a:r>
              <a:rPr lang="tr-TR" b="1" dirty="0" err="1"/>
              <a:t>TigerGraph</a:t>
            </a:r>
            <a:r>
              <a:rPr lang="tr-TR" b="1" dirty="0"/>
              <a:t>:</a:t>
            </a:r>
            <a:r>
              <a:rPr lang="tr-TR" dirty="0"/>
              <a:t> Büyük ölçekli kurumsal verilerde derin ve paralel analitik sorgular (</a:t>
            </a:r>
            <a:r>
              <a:rPr lang="tr-TR" i="1" dirty="0" err="1"/>
              <a:t>deep</a:t>
            </a:r>
            <a:r>
              <a:rPr lang="tr-TR" i="1" dirty="0"/>
              <a:t>-link </a:t>
            </a:r>
            <a:r>
              <a:rPr lang="tr-TR" i="1" dirty="0" err="1"/>
              <a:t>analytics</a:t>
            </a:r>
            <a:r>
              <a:rPr lang="tr-TR" dirty="0"/>
              <a:t>) çalıştırmak üzere optimize edilmiş yüksek performanslı bir motordur.</a:t>
            </a:r>
          </a:p>
          <a:p>
            <a:pPr marL="0" lvl="0" indent="0" algn="l" rtl="0">
              <a:spcBef>
                <a:spcPts val="0"/>
              </a:spcBef>
              <a:spcAft>
                <a:spcPts val="0"/>
              </a:spcAft>
              <a:buNone/>
            </a:pPr>
            <a:r>
              <a:rPr lang="tr-TR" b="1" dirty="0" err="1"/>
              <a:t>OrientDB</a:t>
            </a:r>
            <a:r>
              <a:rPr lang="tr-TR" b="1" dirty="0"/>
              <a:t>:</a:t>
            </a:r>
            <a:r>
              <a:rPr lang="tr-TR" dirty="0"/>
              <a:t> İlişkisel yapılar ile </a:t>
            </a:r>
            <a:r>
              <a:rPr lang="tr-TR" dirty="0" err="1"/>
              <a:t>NoSQL</a:t>
            </a:r>
            <a:r>
              <a:rPr lang="tr-TR" dirty="0"/>
              <a:t> doküman/graf modellerini bir araya getiren ve SQL benzeri sorgu desteği sunan bir diğer çok modelli </a:t>
            </a:r>
            <a:r>
              <a:rPr lang="tr-TR" dirty="0" err="1"/>
              <a:t>veritabanıdır</a:t>
            </a:r>
            <a:r>
              <a:rPr lang="tr-TR" dirty="0"/>
              <a:t>.</a:t>
            </a:r>
          </a:p>
          <a:p>
            <a:pPr marL="0" lvl="0" indent="0" algn="l" rtl="0">
              <a:spcBef>
                <a:spcPts val="0"/>
              </a:spcBef>
              <a:spcAft>
                <a:spcPts val="0"/>
              </a:spcAft>
              <a:buNone/>
            </a:pPr>
            <a:r>
              <a:rPr lang="tr-TR" b="1" dirty="0" err="1"/>
              <a:t>HyperGraphDB</a:t>
            </a:r>
            <a:r>
              <a:rPr lang="tr-TR" b="1" dirty="0"/>
              <a:t>:</a:t>
            </a:r>
            <a:r>
              <a:rPr lang="tr-TR" dirty="0"/>
              <a:t> Klasik ikili ilişkilerin ötesine geçerek bir ilişkinin ikiden fazla düğümü bağlamasına izin veren hiper-graf (</a:t>
            </a:r>
            <a:r>
              <a:rPr lang="tr-TR" i="1" dirty="0" err="1"/>
              <a:t>hypergraph</a:t>
            </a:r>
            <a:r>
              <a:rPr lang="tr-TR" dirty="0"/>
              <a:t>) yapısını destekler; yapay zeka ve ontoloji modelleme odaklıdır.</a:t>
            </a:r>
            <a:endParaRPr dirty="0">
              <a:solidFill>
                <a:schemeClr val="dk1"/>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6"/>
        <p:cNvGrpSpPr/>
        <p:nvPr/>
      </p:nvGrpSpPr>
      <p:grpSpPr>
        <a:xfrm>
          <a:off x="0" y="0"/>
          <a:ext cx="0" cy="0"/>
          <a:chOff x="0" y="0"/>
          <a:chExt cx="0" cy="0"/>
        </a:xfrm>
      </p:grpSpPr>
      <p:sp>
        <p:nvSpPr>
          <p:cNvPr id="317" name="Google Shape;317;g3f3ea35063a_0_10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mc:AlternateContent xmlns:mc="http://schemas.openxmlformats.org/markup-compatibility/2006">
        <mc:Choice xmlns:a14="http://schemas.microsoft.com/office/drawing/2010/main" Requires="a14">
          <p:sp>
            <p:nvSpPr>
              <p:cNvPr id="318" name="Google Shape;318;g3f3ea35063a_0_1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tr" u="sng" dirty="0">
                    <a:solidFill>
                      <a:schemeClr val="hlink"/>
                    </a:solidFill>
                    <a:hlinkClick r:id="rId3"/>
                  </a:rPr>
                  <a:t>Neo4j : The Graph Database - GeeksforGeeks</a:t>
                </a:r>
                <a:r>
                  <a:rPr lang="tr" dirty="0">
                    <a:solidFill>
                      <a:schemeClr val="dk1"/>
                    </a:solidFill>
                  </a:rPr>
                  <a:t> </a:t>
                </a:r>
              </a:p>
              <a:p>
                <a:pPr lvl="0"/>
                <a:r>
                  <a:rPr lang="tr-TR" sz="1100" b="1" i="0" u="none" strike="noStrike" cap="none" spc="0" dirty="0" err="1">
                    <a:solidFill>
                      <a:srgbClr val="000000"/>
                    </a:solidFill>
                    <a:effectLst/>
                    <a:latin typeface="Arial"/>
                    <a:ea typeface="Arial"/>
                    <a:cs typeface="Arial"/>
                    <a:sym typeface="Arial"/>
                  </a:rPr>
                  <a:t>Cypher</a:t>
                </a:r>
                <a:r>
                  <a:rPr lang="tr-TR" sz="1100" b="1" i="0" u="none" strike="noStrike" cap="none" spc="0" dirty="0">
                    <a:solidFill>
                      <a:srgbClr val="000000"/>
                    </a:solidFill>
                    <a:effectLst/>
                    <a:latin typeface="Arial"/>
                    <a:ea typeface="Arial"/>
                    <a:cs typeface="Arial"/>
                    <a:sym typeface="Arial"/>
                  </a:rPr>
                  <a:t> </a:t>
                </a:r>
                <a14:m>
                  <m:oMath xmlns:m="http://schemas.openxmlformats.org/officeDocument/2006/math">
                    <m:r>
                      <a:rPr lang="tr-TR" sz="1100" b="0" i="0" u="none" strike="noStrike" cap="none" spc="0" smtClean="0">
                        <a:solidFill>
                          <a:srgbClr val="000000"/>
                        </a:solidFill>
                        <a:latin typeface="Arial"/>
                        <a:ea typeface="Arial"/>
                        <a:cs typeface="Arial"/>
                        <a:sym typeface="Arial"/>
                      </a:rPr>
                      <m:t>→</m:t>
                    </m:r>
                  </m:oMath>
                </a14:m>
                <a:r>
                  <a:rPr lang="tr-TR" sz="1100" b="1" i="0" u="none" strike="noStrike" cap="none" spc="0" dirty="0">
                    <a:solidFill>
                      <a:srgbClr val="000000"/>
                    </a:solidFill>
                    <a:effectLst/>
                    <a:latin typeface="Arial"/>
                    <a:ea typeface="Arial"/>
                    <a:cs typeface="Arial"/>
                    <a:sym typeface="Arial"/>
                  </a:rPr>
                  <a:t>GQL:</a:t>
                </a:r>
                <a:r>
                  <a:rPr lang="tr-TR" sz="1100" b="0" i="0" u="none" strike="noStrike" cap="none" spc="0" dirty="0">
                    <a:solidFill>
                      <a:srgbClr val="000000"/>
                    </a:solidFill>
                    <a:effectLst/>
                    <a:latin typeface="Arial"/>
                    <a:ea typeface="Arial"/>
                    <a:cs typeface="Arial"/>
                    <a:sym typeface="Arial"/>
                  </a:rPr>
                  <a:t> Eskiden her graf </a:t>
                </a:r>
                <a:r>
                  <a:rPr lang="tr-TR" sz="1100" b="0" i="0" u="none" strike="noStrike" cap="none" spc="0" dirty="0" err="1">
                    <a:solidFill>
                      <a:srgbClr val="000000"/>
                    </a:solidFill>
                    <a:effectLst/>
                    <a:latin typeface="Arial"/>
                    <a:ea typeface="Arial"/>
                    <a:cs typeface="Arial"/>
                    <a:sym typeface="Arial"/>
                  </a:rPr>
                  <a:t>veritabanı</a:t>
                </a:r>
                <a:r>
                  <a:rPr lang="tr-TR" sz="1100" b="0" i="0" u="none" strike="noStrike" cap="none" spc="0" dirty="0">
                    <a:solidFill>
                      <a:srgbClr val="000000"/>
                    </a:solidFill>
                    <a:effectLst/>
                    <a:latin typeface="Arial"/>
                    <a:ea typeface="Arial"/>
                    <a:cs typeface="Arial"/>
                    <a:sym typeface="Arial"/>
                  </a:rPr>
                  <a:t> farklı bir dil kullanırken (veya </a:t>
                </a:r>
                <a:r>
                  <a:rPr lang="tr-TR" sz="1100" b="0" i="0" u="none" strike="noStrike" cap="none" spc="0" dirty="0" err="1">
                    <a:solidFill>
                      <a:srgbClr val="000000"/>
                    </a:solidFill>
                    <a:effectLst/>
                    <a:latin typeface="Arial"/>
                    <a:ea typeface="Arial"/>
                    <a:cs typeface="Arial"/>
                    <a:sym typeface="Arial"/>
                  </a:rPr>
                  <a:t>Cypher'ı</a:t>
                </a:r>
                <a:r>
                  <a:rPr lang="tr-TR" sz="1100" b="0" i="0" u="none" strike="noStrike" cap="none" spc="0" dirty="0">
                    <a:solidFill>
                      <a:srgbClr val="000000"/>
                    </a:solidFill>
                    <a:effectLst/>
                    <a:latin typeface="Arial"/>
                    <a:ea typeface="Arial"/>
                    <a:cs typeface="Arial"/>
                    <a:sym typeface="Arial"/>
                  </a:rPr>
                  <a:t> uyarlarken), artık ortak ve standart bir dil oturmuştur.</a:t>
                </a:r>
              </a:p>
              <a:p>
                <a:pPr lvl="0"/>
                <a:r>
                  <a:rPr lang="tr-TR" sz="1100" b="1" i="0" u="none" strike="noStrike" cap="none" spc="0" dirty="0">
                    <a:solidFill>
                      <a:srgbClr val="000000"/>
                    </a:solidFill>
                    <a:effectLst/>
                    <a:latin typeface="Arial"/>
                    <a:ea typeface="Arial"/>
                    <a:cs typeface="Arial"/>
                    <a:sym typeface="Arial"/>
                  </a:rPr>
                  <a:t>APOC (</a:t>
                </a:r>
                <a:r>
                  <a:rPr lang="tr-TR" sz="1100" b="1" i="0" u="none" strike="noStrike" cap="none" spc="0" dirty="0" err="1">
                    <a:solidFill>
                      <a:srgbClr val="000000"/>
                    </a:solidFill>
                    <a:effectLst/>
                    <a:latin typeface="Arial"/>
                    <a:ea typeface="Arial"/>
                    <a:cs typeface="Arial"/>
                    <a:sym typeface="Arial"/>
                  </a:rPr>
                  <a:t>Awesome</a:t>
                </a:r>
                <a:r>
                  <a:rPr lang="tr-TR" sz="1100" b="1" i="0" u="none" strike="noStrike" cap="none" spc="0" dirty="0">
                    <a:solidFill>
                      <a:srgbClr val="000000"/>
                    </a:solidFill>
                    <a:effectLst/>
                    <a:latin typeface="Arial"/>
                    <a:ea typeface="Arial"/>
                    <a:cs typeface="Arial"/>
                    <a:sym typeface="Arial"/>
                  </a:rPr>
                  <a:t> </a:t>
                </a:r>
                <a:r>
                  <a:rPr lang="tr-TR" sz="1100" b="1" i="0" u="none" strike="noStrike" cap="none" spc="0" dirty="0" err="1">
                    <a:solidFill>
                      <a:srgbClr val="000000"/>
                    </a:solidFill>
                    <a:effectLst/>
                    <a:latin typeface="Arial"/>
                    <a:ea typeface="Arial"/>
                    <a:cs typeface="Arial"/>
                    <a:sym typeface="Arial"/>
                  </a:rPr>
                  <a:t>Procedures</a:t>
                </a:r>
                <a:r>
                  <a:rPr lang="tr-TR" sz="1100" b="1" i="0" u="none" strike="noStrike" cap="none" spc="0" dirty="0">
                    <a:solidFill>
                      <a:srgbClr val="000000"/>
                    </a:solidFill>
                    <a:effectLst/>
                    <a:latin typeface="Arial"/>
                    <a:ea typeface="Arial"/>
                    <a:cs typeface="Arial"/>
                    <a:sym typeface="Arial"/>
                  </a:rPr>
                  <a:t> on </a:t>
                </a:r>
                <a:r>
                  <a:rPr lang="tr-TR" sz="1100" b="1" i="0" u="none" strike="noStrike" cap="none" spc="0" dirty="0" err="1">
                    <a:solidFill>
                      <a:srgbClr val="000000"/>
                    </a:solidFill>
                    <a:effectLst/>
                    <a:latin typeface="Arial"/>
                    <a:ea typeface="Arial"/>
                    <a:cs typeface="Arial"/>
                    <a:sym typeface="Arial"/>
                  </a:rPr>
                  <a:t>Cypher</a:t>
                </a:r>
                <a:r>
                  <a:rPr lang="tr-TR" sz="1100" b="1" i="0" u="none" strike="noStrike" cap="none" spc="0" dirty="0">
                    <a:solidFill>
                      <a:srgbClr val="000000"/>
                    </a:solidFill>
                    <a:effectLst/>
                    <a:latin typeface="Arial"/>
                    <a:ea typeface="Arial"/>
                    <a:cs typeface="Arial"/>
                    <a:sym typeface="Arial"/>
                  </a:rPr>
                  <a:t>):</a:t>
                </a:r>
                <a:r>
                  <a:rPr lang="tr-TR" sz="1100" b="0" i="0" u="none" strike="noStrike" cap="none" spc="0" dirty="0">
                    <a:solidFill>
                      <a:srgbClr val="000000"/>
                    </a:solidFill>
                    <a:effectLst/>
                    <a:latin typeface="Arial"/>
                    <a:ea typeface="Arial"/>
                    <a:cs typeface="Arial"/>
                    <a:sym typeface="Arial"/>
                  </a:rPr>
                  <a:t> Neo4j için veri aktarımı, graf algoritmaları, veri temizleme ve metin işleme gibi yüzlerce hazır fonksiyon sunan en popüler yardımcı kütüphanedir.</a:t>
                </a:r>
              </a:p>
              <a:p>
                <a:pPr lvl="0"/>
                <a:r>
                  <a:rPr lang="tr-TR" sz="1100" b="1" i="0" u="none" strike="noStrike" cap="none" spc="0" dirty="0">
                    <a:solidFill>
                      <a:srgbClr val="000000"/>
                    </a:solidFill>
                    <a:effectLst/>
                    <a:latin typeface="Arial"/>
                    <a:ea typeface="Arial"/>
                    <a:cs typeface="Arial"/>
                    <a:sym typeface="Arial"/>
                  </a:rPr>
                  <a:t>Araç Ekosistemi:</a:t>
                </a:r>
                <a:endParaRPr lang="tr-TR" sz="1100" b="0" i="0" u="none" strike="noStrike" cap="none" spc="0" dirty="0">
                  <a:solidFill>
                    <a:srgbClr val="000000"/>
                  </a:solidFill>
                  <a:effectLst/>
                  <a:latin typeface="Arial"/>
                  <a:ea typeface="Arial"/>
                  <a:cs typeface="Arial"/>
                  <a:sym typeface="Arial"/>
                </a:endParaRPr>
              </a:p>
              <a:p>
                <a:pPr lvl="1"/>
                <a:r>
                  <a:rPr lang="tr-TR" sz="1100" b="0" i="1" u="none" strike="noStrike" cap="none" spc="0" dirty="0">
                    <a:solidFill>
                      <a:srgbClr val="000000"/>
                    </a:solidFill>
                    <a:effectLst/>
                    <a:latin typeface="Arial"/>
                    <a:ea typeface="Arial"/>
                    <a:cs typeface="Arial"/>
                    <a:sym typeface="Arial"/>
                  </a:rPr>
                  <a:t>Neo4j Aura:</a:t>
                </a:r>
                <a:r>
                  <a:rPr lang="tr-TR" sz="1100" b="0" i="0" u="none" strike="noStrike" cap="none" spc="0" dirty="0">
                    <a:solidFill>
                      <a:srgbClr val="000000"/>
                    </a:solidFill>
                    <a:effectLst/>
                    <a:latin typeface="Arial"/>
                    <a:ea typeface="Arial"/>
                    <a:cs typeface="Arial"/>
                    <a:sym typeface="Arial"/>
                  </a:rPr>
                  <a:t> Kurulum gerektirmeyen bulut (</a:t>
                </a:r>
                <a:r>
                  <a:rPr lang="tr-TR" sz="1100" b="0" i="0" u="none" strike="noStrike" cap="none" spc="0" dirty="0" err="1">
                    <a:solidFill>
                      <a:srgbClr val="000000"/>
                    </a:solidFill>
                    <a:effectLst/>
                    <a:latin typeface="Arial"/>
                    <a:ea typeface="Arial"/>
                    <a:cs typeface="Arial"/>
                    <a:sym typeface="Arial"/>
                  </a:rPr>
                  <a:t>DBaaS</a:t>
                </a:r>
                <a:r>
                  <a:rPr lang="tr-TR" sz="1100" b="0" i="0" u="none" strike="noStrike" cap="none" spc="0" dirty="0">
                    <a:solidFill>
                      <a:srgbClr val="000000"/>
                    </a:solidFill>
                    <a:effectLst/>
                    <a:latin typeface="Arial"/>
                    <a:ea typeface="Arial"/>
                    <a:cs typeface="Arial"/>
                    <a:sym typeface="Arial"/>
                  </a:rPr>
                  <a:t>) çözümü.</a:t>
                </a:r>
              </a:p>
              <a:p>
                <a:pPr lvl="1"/>
                <a:r>
                  <a:rPr lang="tr-TR" sz="1100" b="0" i="1" u="none" strike="noStrike" cap="none" spc="0" dirty="0">
                    <a:solidFill>
                      <a:srgbClr val="000000"/>
                    </a:solidFill>
                    <a:effectLst/>
                    <a:latin typeface="Arial"/>
                    <a:ea typeface="Arial"/>
                    <a:cs typeface="Arial"/>
                    <a:sym typeface="Arial"/>
                  </a:rPr>
                  <a:t>Neo4j Desktop &amp; Browser:</a:t>
                </a:r>
                <a:r>
                  <a:rPr lang="tr-TR" sz="1100" b="0" i="0" u="none" strike="noStrike" cap="none" spc="0" dirty="0">
                    <a:solidFill>
                      <a:srgbClr val="000000"/>
                    </a:solidFill>
                    <a:effectLst/>
                    <a:latin typeface="Arial"/>
                    <a:ea typeface="Arial"/>
                    <a:cs typeface="Arial"/>
                    <a:sym typeface="Arial"/>
                  </a:rPr>
                  <a:t> Lokal geliştirme ve sorguları görsel arayüzde çalıştırma araçları.</a:t>
                </a:r>
              </a:p>
              <a:p>
                <a:pPr marL="158750" indent="0">
                  <a:buNone/>
                </a:pPr>
                <a:r>
                  <a:rPr lang="tr-TR" b="1" dirty="0"/>
                  <a:t>GQL (</a:t>
                </a:r>
                <a:r>
                  <a:rPr lang="tr-TR" b="1" dirty="0" err="1"/>
                  <a:t>Graph</a:t>
                </a:r>
                <a:r>
                  <a:rPr lang="tr-TR" b="1" dirty="0"/>
                  <a:t> Query Language) Nedir?</a:t>
                </a:r>
                <a:endParaRPr lang="tr-TR" dirty="0"/>
              </a:p>
              <a:p>
                <a:pPr lvl="0"/>
                <a:r>
                  <a:rPr lang="tr-TR" b="1" dirty="0"/>
                  <a:t>Graf Dünyasının </a:t>
                </a:r>
                <a:r>
                  <a:rPr lang="tr-TR" b="1" dirty="0" err="1"/>
                  <a:t>SQL'i</a:t>
                </a:r>
                <a:r>
                  <a:rPr lang="tr-TR" b="1" dirty="0"/>
                  <a:t>:</a:t>
                </a:r>
                <a:r>
                  <a:rPr lang="tr-TR" dirty="0"/>
                  <a:t> GQL, ilişkisel </a:t>
                </a:r>
                <a:r>
                  <a:rPr lang="tr-TR" dirty="0" err="1"/>
                  <a:t>veritabanlarındaki</a:t>
                </a:r>
                <a:r>
                  <a:rPr lang="tr-TR" dirty="0"/>
                  <a:t> SQL standardı gibi, graf </a:t>
                </a:r>
                <a:r>
                  <a:rPr lang="tr-TR" dirty="0" err="1"/>
                  <a:t>veritabanları</a:t>
                </a:r>
                <a:r>
                  <a:rPr lang="tr-TR" dirty="0"/>
                  <a:t> için geliştirilmiş </a:t>
                </a:r>
                <a:r>
                  <a:rPr lang="tr-TR" b="1" dirty="0"/>
                  <a:t>uluslararası resmi ISO standardı</a:t>
                </a:r>
                <a:r>
                  <a:rPr lang="tr-TR" dirty="0"/>
                  <a:t> (ISO/IEC 39075) sorgu dilidir. </a:t>
                </a:r>
              </a:p>
              <a:p>
                <a:pPr lvl="0"/>
                <a:r>
                  <a:rPr lang="tr-TR" b="1" dirty="0"/>
                  <a:t>Tarihi Önemi:</a:t>
                </a:r>
                <a:r>
                  <a:rPr lang="tr-TR" dirty="0"/>
                  <a:t> SQL'den (1987) bu yana ISO tarafından kabul edilen ilk yeni resmi </a:t>
                </a:r>
                <a:r>
                  <a:rPr lang="tr-TR" dirty="0" err="1"/>
                  <a:t>veritabanı</a:t>
                </a:r>
                <a:r>
                  <a:rPr lang="tr-TR" dirty="0"/>
                  <a:t> sorgu dili standardıdır.</a:t>
                </a: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tr-TR" b="1" dirty="0" err="1"/>
                  <a:t>Cypher</a:t>
                </a:r>
                <a:r>
                  <a:rPr lang="tr-TR" b="1" dirty="0"/>
                  <a:t> ile İlişkisi:</a:t>
                </a:r>
                <a:r>
                  <a:rPr lang="tr-TR" dirty="0"/>
                  <a:t> Neo4j'nin geliştirdiği </a:t>
                </a:r>
                <a:r>
                  <a:rPr lang="tr-TR" b="1" dirty="0" err="1"/>
                  <a:t>Cypher</a:t>
                </a:r>
                <a:r>
                  <a:rPr lang="tr-TR" dirty="0"/>
                  <a:t> sözdizimi, GQL standardının temel omurgasını oluşturmuştur. Bu sayede </a:t>
                </a:r>
                <a:r>
                  <a:rPr lang="tr-TR" dirty="0" err="1"/>
                  <a:t>Cypher</a:t>
                </a:r>
                <a:r>
                  <a:rPr lang="tr-TR" dirty="0"/>
                  <a:t> öğrenmek, doğrudan uluslararası standart dili öğrenmek anlamına gelir. 2011-2024</a:t>
                </a:r>
              </a:p>
              <a:p>
                <a:pPr lvl="0"/>
                <a:endParaRPr lang="tr-TR" dirty="0"/>
              </a:p>
              <a:p>
                <a:pPr marL="0" lvl="0" indent="0" algn="l" rtl="0">
                  <a:spcBef>
                    <a:spcPts val="0"/>
                  </a:spcBef>
                  <a:spcAft>
                    <a:spcPts val="0"/>
                  </a:spcAft>
                  <a:buNone/>
                </a:pPr>
                <a:endParaRPr dirty="0"/>
              </a:p>
            </p:txBody>
          </p:sp>
        </mc:Choice>
        <mc:Fallback>
          <p:sp>
            <p:nvSpPr>
              <p:cNvPr id="318" name="Google Shape;318;g3f3ea35063a_0_1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tr" u="sng" dirty="0">
                    <a:solidFill>
                      <a:schemeClr val="hlink"/>
                    </a:solidFill>
                    <a:hlinkClick r:id="rId3"/>
                  </a:rPr>
                  <a:t>Neo4j : The Graph Database - GeeksforGeeks</a:t>
                </a:r>
                <a:r>
                  <a:rPr lang="tr" dirty="0">
                    <a:solidFill>
                      <a:schemeClr val="dk1"/>
                    </a:solidFill>
                  </a:rPr>
                  <a:t> </a:t>
                </a:r>
              </a:p>
              <a:p>
                <a:pPr lvl="0"/>
                <a:r>
                  <a:rPr lang="tr-TR" sz="1100" b="1" i="0" u="none" strike="noStrike" cap="none" spc="0" dirty="0" err="1">
                    <a:solidFill>
                      <a:srgbClr val="000000"/>
                    </a:solidFill>
                    <a:effectLst/>
                    <a:latin typeface="Arial"/>
                    <a:ea typeface="Arial"/>
                    <a:cs typeface="Arial"/>
                    <a:sym typeface="Arial"/>
                  </a:rPr>
                  <a:t>Cypher</a:t>
                </a:r>
                <a:r>
                  <a:rPr lang="tr-TR" sz="1100" b="1" i="0" u="none" strike="noStrike" cap="none" spc="0" dirty="0">
                    <a:solidFill>
                      <a:srgbClr val="000000"/>
                    </a:solidFill>
                    <a:effectLst/>
                    <a:latin typeface="Arial"/>
                    <a:ea typeface="Arial"/>
                    <a:cs typeface="Arial"/>
                    <a:sym typeface="Arial"/>
                  </a:rPr>
                  <a:t> </a:t>
                </a:r>
                <a:r>
                  <a:rPr lang="tr-TR" sz="1100" b="0" i="0" u="none" strike="noStrike" cap="none" spc="0">
                    <a:solidFill>
                      <a:srgbClr val="000000"/>
                    </a:solidFill>
                    <a:latin typeface="Arial"/>
                    <a:ea typeface="Arial"/>
                    <a:cs typeface="Arial"/>
                    <a:sym typeface="Arial"/>
                  </a:rPr>
                  <a:t>→</a:t>
                </a:r>
                <a:r>
                  <a:rPr lang="tr-TR" sz="1100" b="1" i="0" u="none" strike="noStrike" cap="none" spc="0" dirty="0">
                    <a:solidFill>
                      <a:srgbClr val="000000"/>
                    </a:solidFill>
                    <a:effectLst/>
                    <a:latin typeface="Arial"/>
                    <a:ea typeface="Arial"/>
                    <a:cs typeface="Arial"/>
                    <a:sym typeface="Arial"/>
                  </a:rPr>
                  <a:t>GQL:</a:t>
                </a:r>
                <a:r>
                  <a:rPr lang="tr-TR" sz="1100" b="0" i="0" u="none" strike="noStrike" cap="none" spc="0" dirty="0">
                    <a:solidFill>
                      <a:srgbClr val="000000"/>
                    </a:solidFill>
                    <a:effectLst/>
                    <a:latin typeface="Arial"/>
                    <a:ea typeface="Arial"/>
                    <a:cs typeface="Arial"/>
                    <a:sym typeface="Arial"/>
                  </a:rPr>
                  <a:t> Eskiden her graf </a:t>
                </a:r>
                <a:r>
                  <a:rPr lang="tr-TR" sz="1100" b="0" i="0" u="none" strike="noStrike" cap="none" spc="0" dirty="0" err="1">
                    <a:solidFill>
                      <a:srgbClr val="000000"/>
                    </a:solidFill>
                    <a:effectLst/>
                    <a:latin typeface="Arial"/>
                    <a:ea typeface="Arial"/>
                    <a:cs typeface="Arial"/>
                    <a:sym typeface="Arial"/>
                  </a:rPr>
                  <a:t>veritabanı</a:t>
                </a:r>
                <a:r>
                  <a:rPr lang="tr-TR" sz="1100" b="0" i="0" u="none" strike="noStrike" cap="none" spc="0" dirty="0">
                    <a:solidFill>
                      <a:srgbClr val="000000"/>
                    </a:solidFill>
                    <a:effectLst/>
                    <a:latin typeface="Arial"/>
                    <a:ea typeface="Arial"/>
                    <a:cs typeface="Arial"/>
                    <a:sym typeface="Arial"/>
                  </a:rPr>
                  <a:t> farklı bir dil kullanırken (veya </a:t>
                </a:r>
                <a:r>
                  <a:rPr lang="tr-TR" sz="1100" b="0" i="0" u="none" strike="noStrike" cap="none" spc="0" dirty="0" err="1">
                    <a:solidFill>
                      <a:srgbClr val="000000"/>
                    </a:solidFill>
                    <a:effectLst/>
                    <a:latin typeface="Arial"/>
                    <a:ea typeface="Arial"/>
                    <a:cs typeface="Arial"/>
                    <a:sym typeface="Arial"/>
                  </a:rPr>
                  <a:t>Cypher'ı</a:t>
                </a:r>
                <a:r>
                  <a:rPr lang="tr-TR" sz="1100" b="0" i="0" u="none" strike="noStrike" cap="none" spc="0" dirty="0">
                    <a:solidFill>
                      <a:srgbClr val="000000"/>
                    </a:solidFill>
                    <a:effectLst/>
                    <a:latin typeface="Arial"/>
                    <a:ea typeface="Arial"/>
                    <a:cs typeface="Arial"/>
                    <a:sym typeface="Arial"/>
                  </a:rPr>
                  <a:t> uyarlarken), artık ortak ve standart bir dil oturmuştur.</a:t>
                </a:r>
              </a:p>
              <a:p>
                <a:pPr lvl="0"/>
                <a:r>
                  <a:rPr lang="tr-TR" sz="1100" b="1" i="0" u="none" strike="noStrike" cap="none" spc="0" dirty="0">
                    <a:solidFill>
                      <a:srgbClr val="000000"/>
                    </a:solidFill>
                    <a:effectLst/>
                    <a:latin typeface="Arial"/>
                    <a:ea typeface="Arial"/>
                    <a:cs typeface="Arial"/>
                    <a:sym typeface="Arial"/>
                  </a:rPr>
                  <a:t>APOC (</a:t>
                </a:r>
                <a:r>
                  <a:rPr lang="tr-TR" sz="1100" b="1" i="0" u="none" strike="noStrike" cap="none" spc="0" dirty="0" err="1">
                    <a:solidFill>
                      <a:srgbClr val="000000"/>
                    </a:solidFill>
                    <a:effectLst/>
                    <a:latin typeface="Arial"/>
                    <a:ea typeface="Arial"/>
                    <a:cs typeface="Arial"/>
                    <a:sym typeface="Arial"/>
                  </a:rPr>
                  <a:t>Awesome</a:t>
                </a:r>
                <a:r>
                  <a:rPr lang="tr-TR" sz="1100" b="1" i="0" u="none" strike="noStrike" cap="none" spc="0" dirty="0">
                    <a:solidFill>
                      <a:srgbClr val="000000"/>
                    </a:solidFill>
                    <a:effectLst/>
                    <a:latin typeface="Arial"/>
                    <a:ea typeface="Arial"/>
                    <a:cs typeface="Arial"/>
                    <a:sym typeface="Arial"/>
                  </a:rPr>
                  <a:t> </a:t>
                </a:r>
                <a:r>
                  <a:rPr lang="tr-TR" sz="1100" b="1" i="0" u="none" strike="noStrike" cap="none" spc="0" dirty="0" err="1">
                    <a:solidFill>
                      <a:srgbClr val="000000"/>
                    </a:solidFill>
                    <a:effectLst/>
                    <a:latin typeface="Arial"/>
                    <a:ea typeface="Arial"/>
                    <a:cs typeface="Arial"/>
                    <a:sym typeface="Arial"/>
                  </a:rPr>
                  <a:t>Procedures</a:t>
                </a:r>
                <a:r>
                  <a:rPr lang="tr-TR" sz="1100" b="1" i="0" u="none" strike="noStrike" cap="none" spc="0" dirty="0">
                    <a:solidFill>
                      <a:srgbClr val="000000"/>
                    </a:solidFill>
                    <a:effectLst/>
                    <a:latin typeface="Arial"/>
                    <a:ea typeface="Arial"/>
                    <a:cs typeface="Arial"/>
                    <a:sym typeface="Arial"/>
                  </a:rPr>
                  <a:t> on </a:t>
                </a:r>
                <a:r>
                  <a:rPr lang="tr-TR" sz="1100" b="1" i="0" u="none" strike="noStrike" cap="none" spc="0" dirty="0" err="1">
                    <a:solidFill>
                      <a:srgbClr val="000000"/>
                    </a:solidFill>
                    <a:effectLst/>
                    <a:latin typeface="Arial"/>
                    <a:ea typeface="Arial"/>
                    <a:cs typeface="Arial"/>
                    <a:sym typeface="Arial"/>
                  </a:rPr>
                  <a:t>Cypher</a:t>
                </a:r>
                <a:r>
                  <a:rPr lang="tr-TR" sz="1100" b="1" i="0" u="none" strike="noStrike" cap="none" spc="0" dirty="0">
                    <a:solidFill>
                      <a:srgbClr val="000000"/>
                    </a:solidFill>
                    <a:effectLst/>
                    <a:latin typeface="Arial"/>
                    <a:ea typeface="Arial"/>
                    <a:cs typeface="Arial"/>
                    <a:sym typeface="Arial"/>
                  </a:rPr>
                  <a:t>):</a:t>
                </a:r>
                <a:r>
                  <a:rPr lang="tr-TR" sz="1100" b="0" i="0" u="none" strike="noStrike" cap="none" spc="0" dirty="0">
                    <a:solidFill>
                      <a:srgbClr val="000000"/>
                    </a:solidFill>
                    <a:effectLst/>
                    <a:latin typeface="Arial"/>
                    <a:ea typeface="Arial"/>
                    <a:cs typeface="Arial"/>
                    <a:sym typeface="Arial"/>
                  </a:rPr>
                  <a:t> Neo4j için veri aktarımı, graf algoritmaları, veri temizleme ve metin işleme gibi yüzlerce hazır fonksiyon sunan en popüler yardımcı kütüphanedir.</a:t>
                </a:r>
              </a:p>
              <a:p>
                <a:pPr lvl="0"/>
                <a:r>
                  <a:rPr lang="tr-TR" sz="1100" b="1" i="0" u="none" strike="noStrike" cap="none" spc="0" dirty="0">
                    <a:solidFill>
                      <a:srgbClr val="000000"/>
                    </a:solidFill>
                    <a:effectLst/>
                    <a:latin typeface="Arial"/>
                    <a:ea typeface="Arial"/>
                    <a:cs typeface="Arial"/>
                    <a:sym typeface="Arial"/>
                  </a:rPr>
                  <a:t>Araç Ekosistemi:</a:t>
                </a:r>
                <a:endParaRPr lang="tr-TR" sz="1100" b="0" i="0" u="none" strike="noStrike" cap="none" spc="0" dirty="0">
                  <a:solidFill>
                    <a:srgbClr val="000000"/>
                  </a:solidFill>
                  <a:effectLst/>
                  <a:latin typeface="Arial"/>
                  <a:ea typeface="Arial"/>
                  <a:cs typeface="Arial"/>
                  <a:sym typeface="Arial"/>
                </a:endParaRPr>
              </a:p>
              <a:p>
                <a:pPr lvl="1"/>
                <a:r>
                  <a:rPr lang="tr-TR" sz="1100" b="0" i="1" u="none" strike="noStrike" cap="none" spc="0" dirty="0">
                    <a:solidFill>
                      <a:srgbClr val="000000"/>
                    </a:solidFill>
                    <a:effectLst/>
                    <a:latin typeface="Arial"/>
                    <a:ea typeface="Arial"/>
                    <a:cs typeface="Arial"/>
                    <a:sym typeface="Arial"/>
                  </a:rPr>
                  <a:t>Neo4j Aura:</a:t>
                </a:r>
                <a:r>
                  <a:rPr lang="tr-TR" sz="1100" b="0" i="0" u="none" strike="noStrike" cap="none" spc="0" dirty="0">
                    <a:solidFill>
                      <a:srgbClr val="000000"/>
                    </a:solidFill>
                    <a:effectLst/>
                    <a:latin typeface="Arial"/>
                    <a:ea typeface="Arial"/>
                    <a:cs typeface="Arial"/>
                    <a:sym typeface="Arial"/>
                  </a:rPr>
                  <a:t> Kurulum gerektirmeyen bulut (</a:t>
                </a:r>
                <a:r>
                  <a:rPr lang="tr-TR" sz="1100" b="0" i="0" u="none" strike="noStrike" cap="none" spc="0" dirty="0" err="1">
                    <a:solidFill>
                      <a:srgbClr val="000000"/>
                    </a:solidFill>
                    <a:effectLst/>
                    <a:latin typeface="Arial"/>
                    <a:ea typeface="Arial"/>
                    <a:cs typeface="Arial"/>
                    <a:sym typeface="Arial"/>
                  </a:rPr>
                  <a:t>DBaaS</a:t>
                </a:r>
                <a:r>
                  <a:rPr lang="tr-TR" sz="1100" b="0" i="0" u="none" strike="noStrike" cap="none" spc="0" dirty="0">
                    <a:solidFill>
                      <a:srgbClr val="000000"/>
                    </a:solidFill>
                    <a:effectLst/>
                    <a:latin typeface="Arial"/>
                    <a:ea typeface="Arial"/>
                    <a:cs typeface="Arial"/>
                    <a:sym typeface="Arial"/>
                  </a:rPr>
                  <a:t>) çözümü.</a:t>
                </a:r>
              </a:p>
              <a:p>
                <a:pPr lvl="1"/>
                <a:r>
                  <a:rPr lang="tr-TR" sz="1100" b="0" i="1" u="none" strike="noStrike" cap="none" spc="0" dirty="0">
                    <a:solidFill>
                      <a:srgbClr val="000000"/>
                    </a:solidFill>
                    <a:effectLst/>
                    <a:latin typeface="Arial"/>
                    <a:ea typeface="Arial"/>
                    <a:cs typeface="Arial"/>
                    <a:sym typeface="Arial"/>
                  </a:rPr>
                  <a:t>Neo4j Desktop &amp; Browser:</a:t>
                </a:r>
                <a:r>
                  <a:rPr lang="tr-TR" sz="1100" b="0" i="0" u="none" strike="noStrike" cap="none" spc="0" dirty="0">
                    <a:solidFill>
                      <a:srgbClr val="000000"/>
                    </a:solidFill>
                    <a:effectLst/>
                    <a:latin typeface="Arial"/>
                    <a:ea typeface="Arial"/>
                    <a:cs typeface="Arial"/>
                    <a:sym typeface="Arial"/>
                  </a:rPr>
                  <a:t> Lokal geliştirme ve sorguları görsel arayüzde çalıştırma araçları.</a:t>
                </a:r>
              </a:p>
              <a:p>
                <a:pPr marL="158750" indent="0">
                  <a:buNone/>
                </a:pPr>
                <a:r>
                  <a:rPr lang="tr-TR" b="1" dirty="0"/>
                  <a:t>GQL (</a:t>
                </a:r>
                <a:r>
                  <a:rPr lang="tr-TR" b="1" dirty="0" err="1"/>
                  <a:t>Graph</a:t>
                </a:r>
                <a:r>
                  <a:rPr lang="tr-TR" b="1" dirty="0"/>
                  <a:t> Query Language) Nedir?</a:t>
                </a:r>
                <a:endParaRPr lang="tr-TR" dirty="0"/>
              </a:p>
              <a:p>
                <a:pPr lvl="0"/>
                <a:r>
                  <a:rPr lang="tr-TR" b="1" dirty="0"/>
                  <a:t>Graf Dünyasının </a:t>
                </a:r>
                <a:r>
                  <a:rPr lang="tr-TR" b="1" dirty="0" err="1"/>
                  <a:t>SQL'i</a:t>
                </a:r>
                <a:r>
                  <a:rPr lang="tr-TR" b="1" dirty="0"/>
                  <a:t>:</a:t>
                </a:r>
                <a:r>
                  <a:rPr lang="tr-TR" dirty="0"/>
                  <a:t> GQL, ilişkisel </a:t>
                </a:r>
                <a:r>
                  <a:rPr lang="tr-TR" dirty="0" err="1"/>
                  <a:t>veritabanlarındaki</a:t>
                </a:r>
                <a:r>
                  <a:rPr lang="tr-TR" dirty="0"/>
                  <a:t> SQL standardı gibi, graf </a:t>
                </a:r>
                <a:r>
                  <a:rPr lang="tr-TR" dirty="0" err="1"/>
                  <a:t>veritabanları</a:t>
                </a:r>
                <a:r>
                  <a:rPr lang="tr-TR" dirty="0"/>
                  <a:t> için geliştirilmiş </a:t>
                </a:r>
                <a:r>
                  <a:rPr lang="tr-TR" b="1" dirty="0"/>
                  <a:t>uluslararası resmi ISO standardı</a:t>
                </a:r>
                <a:r>
                  <a:rPr lang="tr-TR" dirty="0"/>
                  <a:t> (ISO/IEC 39075) sorgu dilidir. </a:t>
                </a:r>
              </a:p>
              <a:p>
                <a:pPr lvl="0"/>
                <a:r>
                  <a:rPr lang="tr-TR" b="1" dirty="0"/>
                  <a:t>Tarihi Önemi:</a:t>
                </a:r>
                <a:r>
                  <a:rPr lang="tr-TR" dirty="0"/>
                  <a:t> SQL'den (1987) bu yana ISO tarafından kabul edilen ilk yeni resmi </a:t>
                </a:r>
                <a:r>
                  <a:rPr lang="tr-TR" dirty="0" err="1"/>
                  <a:t>veritabanı</a:t>
                </a:r>
                <a:r>
                  <a:rPr lang="tr-TR" dirty="0"/>
                  <a:t> sorgu dili standardıdır.</a:t>
                </a: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tr-TR" b="1" dirty="0" err="1"/>
                  <a:t>Cypher</a:t>
                </a:r>
                <a:r>
                  <a:rPr lang="tr-TR" b="1" dirty="0"/>
                  <a:t> ile İlişkisi:</a:t>
                </a:r>
                <a:r>
                  <a:rPr lang="tr-TR" dirty="0"/>
                  <a:t> Neo4j'nin geliştirdiği </a:t>
                </a:r>
                <a:r>
                  <a:rPr lang="tr-TR" b="1" dirty="0" err="1"/>
                  <a:t>Cypher</a:t>
                </a:r>
                <a:r>
                  <a:rPr lang="tr-TR" dirty="0"/>
                  <a:t> sözdizimi, GQL standardının temel omurgasını oluşturmuştur. Bu sayede </a:t>
                </a:r>
                <a:r>
                  <a:rPr lang="tr-TR" dirty="0" err="1"/>
                  <a:t>Cypher</a:t>
                </a:r>
                <a:r>
                  <a:rPr lang="tr-TR" dirty="0"/>
                  <a:t> öğrenmek, doğrudan uluslararası standart dili öğrenmek anlamına gelir. 2011-2024</a:t>
                </a:r>
              </a:p>
              <a:p>
                <a:pPr lvl="0"/>
                <a:endParaRPr lang="tr-TR" dirty="0"/>
              </a:p>
              <a:p>
                <a:pPr marL="0" lvl="0" indent="0" algn="l" rtl="0">
                  <a:spcBef>
                    <a:spcPts val="0"/>
                  </a:spcBef>
                  <a:spcAft>
                    <a:spcPts val="0"/>
                  </a:spcAft>
                  <a:buNone/>
                </a:pPr>
                <a:endParaRPr dirty="0"/>
              </a:p>
            </p:txBody>
          </p:sp>
        </mc:Fallback>
      </mc:AlternateContent>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
        <p:cNvGrpSpPr/>
        <p:nvPr/>
      </p:nvGrpSpPr>
      <p:grpSpPr>
        <a:xfrm>
          <a:off x="0" y="0"/>
          <a:ext cx="0" cy="0"/>
          <a:chOff x="0" y="0"/>
          <a:chExt cx="0" cy="0"/>
        </a:xfrm>
      </p:grpSpPr>
      <p:sp>
        <p:nvSpPr>
          <p:cNvPr id="323" name="Google Shape;323;g3f3ea35063a_0_104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4" name="Google Shape;324;g3f3ea35063a_0_10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g3f3ea35063a_0_163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9" name="Google Shape;329;g3f3ea35063a_0_16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2"/>
        <p:cNvGrpSpPr/>
        <p:nvPr/>
      </p:nvGrpSpPr>
      <p:grpSpPr>
        <a:xfrm>
          <a:off x="0" y="0"/>
          <a:ext cx="0" cy="0"/>
          <a:chOff x="0" y="0"/>
          <a:chExt cx="0" cy="0"/>
        </a:xfrm>
      </p:grpSpPr>
      <p:sp>
        <p:nvSpPr>
          <p:cNvPr id="333" name="Google Shape;333;g3f3ea35063a_0_164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4" name="Google Shape;334;g3f3ea35063a_0_16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g3f3ea35063a_0_165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9" name="Google Shape;339;g3f3ea35063a_0_16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2"/>
        <p:cNvGrpSpPr/>
        <p:nvPr/>
      </p:nvGrpSpPr>
      <p:grpSpPr>
        <a:xfrm>
          <a:off x="0" y="0"/>
          <a:ext cx="0" cy="0"/>
          <a:chOff x="0" y="0"/>
          <a:chExt cx="0" cy="0"/>
        </a:xfrm>
      </p:grpSpPr>
      <p:sp>
        <p:nvSpPr>
          <p:cNvPr id="343" name="Google Shape;343;g3f3ea35063a_0_10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4" name="Google Shape;344;g3f3ea35063a_0_10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tr" u="sng" dirty="0">
                <a:solidFill>
                  <a:schemeClr val="hlink"/>
                </a:solidFill>
                <a:hlinkClick r:id="rId3"/>
              </a:rPr>
              <a:t>JSONL Examples - Code Samples &amp; Use Cases | NDJSON.com</a:t>
            </a:r>
            <a:r>
              <a:rPr lang="tr" dirty="0">
                <a:solidFill>
                  <a:schemeClr val="dk1"/>
                </a:solidFill>
              </a:rPr>
              <a:t> </a:t>
            </a:r>
          </a:p>
          <a:p>
            <a:pPr marL="0" lvl="0" indent="0" algn="l" rtl="0">
              <a:spcBef>
                <a:spcPts val="0"/>
              </a:spcBef>
              <a:spcAft>
                <a:spcPts val="0"/>
              </a:spcAft>
              <a:buNone/>
            </a:pPr>
            <a:r>
              <a:rPr lang="tr-TR" dirty="0"/>
              <a:t>Tek bir devasa JSON dizisi (</a:t>
            </a:r>
            <a:r>
              <a:rPr lang="tr-TR" sz="1100" b="0" i="0" u="none" strike="noStrike" cap="none" spc="0" dirty="0">
                <a:solidFill>
                  <a:srgbClr val="000000"/>
                </a:solidFill>
                <a:latin typeface="Arial"/>
                <a:ea typeface="Arial"/>
                <a:cs typeface="Arial"/>
                <a:sym typeface="Arial"/>
              </a:rPr>
              <a:t>[{...}, {...}]</a:t>
            </a:r>
            <a:r>
              <a:rPr lang="tr-TR" dirty="0"/>
              <a:t>) yerine, her satırında bağımsız ve geçerli bir JSON nesnesi barındıran metin formatıdır.</a:t>
            </a:r>
          </a:p>
          <a:p>
            <a:pPr marL="0" lvl="0" indent="0" algn="l" rtl="0">
              <a:spcBef>
                <a:spcPts val="0"/>
              </a:spcBef>
              <a:spcAft>
                <a:spcPts val="0"/>
              </a:spcAft>
              <a:buNone/>
            </a:pPr>
            <a:r>
              <a:rPr lang="tr-TR" dirty="0"/>
              <a:t>Standart </a:t>
            </a:r>
            <a:r>
              <a:rPr lang="tr-TR" dirty="0" err="1"/>
              <a:t>JSON'ı</a:t>
            </a:r>
            <a:r>
              <a:rPr lang="tr-TR" dirty="0"/>
              <a:t> okumak için tüm dosyanın belleğe (RAM) yüklenmesi gerekirken, NDJSON satır </a:t>
            </a:r>
            <a:r>
              <a:rPr lang="tr-TR" dirty="0" err="1"/>
              <a:t>satır</a:t>
            </a:r>
            <a:r>
              <a:rPr lang="tr-TR" dirty="0"/>
              <a:t> (</a:t>
            </a:r>
            <a:r>
              <a:rPr lang="tr-TR" i="1" dirty="0" err="1"/>
              <a:t>stream</a:t>
            </a:r>
            <a:r>
              <a:rPr lang="tr-TR" dirty="0"/>
              <a:t>) okunup işlenebilir. Bu sayede bellek şişmesi (</a:t>
            </a:r>
            <a:r>
              <a:rPr lang="tr-TR" i="1" dirty="0" err="1"/>
              <a:t>Out</a:t>
            </a:r>
            <a:r>
              <a:rPr lang="tr-TR" i="1" dirty="0"/>
              <a:t> of Memory</a:t>
            </a:r>
            <a:r>
              <a:rPr lang="tr-TR" dirty="0"/>
              <a:t>) yaşanmaz.</a:t>
            </a:r>
          </a:p>
          <a:p>
            <a:pPr lvl="0"/>
            <a:r>
              <a:rPr lang="tr-TR" b="1" dirty="0"/>
              <a:t>Machine Learning &amp; AI Training Data:</a:t>
            </a:r>
            <a:r>
              <a:rPr lang="tr-TR" dirty="0"/>
              <a:t> Büyük veri setlerini belleği tüketmeden satır </a:t>
            </a:r>
            <a:r>
              <a:rPr lang="tr-TR" dirty="0" err="1"/>
              <a:t>satır</a:t>
            </a:r>
            <a:r>
              <a:rPr lang="tr-TR" dirty="0"/>
              <a:t> modele besleme imkanı sunar.</a:t>
            </a:r>
          </a:p>
          <a:p>
            <a:pPr lvl="0"/>
            <a:r>
              <a:rPr lang="tr-TR" b="1" dirty="0"/>
              <a:t>Application </a:t>
            </a:r>
            <a:r>
              <a:rPr lang="tr-TR" b="1" dirty="0" err="1"/>
              <a:t>Logging</a:t>
            </a:r>
            <a:r>
              <a:rPr lang="tr-TR" b="1" dirty="0"/>
              <a:t>:</a:t>
            </a:r>
            <a:r>
              <a:rPr lang="tr-TR" dirty="0"/>
              <a:t> Her log kaydının bağımsız bir JSON satırı olarak yazılmasını ve log analiz araçlarına (ELK vb.) kesintisiz aktarılmasını sağlar.</a:t>
            </a:r>
          </a:p>
          <a:p>
            <a:pPr lvl="0"/>
            <a:r>
              <a:rPr lang="tr-TR" b="1" dirty="0" err="1"/>
              <a:t>Big</a:t>
            </a:r>
            <a:r>
              <a:rPr lang="tr-TR" b="1" dirty="0"/>
              <a:t> Data </a:t>
            </a:r>
            <a:r>
              <a:rPr lang="tr-TR" b="1" dirty="0" err="1"/>
              <a:t>Pipelines</a:t>
            </a:r>
            <a:r>
              <a:rPr lang="tr-TR" b="1" dirty="0"/>
              <a:t>:</a:t>
            </a:r>
            <a:r>
              <a:rPr lang="tr-TR" dirty="0"/>
              <a:t> </a:t>
            </a:r>
            <a:r>
              <a:rPr lang="tr-TR" dirty="0" err="1"/>
              <a:t>Spark</a:t>
            </a:r>
            <a:r>
              <a:rPr lang="tr-TR" dirty="0"/>
              <a:t> veya Kafka gibi veri işleme motorlarında paralel ve dağıtık veri aktarımı için idealdir.</a:t>
            </a:r>
          </a:p>
          <a:p>
            <a:pPr lvl="0"/>
            <a:r>
              <a:rPr lang="tr-TR" b="1" dirty="0" err="1"/>
              <a:t>Streaming</a:t>
            </a:r>
            <a:r>
              <a:rPr lang="tr-TR" b="1" dirty="0"/>
              <a:t> Data &amp; </a:t>
            </a:r>
            <a:r>
              <a:rPr lang="tr-TR" b="1" dirty="0" err="1"/>
              <a:t>Analytics</a:t>
            </a:r>
            <a:r>
              <a:rPr lang="tr-TR" b="1" dirty="0"/>
              <a:t> </a:t>
            </a:r>
            <a:r>
              <a:rPr lang="tr-TR" b="1" dirty="0" err="1"/>
              <a:t>Events</a:t>
            </a:r>
            <a:r>
              <a:rPr lang="tr-TR" b="1" dirty="0"/>
              <a:t>:</a:t>
            </a:r>
            <a:r>
              <a:rPr lang="tr-TR" dirty="0"/>
              <a:t> Anlık akan olayların (</a:t>
            </a:r>
            <a:r>
              <a:rPr lang="tr-TR" dirty="0" err="1"/>
              <a:t>clickstream</a:t>
            </a:r>
            <a:r>
              <a:rPr lang="tr-TR" dirty="0"/>
              <a:t>, sensör verileri) parça parça diske yazılıp aynı anda okunabilmesini destekler.</a:t>
            </a:r>
          </a:p>
          <a:p>
            <a:pPr lvl="0"/>
            <a:r>
              <a:rPr lang="tr-TR" b="1" dirty="0" err="1"/>
              <a:t>Streaming</a:t>
            </a:r>
            <a:r>
              <a:rPr lang="tr-TR" b="1" dirty="0"/>
              <a:t> </a:t>
            </a:r>
            <a:r>
              <a:rPr lang="tr-TR" b="1" dirty="0" err="1"/>
              <a:t>APIs</a:t>
            </a:r>
            <a:r>
              <a:rPr lang="tr-TR" b="1" dirty="0"/>
              <a:t> </a:t>
            </a:r>
            <a:r>
              <a:rPr lang="tr-TR" b="1" dirty="0" err="1"/>
              <a:t>and</a:t>
            </a:r>
            <a:r>
              <a:rPr lang="tr-TR" b="1" dirty="0"/>
              <a:t> </a:t>
            </a:r>
            <a:r>
              <a:rPr lang="tr-TR" b="1" dirty="0" err="1"/>
              <a:t>Bulk</a:t>
            </a:r>
            <a:r>
              <a:rPr lang="tr-TR" b="1" dirty="0"/>
              <a:t> </a:t>
            </a:r>
            <a:r>
              <a:rPr lang="tr-TR" b="1" dirty="0" err="1"/>
              <a:t>Exports</a:t>
            </a:r>
            <a:r>
              <a:rPr lang="tr-TR" b="1" dirty="0"/>
              <a:t>:</a:t>
            </a:r>
            <a:r>
              <a:rPr lang="tr-TR" dirty="0"/>
              <a:t> Milyonlarca satırlık ilişkisel veriyi dışa aktarırken (</a:t>
            </a:r>
            <a:r>
              <a:rPr lang="tr-TR" dirty="0" err="1"/>
              <a:t>bulk</a:t>
            </a:r>
            <a:r>
              <a:rPr lang="tr-TR" dirty="0"/>
              <a:t> </a:t>
            </a:r>
            <a:r>
              <a:rPr lang="tr-TR" dirty="0" err="1"/>
              <a:t>export</a:t>
            </a:r>
            <a:r>
              <a:rPr lang="tr-TR" dirty="0"/>
              <a:t>) ağda veya bellekte tıkanma yaşamadan hedefe pompalamayı sağlar.</a:t>
            </a:r>
          </a:p>
          <a:p>
            <a:pPr marL="0" lvl="0" indent="0" algn="l" rtl="0">
              <a:spcBef>
                <a:spcPts val="0"/>
              </a:spcBef>
              <a:spcAft>
                <a:spcPts val="0"/>
              </a:spcAft>
              <a:buNone/>
            </a:pPr>
            <a:endParaRPr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4"/>
        <p:cNvGrpSpPr/>
        <p:nvPr/>
      </p:nvGrpSpPr>
      <p:grpSpPr>
        <a:xfrm>
          <a:off x="0" y="0"/>
          <a:ext cx="0" cy="0"/>
          <a:chOff x="0" y="0"/>
          <a:chExt cx="0" cy="0"/>
        </a:xfrm>
      </p:grpSpPr>
      <p:sp>
        <p:nvSpPr>
          <p:cNvPr id="355" name="Google Shape;355;g3f3ea35063a_0_163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6" name="Google Shape;356;g3f3ea35063a_0_16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tr" u="sng">
                <a:solidFill>
                  <a:schemeClr val="hlink"/>
                </a:solidFill>
                <a:hlinkClick r:id="rId3"/>
              </a:rPr>
              <a:t>GraphRAG field guide: Navigating the world of advanced RAG patterns</a:t>
            </a:r>
            <a:r>
              <a:rPr lang="tr">
                <a:solidFill>
                  <a:schemeClr val="dk1"/>
                </a:solidFill>
              </a:rPr>
              <a:t> </a:t>
            </a:r>
            <a:endParaRPr>
              <a:solidFill>
                <a:schemeClr val="dk1"/>
              </a:solidFill>
            </a:endParaRPr>
          </a:p>
          <a:p>
            <a:pPr marL="0" lvl="0" indent="0" algn="l" rtl="0">
              <a:spcBef>
                <a:spcPts val="0"/>
              </a:spcBef>
              <a:spcAft>
                <a:spcPts val="0"/>
              </a:spcAft>
              <a:buNone/>
            </a:pPr>
            <a:r>
              <a:rPr lang="tr" u="sng">
                <a:solidFill>
                  <a:schemeClr val="hlink"/>
                </a:solidFill>
                <a:hlinkClick r:id="rId4"/>
              </a:rPr>
              <a:t>Intro to GraphRAG | GraphRAG</a:t>
            </a:r>
            <a:r>
              <a:rPr lang="tr">
                <a:solidFill>
                  <a:schemeClr val="dk1"/>
                </a:solidFill>
              </a:rPr>
              <a:t> </a:t>
            </a:r>
            <a:endParaRPr>
              <a:solidFill>
                <a:schemeClr val="dk1"/>
              </a:solidFill>
            </a:endParaRPr>
          </a:p>
          <a:p>
            <a:pPr marL="0" lvl="0" indent="0" algn="l" rtl="0">
              <a:spcBef>
                <a:spcPts val="0"/>
              </a:spcBef>
              <a:spcAft>
                <a:spcPts val="0"/>
              </a:spcAft>
              <a:buNone/>
            </a:pPr>
            <a:r>
              <a:rPr lang="tr" u="sng">
                <a:solidFill>
                  <a:schemeClr val="hlink"/>
                </a:solidFill>
                <a:hlinkClick r:id="rId5"/>
              </a:rPr>
              <a:t>GraphRAG Patterns Catalog | GraphRAG</a:t>
            </a:r>
            <a:r>
              <a:rPr lang="tr">
                <a:solidFill>
                  <a:schemeClr val="dk1"/>
                </a:solidFill>
              </a:rPr>
              <a:t> </a:t>
            </a:r>
            <a:endParaRPr>
              <a:solidFill>
                <a:schemeClr val="dk1"/>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0"/>
        <p:cNvGrpSpPr/>
        <p:nvPr/>
      </p:nvGrpSpPr>
      <p:grpSpPr>
        <a:xfrm>
          <a:off x="0" y="0"/>
          <a:ext cx="0" cy="0"/>
          <a:chOff x="0" y="0"/>
          <a:chExt cx="0" cy="0"/>
        </a:xfrm>
      </p:grpSpPr>
      <p:sp>
        <p:nvSpPr>
          <p:cNvPr id="361" name="Google Shape;361;g3f7712b134d_0_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mc:AlternateContent xmlns:mc="http://schemas.openxmlformats.org/markup-compatibility/2006">
        <mc:Choice xmlns:a14="http://schemas.microsoft.com/office/drawing/2010/main" Requires="a14">
          <p:sp>
            <p:nvSpPr>
              <p:cNvPr id="362" name="Google Shape;362;g3f7712b134d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lvl="0"/>
                <a:r>
                  <a:rPr lang="tr-TR" sz="1100" b="1" i="0" u="none" strike="noStrike" cap="none" spc="0" dirty="0" err="1">
                    <a:solidFill>
                      <a:srgbClr val="000000"/>
                    </a:solidFill>
                    <a:effectLst/>
                    <a:latin typeface="Arial"/>
                    <a:ea typeface="Arial"/>
                    <a:cs typeface="Arial"/>
                    <a:sym typeface="Arial"/>
                  </a:rPr>
                  <a:t>Description</a:t>
                </a:r>
                <a:r>
                  <a:rPr lang="tr-TR" sz="1100" b="1" i="0" u="none" strike="noStrike" cap="none" spc="0" dirty="0">
                    <a:solidFill>
                      <a:srgbClr val="000000"/>
                    </a:solidFill>
                    <a:effectLst/>
                    <a:latin typeface="Arial"/>
                    <a:ea typeface="Arial"/>
                    <a:cs typeface="Arial"/>
                    <a:sym typeface="Arial"/>
                  </a:rPr>
                  <a:t>:</a:t>
                </a:r>
                <a:r>
                  <a:rPr lang="tr-TR" sz="1100" b="0" i="0" u="none" strike="noStrike" cap="none" spc="0" dirty="0">
                    <a:solidFill>
                      <a:srgbClr val="000000"/>
                    </a:solidFill>
                    <a:effectLst/>
                    <a:latin typeface="Arial"/>
                    <a:ea typeface="Arial"/>
                    <a:cs typeface="Arial"/>
                    <a:sym typeface="Arial"/>
                  </a:rPr>
                  <a:t> Kullanıcı sorusu </a:t>
                </a:r>
                <a:r>
                  <a:rPr lang="tr-TR" sz="1100" b="0" i="0" u="none" strike="noStrike" cap="none" spc="0" dirty="0" err="1">
                    <a:solidFill>
                      <a:srgbClr val="000000"/>
                    </a:solidFill>
                    <a:effectLst/>
                    <a:latin typeface="Arial"/>
                    <a:ea typeface="Arial"/>
                    <a:cs typeface="Arial"/>
                    <a:sym typeface="Arial"/>
                  </a:rPr>
                  <a:t>embedding</a:t>
                </a:r>
                <a:r>
                  <a:rPr lang="tr-TR" sz="1100" b="0" i="0" u="none" strike="noStrike" cap="none" spc="0" dirty="0">
                    <a:solidFill>
                      <a:srgbClr val="000000"/>
                    </a:solidFill>
                    <a:effectLst/>
                    <a:latin typeface="Arial"/>
                    <a:ea typeface="Arial"/>
                    <a:cs typeface="Arial"/>
                    <a:sym typeface="Arial"/>
                  </a:rPr>
                  <a:t> modelinden geçirilerek vektöre dönüştürülür ve graf içindeki metin parçaları (</a:t>
                </a:r>
                <a:r>
                  <a:rPr lang="tr-TR" sz="1100" b="0" i="1" u="none" strike="noStrike" cap="none" spc="0" dirty="0" err="1">
                    <a:solidFill>
                      <a:srgbClr val="000000"/>
                    </a:solidFill>
                    <a:effectLst/>
                    <a:latin typeface="Arial"/>
                    <a:ea typeface="Arial"/>
                    <a:cs typeface="Arial"/>
                    <a:sym typeface="Arial"/>
                  </a:rPr>
                  <a:t>chunks</a:t>
                </a:r>
                <a:r>
                  <a:rPr lang="tr-TR" sz="1100" b="0" i="0" u="none" strike="noStrike" cap="none" spc="0" dirty="0">
                    <a:solidFill>
                      <a:srgbClr val="000000"/>
                    </a:solidFill>
                    <a:effectLst/>
                    <a:latin typeface="Arial"/>
                    <a:ea typeface="Arial"/>
                    <a:cs typeface="Arial"/>
                    <a:sym typeface="Arial"/>
                  </a:rPr>
                  <a:t>) üzerinde vektör benzerlik araması yapılarak en yakın </a:t>
                </a:r>
                <a14:m>
                  <m:oMath xmlns:m="http://schemas.openxmlformats.org/officeDocument/2006/math">
                    <m:r>
                      <a:rPr lang="tr-TR" sz="1100" b="0" i="1" u="none" strike="noStrike" cap="none" spc="0" smtClean="0">
                        <a:solidFill>
                          <a:srgbClr val="000000"/>
                        </a:solidFill>
                        <a:latin typeface="Arial"/>
                        <a:ea typeface="Arial"/>
                        <a:cs typeface="Arial"/>
                        <a:sym typeface="Arial"/>
                      </a:rPr>
                      <m:t>𝑘</m:t>
                    </m:r>
                  </m:oMath>
                </a14:m>
                <a:r>
                  <a:rPr lang="tr-TR" sz="1100" b="0" i="0" u="none" strike="noStrike" cap="none" spc="0" dirty="0">
                    <a:solidFill>
                      <a:srgbClr val="000000"/>
                    </a:solidFill>
                    <a:effectLst/>
                    <a:latin typeface="Arial"/>
                    <a:ea typeface="Arial"/>
                    <a:cs typeface="Arial"/>
                    <a:sym typeface="Arial"/>
                  </a:rPr>
                  <a:t>adet parça </a:t>
                </a:r>
                <a:r>
                  <a:rPr lang="tr-TR" sz="1100" b="0" i="0" u="none" strike="noStrike" cap="none" spc="0" dirty="0" err="1">
                    <a:solidFill>
                      <a:srgbClr val="000000"/>
                    </a:solidFill>
                    <a:effectLst/>
                    <a:latin typeface="Arial"/>
                    <a:ea typeface="Arial"/>
                    <a:cs typeface="Arial"/>
                    <a:sym typeface="Arial"/>
                  </a:rPr>
                  <a:t>LLM'e</a:t>
                </a:r>
                <a:r>
                  <a:rPr lang="tr-TR" sz="1100" b="0" i="0" u="none" strike="noStrike" cap="none" spc="0" dirty="0">
                    <a:solidFill>
                      <a:srgbClr val="000000"/>
                    </a:solidFill>
                    <a:effectLst/>
                    <a:latin typeface="Arial"/>
                    <a:ea typeface="Arial"/>
                    <a:cs typeface="Arial"/>
                    <a:sym typeface="Arial"/>
                  </a:rPr>
                  <a:t> getirilir.</a:t>
                </a:r>
              </a:p>
              <a:p>
                <a:pPr lvl="0"/>
                <a:r>
                  <a:rPr lang="tr-TR" sz="1100" b="1" i="0" u="none" strike="noStrike" cap="none" spc="0" dirty="0" err="1">
                    <a:solidFill>
                      <a:srgbClr val="000000"/>
                    </a:solidFill>
                    <a:effectLst/>
                    <a:latin typeface="Arial"/>
                    <a:ea typeface="Arial"/>
                    <a:cs typeface="Arial"/>
                    <a:sym typeface="Arial"/>
                  </a:rPr>
                  <a:t>Usage</a:t>
                </a:r>
                <a:r>
                  <a:rPr lang="tr-TR" sz="1100" b="1" i="0" u="none" strike="noStrike" cap="none" spc="0" dirty="0">
                    <a:solidFill>
                      <a:srgbClr val="000000"/>
                    </a:solidFill>
                    <a:effectLst/>
                    <a:latin typeface="Arial"/>
                    <a:ea typeface="Arial"/>
                    <a:cs typeface="Arial"/>
                    <a:sym typeface="Arial"/>
                  </a:rPr>
                  <a:t>:</a:t>
                </a:r>
                <a:r>
                  <a:rPr lang="tr-TR" sz="1100" b="0" i="0" u="none" strike="noStrike" cap="none" spc="0" dirty="0">
                    <a:solidFill>
                      <a:srgbClr val="000000"/>
                    </a:solidFill>
                    <a:effectLst/>
                    <a:latin typeface="Arial"/>
                    <a:ea typeface="Arial"/>
                    <a:cs typeface="Arial"/>
                    <a:sym typeface="Arial"/>
                  </a:rPr>
                  <a:t> Tüm veri setini tarayan karmaşık özetlemeler gerektirmeyen, cevabı doğrudan birkaç metin parçasında saklı spesifik sorular için en basit ve hızlı başlangıç desenidir.</a:t>
                </a:r>
              </a:p>
              <a:p>
                <a:pPr marL="0" lvl="0" indent="0" algn="l" rtl="0">
                  <a:spcBef>
                    <a:spcPts val="0"/>
                  </a:spcBef>
                  <a:spcAft>
                    <a:spcPts val="0"/>
                  </a:spcAft>
                  <a:buNone/>
                </a:pPr>
                <a:endParaRPr dirty="0"/>
              </a:p>
            </p:txBody>
          </p:sp>
        </mc:Choice>
        <mc:Fallback>
          <p:sp>
            <p:nvSpPr>
              <p:cNvPr id="362" name="Google Shape;362;g3f7712b134d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lvl="0"/>
                <a:r>
                  <a:rPr lang="tr-TR" sz="1100" b="1" i="0" u="none" strike="noStrike" cap="none" spc="0" dirty="0" err="1">
                    <a:solidFill>
                      <a:srgbClr val="000000"/>
                    </a:solidFill>
                    <a:effectLst/>
                    <a:latin typeface="Arial"/>
                    <a:ea typeface="Arial"/>
                    <a:cs typeface="Arial"/>
                    <a:sym typeface="Arial"/>
                  </a:rPr>
                  <a:t>Description</a:t>
                </a:r>
                <a:r>
                  <a:rPr lang="tr-TR" sz="1100" b="1" i="0" u="none" strike="noStrike" cap="none" spc="0" dirty="0">
                    <a:solidFill>
                      <a:srgbClr val="000000"/>
                    </a:solidFill>
                    <a:effectLst/>
                    <a:latin typeface="Arial"/>
                    <a:ea typeface="Arial"/>
                    <a:cs typeface="Arial"/>
                    <a:sym typeface="Arial"/>
                  </a:rPr>
                  <a:t>:</a:t>
                </a:r>
                <a:r>
                  <a:rPr lang="tr-TR" sz="1100" b="0" i="0" u="none" strike="noStrike" cap="none" spc="0" dirty="0">
                    <a:solidFill>
                      <a:srgbClr val="000000"/>
                    </a:solidFill>
                    <a:effectLst/>
                    <a:latin typeface="Arial"/>
                    <a:ea typeface="Arial"/>
                    <a:cs typeface="Arial"/>
                    <a:sym typeface="Arial"/>
                  </a:rPr>
                  <a:t> Kullanıcı sorusu </a:t>
                </a:r>
                <a:r>
                  <a:rPr lang="tr-TR" sz="1100" b="0" i="0" u="none" strike="noStrike" cap="none" spc="0" dirty="0" err="1">
                    <a:solidFill>
                      <a:srgbClr val="000000"/>
                    </a:solidFill>
                    <a:effectLst/>
                    <a:latin typeface="Arial"/>
                    <a:ea typeface="Arial"/>
                    <a:cs typeface="Arial"/>
                    <a:sym typeface="Arial"/>
                  </a:rPr>
                  <a:t>embedding</a:t>
                </a:r>
                <a:r>
                  <a:rPr lang="tr-TR" sz="1100" b="0" i="0" u="none" strike="noStrike" cap="none" spc="0" dirty="0">
                    <a:solidFill>
                      <a:srgbClr val="000000"/>
                    </a:solidFill>
                    <a:effectLst/>
                    <a:latin typeface="Arial"/>
                    <a:ea typeface="Arial"/>
                    <a:cs typeface="Arial"/>
                    <a:sym typeface="Arial"/>
                  </a:rPr>
                  <a:t> modelinden geçirilerek vektöre dönüştürülür ve graf içindeki metin parçaları (</a:t>
                </a:r>
                <a:r>
                  <a:rPr lang="tr-TR" sz="1100" b="0" i="1" u="none" strike="noStrike" cap="none" spc="0" dirty="0" err="1">
                    <a:solidFill>
                      <a:srgbClr val="000000"/>
                    </a:solidFill>
                    <a:effectLst/>
                    <a:latin typeface="Arial"/>
                    <a:ea typeface="Arial"/>
                    <a:cs typeface="Arial"/>
                    <a:sym typeface="Arial"/>
                  </a:rPr>
                  <a:t>chunks</a:t>
                </a:r>
                <a:r>
                  <a:rPr lang="tr-TR" sz="1100" b="0" i="0" u="none" strike="noStrike" cap="none" spc="0" dirty="0">
                    <a:solidFill>
                      <a:srgbClr val="000000"/>
                    </a:solidFill>
                    <a:effectLst/>
                    <a:latin typeface="Arial"/>
                    <a:ea typeface="Arial"/>
                    <a:cs typeface="Arial"/>
                    <a:sym typeface="Arial"/>
                  </a:rPr>
                  <a:t>) üzerinde vektör benzerlik araması yapılarak en yakın </a:t>
                </a:r>
                <a:r>
                  <a:rPr lang="tr-TR" sz="1100" b="0" i="0" u="none" strike="noStrike" cap="none" spc="0">
                    <a:solidFill>
                      <a:srgbClr val="000000"/>
                    </a:solidFill>
                    <a:latin typeface="Arial"/>
                    <a:ea typeface="Arial"/>
                    <a:cs typeface="Arial"/>
                    <a:sym typeface="Arial"/>
                  </a:rPr>
                  <a:t>𝑘</a:t>
                </a:r>
                <a:r>
                  <a:rPr lang="tr-TR" sz="1100" b="0" i="0" u="none" strike="noStrike" cap="none" spc="0" dirty="0">
                    <a:solidFill>
                      <a:srgbClr val="000000"/>
                    </a:solidFill>
                    <a:effectLst/>
                    <a:latin typeface="Arial"/>
                    <a:ea typeface="Arial"/>
                    <a:cs typeface="Arial"/>
                    <a:sym typeface="Arial"/>
                  </a:rPr>
                  <a:t>adet parça </a:t>
                </a:r>
                <a:r>
                  <a:rPr lang="tr-TR" sz="1100" b="0" i="0" u="none" strike="noStrike" cap="none" spc="0" dirty="0" err="1">
                    <a:solidFill>
                      <a:srgbClr val="000000"/>
                    </a:solidFill>
                    <a:effectLst/>
                    <a:latin typeface="Arial"/>
                    <a:ea typeface="Arial"/>
                    <a:cs typeface="Arial"/>
                    <a:sym typeface="Arial"/>
                  </a:rPr>
                  <a:t>LLM'e</a:t>
                </a:r>
                <a:r>
                  <a:rPr lang="tr-TR" sz="1100" b="0" i="0" u="none" strike="noStrike" cap="none" spc="0" dirty="0">
                    <a:solidFill>
                      <a:srgbClr val="000000"/>
                    </a:solidFill>
                    <a:effectLst/>
                    <a:latin typeface="Arial"/>
                    <a:ea typeface="Arial"/>
                    <a:cs typeface="Arial"/>
                    <a:sym typeface="Arial"/>
                  </a:rPr>
                  <a:t> getirilir.</a:t>
                </a:r>
              </a:p>
              <a:p>
                <a:pPr lvl="0"/>
                <a:r>
                  <a:rPr lang="tr-TR" sz="1100" b="1" i="0" u="none" strike="noStrike" cap="none" spc="0" dirty="0" err="1">
                    <a:solidFill>
                      <a:srgbClr val="000000"/>
                    </a:solidFill>
                    <a:effectLst/>
                    <a:latin typeface="Arial"/>
                    <a:ea typeface="Arial"/>
                    <a:cs typeface="Arial"/>
                    <a:sym typeface="Arial"/>
                  </a:rPr>
                  <a:t>Usage</a:t>
                </a:r>
                <a:r>
                  <a:rPr lang="tr-TR" sz="1100" b="1" i="0" u="none" strike="noStrike" cap="none" spc="0" dirty="0">
                    <a:solidFill>
                      <a:srgbClr val="000000"/>
                    </a:solidFill>
                    <a:effectLst/>
                    <a:latin typeface="Arial"/>
                    <a:ea typeface="Arial"/>
                    <a:cs typeface="Arial"/>
                    <a:sym typeface="Arial"/>
                  </a:rPr>
                  <a:t>:</a:t>
                </a:r>
                <a:r>
                  <a:rPr lang="tr-TR" sz="1100" b="0" i="0" u="none" strike="noStrike" cap="none" spc="0" dirty="0">
                    <a:solidFill>
                      <a:srgbClr val="000000"/>
                    </a:solidFill>
                    <a:effectLst/>
                    <a:latin typeface="Arial"/>
                    <a:ea typeface="Arial"/>
                    <a:cs typeface="Arial"/>
                    <a:sym typeface="Arial"/>
                  </a:rPr>
                  <a:t> Tüm veri setini tarayan karmaşık özetlemeler gerektirmeyen, cevabı doğrudan birkaç metin parçasında saklı spesifik sorular için en basit ve hızlı başlangıç desenidir.</a:t>
                </a:r>
              </a:p>
              <a:p>
                <a:pPr marL="0" lvl="0" indent="0" algn="l" rtl="0">
                  <a:spcBef>
                    <a:spcPts val="0"/>
                  </a:spcBef>
                  <a:spcAft>
                    <a:spcPts val="0"/>
                  </a:spcAft>
                  <a:buNone/>
                </a:pPr>
                <a:endParaRPr dirty="0"/>
              </a:p>
            </p:txBody>
          </p:sp>
        </mc:Fallback>
      </mc:AlternateContent>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p:cNvGrpSpPr/>
        <p:nvPr/>
      </p:nvGrpSpPr>
      <p:grpSpPr>
        <a:xfrm>
          <a:off x="0" y="0"/>
          <a:ext cx="0" cy="0"/>
          <a:chOff x="0" y="0"/>
          <a:chExt cx="0" cy="0"/>
        </a:xfrm>
      </p:grpSpPr>
      <p:sp>
        <p:nvSpPr>
          <p:cNvPr id="369" name="Google Shape;369;g3f7712b134d_0_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0" name="Google Shape;370;g3f7712b134d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lvl="0"/>
            <a:r>
              <a:rPr lang="tr-TR" b="1" dirty="0" err="1"/>
              <a:t>Description</a:t>
            </a:r>
            <a:r>
              <a:rPr lang="tr-TR" b="1" dirty="0"/>
              <a:t>:</a:t>
            </a:r>
            <a:r>
              <a:rPr lang="tr-TR" dirty="0"/>
              <a:t> Kullanıcı sorusuna göre LLM önceden tanımlanmış </a:t>
            </a:r>
            <a:r>
              <a:rPr lang="tr-TR" dirty="0" err="1"/>
              <a:t>Cypher</a:t>
            </a:r>
            <a:r>
              <a:rPr lang="tr-TR" dirty="0"/>
              <a:t> şablonlarından en uygununu seçer, sorudan parametreleri (aktör, tür vb.) ayıklayıp şablona yerleştirir ve dönen </a:t>
            </a:r>
            <a:r>
              <a:rPr lang="tr-TR" dirty="0" err="1"/>
              <a:t>veritabanı</a:t>
            </a:r>
            <a:r>
              <a:rPr lang="tr-TR" dirty="0"/>
              <a:t> sonucundan nihai yanıtı üretir.</a:t>
            </a:r>
          </a:p>
          <a:p>
            <a:pPr lvl="0"/>
            <a:r>
              <a:rPr lang="tr-TR" b="1" dirty="0" err="1"/>
              <a:t>Usage</a:t>
            </a:r>
            <a:r>
              <a:rPr lang="tr-TR" b="1" dirty="0"/>
              <a:t>:</a:t>
            </a:r>
            <a:r>
              <a:rPr lang="tr-TR" dirty="0"/>
              <a:t> Sorulabilecek soru kalıplarının önceden net olarak bilindiği durumlar için ideal ve güvenlidir; ancak şablonlar dışında kalan beklenmedik soruları yanıtlayamaması en büyük kısıtıdır.</a:t>
            </a:r>
          </a:p>
          <a:p>
            <a:pPr marL="0" lvl="0" indent="0" algn="l" rtl="0">
              <a:spcBef>
                <a:spcPts val="0"/>
              </a:spcBef>
              <a:spcAft>
                <a:spcPts val="0"/>
              </a:spcAft>
              <a:buNone/>
            </a:pPr>
            <a:endParaRPr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6"/>
        <p:cNvGrpSpPr/>
        <p:nvPr/>
      </p:nvGrpSpPr>
      <p:grpSpPr>
        <a:xfrm>
          <a:off x="0" y="0"/>
          <a:ext cx="0" cy="0"/>
          <a:chOff x="0" y="0"/>
          <a:chExt cx="0" cy="0"/>
        </a:xfrm>
      </p:grpSpPr>
      <p:sp>
        <p:nvSpPr>
          <p:cNvPr id="377" name="Google Shape;377;g3f7712b134d_0_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8" name="Google Shape;378;g3f7712b134d_0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lvl="0"/>
            <a:r>
              <a:rPr lang="tr-TR" b="1" dirty="0" err="1"/>
              <a:t>Description</a:t>
            </a:r>
            <a:r>
              <a:rPr lang="tr-TR" b="1" dirty="0"/>
              <a:t>:</a:t>
            </a:r>
            <a:r>
              <a:rPr lang="tr-TR" dirty="0"/>
              <a:t> LLM, kullanıcı sorusundan parametreleri çıkarıp şablonlara yerleştirmenin yanı sıra birden fazla şablonu zincirleme (</a:t>
            </a:r>
            <a:r>
              <a:rPr lang="tr-TR" i="1" dirty="0" err="1"/>
              <a:t>chain</a:t>
            </a:r>
            <a:r>
              <a:rPr lang="tr-TR" dirty="0"/>
              <a:t>) veya döngüsel (</a:t>
            </a:r>
            <a:r>
              <a:rPr lang="tr-TR" i="1" dirty="0" err="1"/>
              <a:t>loop</a:t>
            </a:r>
            <a:r>
              <a:rPr lang="tr-TR" dirty="0"/>
              <a:t>) olarak çalıştırarak </a:t>
            </a:r>
            <a:r>
              <a:rPr lang="tr-TR" b="1" dirty="0"/>
              <a:t>ajan tabanlı (</a:t>
            </a:r>
            <a:r>
              <a:rPr lang="tr-TR" b="1" dirty="0" err="1"/>
              <a:t>agentic</a:t>
            </a:r>
            <a:r>
              <a:rPr lang="tr-TR" b="1" dirty="0"/>
              <a:t>)</a:t>
            </a:r>
            <a:r>
              <a:rPr lang="tr-TR" dirty="0"/>
              <a:t> bir sorgu mekanizması kurar.</a:t>
            </a:r>
          </a:p>
          <a:p>
            <a:pPr lvl="0"/>
            <a:r>
              <a:rPr lang="tr-TR" b="1" dirty="0" err="1"/>
              <a:t>Usage</a:t>
            </a:r>
            <a:r>
              <a:rPr lang="tr-TR" b="1" dirty="0"/>
              <a:t>:</a:t>
            </a:r>
            <a:r>
              <a:rPr lang="tr-TR" dirty="0"/>
              <a:t> Standart şablon deseninin gelişmiş halidir; çok adımlı ve çeşitli soruları çözmek için daha fazla esneklik sunar, ancak yanıt kapsamı yine de tanımlı şablon bloklarıyla sınırlıdır.</a:t>
            </a:r>
          </a:p>
          <a:p>
            <a:pPr marL="0" lvl="0" indent="0" algn="l" rtl="0">
              <a:spcBef>
                <a:spcPts val="0"/>
              </a:spcBef>
              <a:spcAft>
                <a:spcPts val="0"/>
              </a:spcAft>
              <a:buNone/>
            </a:pPr>
            <a:endParaRPr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4"/>
        <p:cNvGrpSpPr/>
        <p:nvPr/>
      </p:nvGrpSpPr>
      <p:grpSpPr>
        <a:xfrm>
          <a:off x="0" y="0"/>
          <a:ext cx="0" cy="0"/>
          <a:chOff x="0" y="0"/>
          <a:chExt cx="0" cy="0"/>
        </a:xfrm>
      </p:grpSpPr>
      <p:sp>
        <p:nvSpPr>
          <p:cNvPr id="385" name="Google Shape;385;g3f7712b134d_0_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6" name="Google Shape;386;g3f7712b134d_0_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lvl="0"/>
            <a:r>
              <a:rPr lang="tr-TR" b="1" dirty="0" err="1"/>
              <a:t>Description</a:t>
            </a:r>
            <a:r>
              <a:rPr lang="tr-TR" b="1" dirty="0"/>
              <a:t>:</a:t>
            </a:r>
            <a:r>
              <a:rPr lang="tr-TR" dirty="0"/>
              <a:t> Düğümler arasındaki ilişkilerden yola çıkılarak oluşturulan hiyerarşik toplulukların (</a:t>
            </a:r>
            <a:r>
              <a:rPr lang="tr-TR" dirty="0" err="1"/>
              <a:t>communities</a:t>
            </a:r>
            <a:r>
              <a:rPr lang="tr-TR" dirty="0"/>
              <a:t>) önceden hazırlanmış </a:t>
            </a:r>
            <a:r>
              <a:rPr lang="tr-TR" b="1" dirty="0"/>
              <a:t>topluluk özetleri (</a:t>
            </a:r>
            <a:r>
              <a:rPr lang="tr-TR" b="1" dirty="0" err="1"/>
              <a:t>summaries</a:t>
            </a:r>
            <a:r>
              <a:rPr lang="tr-TR" b="1" dirty="0"/>
              <a:t>)</a:t>
            </a:r>
            <a:r>
              <a:rPr lang="tr-TR" dirty="0"/>
              <a:t> belirli bir seviyede çekilir ve </a:t>
            </a:r>
            <a:r>
              <a:rPr lang="tr-TR" dirty="0" err="1"/>
              <a:t>LLM'e</a:t>
            </a:r>
            <a:r>
              <a:rPr lang="tr-TR" dirty="0"/>
              <a:t> bağlam olarak verilir.</a:t>
            </a:r>
          </a:p>
          <a:p>
            <a:pPr lvl="0"/>
            <a:r>
              <a:rPr lang="tr-TR" b="1" dirty="0" err="1"/>
              <a:t>Usage</a:t>
            </a:r>
            <a:r>
              <a:rPr lang="tr-TR" b="1" dirty="0"/>
              <a:t>:</a:t>
            </a:r>
            <a:r>
              <a:rPr lang="tr-TR" dirty="0"/>
              <a:t> </a:t>
            </a:r>
            <a:r>
              <a:rPr lang="tr-TR" i="1" dirty="0"/>
              <a:t>"Tüm veri setinin ana temaları nelerdir?"</a:t>
            </a:r>
            <a:r>
              <a:rPr lang="tr-TR" dirty="0"/>
              <a:t> gibi global ve üst düzey özetleme gerektiren sorular için kullanılır; ancak varlık/ilişki çıkarma ve topluluk özetleme adımları nedeniyle ön işleme (</a:t>
            </a:r>
            <a:r>
              <a:rPr lang="tr-TR" dirty="0" err="1"/>
              <a:t>indexing</a:t>
            </a:r>
            <a:r>
              <a:rPr lang="tr-TR" dirty="0"/>
              <a:t>/maliyet) yükü oldukça yüksektir.</a:t>
            </a:r>
          </a:p>
          <a:p>
            <a:pPr marL="0" lvl="0" indent="0" algn="l" rtl="0">
              <a:spcBef>
                <a:spcPts val="0"/>
              </a:spcBef>
              <a:spcAft>
                <a:spcPts val="0"/>
              </a:spcAft>
              <a:buNone/>
            </a:pPr>
            <a:endParaRPr lang="tr-TR" dirty="0"/>
          </a:p>
          <a:p>
            <a:pPr lvl="0"/>
            <a:r>
              <a:rPr lang="tr-TR" b="1" dirty="0"/>
              <a:t>1. Grafın Kurulması (</a:t>
            </a:r>
            <a:r>
              <a:rPr lang="tr-TR" b="1" dirty="0" err="1"/>
              <a:t>Extraction</a:t>
            </a:r>
            <a:r>
              <a:rPr lang="tr-TR" b="1" dirty="0"/>
              <a:t>):</a:t>
            </a:r>
            <a:r>
              <a:rPr lang="tr-TR" dirty="0"/>
              <a:t> Metin parçalarından (</a:t>
            </a:r>
            <a:r>
              <a:rPr lang="tr-TR" i="1" dirty="0" err="1"/>
              <a:t>chunks</a:t>
            </a:r>
            <a:r>
              <a:rPr lang="tr-TR" dirty="0"/>
              <a:t>) LLM yardımıyla varlıklar (</a:t>
            </a:r>
            <a:r>
              <a:rPr lang="tr-TR" i="1" dirty="0" err="1"/>
              <a:t>Entities</a:t>
            </a:r>
            <a:r>
              <a:rPr lang="tr-TR" dirty="0"/>
              <a:t>) ve aralarındaki ilişkiler (</a:t>
            </a:r>
            <a:r>
              <a:rPr lang="tr-TR" i="1" dirty="0" err="1"/>
              <a:t>Relationships</a:t>
            </a:r>
            <a:r>
              <a:rPr lang="tr-TR" dirty="0"/>
              <a:t>) çıkarılarak bilgi grafı oluşturulur.</a:t>
            </a:r>
          </a:p>
          <a:p>
            <a:pPr lvl="0"/>
            <a:r>
              <a:rPr lang="tr-TR" b="1" dirty="0"/>
              <a:t>2. Topluluk Tespiti (</a:t>
            </a:r>
            <a:r>
              <a:rPr lang="tr-TR" b="1" dirty="0" err="1"/>
              <a:t>Community</a:t>
            </a:r>
            <a:r>
              <a:rPr lang="tr-TR" b="1" dirty="0"/>
              <a:t> </a:t>
            </a:r>
            <a:r>
              <a:rPr lang="tr-TR" b="1" dirty="0" err="1"/>
              <a:t>Detection</a:t>
            </a:r>
            <a:r>
              <a:rPr lang="tr-TR" b="1" dirty="0"/>
              <a:t>):</a:t>
            </a:r>
            <a:r>
              <a:rPr lang="tr-TR" dirty="0"/>
              <a:t> Graf üzerinde </a:t>
            </a:r>
            <a:r>
              <a:rPr lang="tr-TR" b="1" dirty="0" err="1"/>
              <a:t>Leiden</a:t>
            </a:r>
            <a:r>
              <a:rPr lang="tr-TR" dirty="0"/>
              <a:t> veya </a:t>
            </a:r>
            <a:r>
              <a:rPr lang="tr-TR" b="1" dirty="0" err="1"/>
              <a:t>Louvain</a:t>
            </a:r>
            <a:r>
              <a:rPr lang="tr-TR" dirty="0"/>
              <a:t> kümeleme algoritmaları çalıştırılır. Birbiriyle yoğun ilişki içindeki düğümler hiyerarşik topluluklara (kümelere) ayrılır (</a:t>
            </a:r>
            <a:r>
              <a:rPr lang="tr-TR" dirty="0" err="1"/>
              <a:t>Örn</a:t>
            </a:r>
            <a:r>
              <a:rPr lang="tr-TR" dirty="0"/>
              <a:t>: Seviye 0: En detaylı alt kümeler, Seviye 1-2: Daha geniş ana temalar).</a:t>
            </a:r>
          </a:p>
          <a:p>
            <a:pPr marL="158750" indent="0">
              <a:buNone/>
            </a:pPr>
            <a:r>
              <a:rPr lang="tr-TR" b="1" dirty="0" err="1"/>
              <a:t>Louvain</a:t>
            </a:r>
            <a:r>
              <a:rPr lang="tr-TR" b="1" dirty="0"/>
              <a:t> Algoritması</a:t>
            </a:r>
            <a:endParaRPr lang="tr-TR" dirty="0"/>
          </a:p>
          <a:p>
            <a:pPr marL="158750" lvl="0" indent="0">
              <a:buNone/>
            </a:pPr>
            <a:r>
              <a:rPr lang="tr-TR" b="1" dirty="0"/>
              <a:t>	Çalışma Mantığı:</a:t>
            </a:r>
            <a:r>
              <a:rPr lang="tr-TR" dirty="0"/>
              <a:t> Graftaki </a:t>
            </a:r>
            <a:r>
              <a:rPr lang="tr-TR" dirty="0" err="1"/>
              <a:t>modülariteyi</a:t>
            </a:r>
            <a:r>
              <a:rPr lang="tr-TR" dirty="0"/>
              <a:t> (topluluk içi bağlantı yoğunluğu ile topluluklar arası seyrekliği) maksimize ederek düğümleri 	hızlıca hiyerarşik kümelere ayırır.</a:t>
            </a:r>
          </a:p>
          <a:p>
            <a:pPr marL="158750" lvl="0" indent="0">
              <a:buNone/>
            </a:pPr>
            <a:r>
              <a:rPr lang="tr-TR" b="1" dirty="0"/>
              <a:t>	Kısıtı:</a:t>
            </a:r>
            <a:r>
              <a:rPr lang="tr-TR" dirty="0"/>
              <a:t> Hızlı olmasına rağmen bazen kendi içinde bağlantısı kopuk veya zayıf bağlı alt topluluklar (</a:t>
            </a:r>
            <a:r>
              <a:rPr lang="tr-TR" i="1" dirty="0" err="1"/>
              <a:t>disconnected</a:t>
            </a:r>
            <a:r>
              <a:rPr lang="tr-TR" i="1" dirty="0"/>
              <a:t> </a:t>
            </a:r>
            <a:r>
              <a:rPr lang="tr-TR" i="1" dirty="0" err="1"/>
              <a:t>communities</a:t>
            </a:r>
            <a:r>
              <a:rPr lang="tr-TR" dirty="0"/>
              <a:t>) oluşturabilir.</a:t>
            </a:r>
          </a:p>
          <a:p>
            <a:pPr marL="158750" indent="0">
              <a:buNone/>
            </a:pPr>
            <a:r>
              <a:rPr lang="tr-TR" b="1" dirty="0" err="1"/>
              <a:t>Leiden</a:t>
            </a:r>
            <a:r>
              <a:rPr lang="tr-TR" b="1" dirty="0"/>
              <a:t> Algoritması</a:t>
            </a:r>
            <a:endParaRPr lang="tr-TR" dirty="0"/>
          </a:p>
          <a:p>
            <a:pPr marL="158750" lvl="0" indent="0">
              <a:buNone/>
            </a:pPr>
            <a:r>
              <a:rPr lang="tr-TR" b="1" dirty="0"/>
              <a:t>	Çalışma Mantığı:</a:t>
            </a:r>
            <a:r>
              <a:rPr lang="tr-TR" dirty="0"/>
              <a:t> </a:t>
            </a:r>
            <a:r>
              <a:rPr lang="tr-TR" dirty="0" err="1"/>
              <a:t>Louvain'in</a:t>
            </a:r>
            <a:r>
              <a:rPr lang="tr-TR" dirty="0"/>
              <a:t> üzerine geliştirilmiş daha kararlı bir algoritmadır; her adımda alt kümeleri rafine ederek toplulukların 	</a:t>
            </a:r>
            <a:r>
              <a:rPr lang="tr-TR" b="1" dirty="0"/>
              <a:t>kesintisiz ve güçlü şekilde bağlı</a:t>
            </a:r>
            <a:r>
              <a:rPr lang="tr-TR" dirty="0"/>
              <a:t> olmasını garanti eder.</a:t>
            </a:r>
          </a:p>
          <a:p>
            <a:pPr marL="158750" lvl="0" indent="0">
              <a:buNone/>
            </a:pPr>
            <a:r>
              <a:rPr lang="tr-TR" b="1" dirty="0"/>
              <a:t>	</a:t>
            </a:r>
            <a:r>
              <a:rPr lang="tr-TR" b="1" dirty="0" err="1"/>
              <a:t>GraphRAG</a:t>
            </a:r>
            <a:r>
              <a:rPr lang="tr-TR" b="1" dirty="0"/>
              <a:t> Rolü:</a:t>
            </a:r>
            <a:r>
              <a:rPr lang="tr-TR" dirty="0"/>
              <a:t> Microsoft </a:t>
            </a:r>
            <a:r>
              <a:rPr lang="tr-TR" dirty="0" err="1"/>
              <a:t>GraphRAG</a:t>
            </a:r>
            <a:r>
              <a:rPr lang="tr-TR" dirty="0"/>
              <a:t> mimarisinde varsayılan algoritma olarak kullanılır; metinlerden çıkarılan kavramları en doğru 	hiyerarşik katmanlara bölerek sağlıklı topluluk özetleri (</a:t>
            </a:r>
            <a:r>
              <a:rPr lang="tr-TR" dirty="0" err="1"/>
              <a:t>Community</a:t>
            </a:r>
            <a:r>
              <a:rPr lang="tr-TR" dirty="0"/>
              <a:t> </a:t>
            </a:r>
            <a:r>
              <a:rPr lang="tr-TR" dirty="0" err="1"/>
              <a:t>Summaries</a:t>
            </a:r>
            <a:r>
              <a:rPr lang="tr-TR" dirty="0"/>
              <a:t>) üretilmesini sağlar.</a:t>
            </a:r>
          </a:p>
          <a:p>
            <a:pPr lvl="0"/>
            <a:endParaRPr lang="tr-TR" dirty="0"/>
          </a:p>
          <a:p>
            <a:pPr lvl="0"/>
            <a:r>
              <a:rPr lang="tr-TR" b="1" dirty="0"/>
              <a:t>3. LLM ile Alt Seviye Özetleme (</a:t>
            </a:r>
            <a:r>
              <a:rPr lang="tr-TR" b="1" dirty="0" err="1"/>
              <a:t>Bottom-Up</a:t>
            </a:r>
            <a:r>
              <a:rPr lang="tr-TR" b="1" dirty="0"/>
              <a:t>):</a:t>
            </a:r>
            <a:r>
              <a:rPr lang="tr-TR" dirty="0"/>
              <a:t> En alt seviyedeki her bir topluluğa giren düğümler, ilişkiler ve kaynak metin parçaları toplanarak </a:t>
            </a:r>
            <a:r>
              <a:rPr lang="tr-TR" dirty="0" err="1"/>
              <a:t>LLM'e</a:t>
            </a:r>
            <a:r>
              <a:rPr lang="tr-TR" dirty="0"/>
              <a:t> bir </a:t>
            </a:r>
            <a:r>
              <a:rPr lang="tr-TR" dirty="0" err="1"/>
              <a:t>prompt</a:t>
            </a:r>
            <a:r>
              <a:rPr lang="tr-TR" dirty="0"/>
              <a:t> ile verilir:</a:t>
            </a:r>
          </a:p>
          <a:p>
            <a:pPr lvl="0"/>
            <a:r>
              <a:rPr lang="tr-TR" i="1" dirty="0"/>
              <a:t>"Bu düğümler ve ilişkiler bütünü ne anlatıyor? Önemli bulguları, ana temaları ve riskleri içeren yapılandırılmış bir rapor (özet) çıkar."</a:t>
            </a:r>
            <a:endParaRPr lang="tr-TR" dirty="0"/>
          </a:p>
          <a:p>
            <a:pPr lvl="0"/>
            <a:r>
              <a:rPr lang="tr-TR" b="1" dirty="0"/>
              <a:t>4. Hiyerarşik Yukarı Özetleme (</a:t>
            </a:r>
            <a:r>
              <a:rPr lang="tr-TR" b="1" dirty="0" err="1"/>
              <a:t>Recursive</a:t>
            </a:r>
            <a:r>
              <a:rPr lang="tr-TR" b="1" dirty="0"/>
              <a:t>):</a:t>
            </a:r>
            <a:r>
              <a:rPr lang="tr-TR" dirty="0"/>
              <a:t> Üst seviyedeki geniş toplulukların özetleri oluşturulurken, doğrudan altlarındaki topluluk özetleri </a:t>
            </a:r>
            <a:r>
              <a:rPr lang="tr-TR" dirty="0" err="1"/>
              <a:t>LLM'e</a:t>
            </a:r>
            <a:r>
              <a:rPr lang="tr-TR" dirty="0"/>
              <a:t> girdi olarak verilir ve piramit şeklinde en tepeye kadar özetleme tamamlanır.</a:t>
            </a:r>
          </a:p>
          <a:p>
            <a:pPr marL="0" lvl="0" indent="0" algn="l" rtl="0">
              <a:spcBef>
                <a:spcPts val="0"/>
              </a:spcBef>
              <a:spcAft>
                <a:spcPts val="0"/>
              </a:spcAft>
              <a:buNone/>
            </a:pPr>
            <a:endParaRPr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2"/>
        <p:cNvGrpSpPr/>
        <p:nvPr/>
      </p:nvGrpSpPr>
      <p:grpSpPr>
        <a:xfrm>
          <a:off x="0" y="0"/>
          <a:ext cx="0" cy="0"/>
          <a:chOff x="0" y="0"/>
          <a:chExt cx="0" cy="0"/>
        </a:xfrm>
      </p:grpSpPr>
      <p:sp>
        <p:nvSpPr>
          <p:cNvPr id="393" name="Google Shape;393;g3f7712b134d_0_4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4" name="Google Shape;394;g3f7712b134d_0_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lvl="0"/>
            <a:r>
              <a:rPr lang="tr-TR" b="1" dirty="0" err="1"/>
              <a:t>Description</a:t>
            </a:r>
            <a:r>
              <a:rPr lang="tr-TR" b="1" dirty="0"/>
              <a:t>:</a:t>
            </a:r>
            <a:r>
              <a:rPr lang="tr-TR" dirty="0"/>
              <a:t> Kullanıcı sorusuna en benzer metin parçaları (</a:t>
            </a:r>
            <a:r>
              <a:rPr lang="tr-TR" i="1" dirty="0" err="1"/>
              <a:t>chunks</a:t>
            </a:r>
            <a:r>
              <a:rPr lang="tr-TR" dirty="0"/>
              <a:t>) vektör aramasıyla bulunur; ardından bu parçalara bağlı varlıklar (</a:t>
            </a:r>
            <a:r>
              <a:rPr lang="tr-TR" i="1" dirty="0" err="1"/>
              <a:t>entities</a:t>
            </a:r>
            <a:r>
              <a:rPr lang="tr-TR" dirty="0"/>
              <a:t>) ve ilişkiler üzerinden graf gezintisi (</a:t>
            </a:r>
            <a:r>
              <a:rPr lang="tr-TR" i="1" dirty="0" err="1"/>
              <a:t>traversal</a:t>
            </a:r>
            <a:r>
              <a:rPr lang="tr-TR" dirty="0"/>
              <a:t>) yapılarak bağlam zenginleştirilir.</a:t>
            </a:r>
          </a:p>
          <a:p>
            <a:pPr lvl="0"/>
            <a:r>
              <a:rPr lang="tr-TR" b="1" dirty="0" err="1"/>
              <a:t>Usage</a:t>
            </a:r>
            <a:r>
              <a:rPr lang="tr-TR" b="1" dirty="0"/>
              <a:t>:</a:t>
            </a:r>
            <a:r>
              <a:rPr lang="tr-TR" dirty="0"/>
              <a:t> Yalnızca metin parçası çekmenin yetersiz kaldığı, varlıklar arasındaki etkileşim ve mantıksal bağlantıların yanıt için şart olduğu karmaşık sorularda daha zengin bir bağlam sunmak için kullanılır.</a:t>
            </a:r>
          </a:p>
          <a:p>
            <a:pPr marL="0" lvl="0" indent="0" algn="l" rtl="0">
              <a:spcBef>
                <a:spcPts val="0"/>
              </a:spcBef>
              <a:spcAft>
                <a:spcPts val="0"/>
              </a:spcAft>
              <a:buNone/>
            </a:pPr>
            <a:endParaRPr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0"/>
        <p:cNvGrpSpPr/>
        <p:nvPr/>
      </p:nvGrpSpPr>
      <p:grpSpPr>
        <a:xfrm>
          <a:off x="0" y="0"/>
          <a:ext cx="0" cy="0"/>
          <a:chOff x="0" y="0"/>
          <a:chExt cx="0" cy="0"/>
        </a:xfrm>
      </p:grpSpPr>
      <p:sp>
        <p:nvSpPr>
          <p:cNvPr id="401" name="Google Shape;401;g3f7712b134d_0_5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2" name="Google Shape;402;g3f7712b134d_0_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lvl="0"/>
            <a:r>
              <a:rPr lang="tr-TR" b="1" dirty="0" err="1"/>
              <a:t>Description</a:t>
            </a:r>
            <a:r>
              <a:rPr lang="tr-TR" b="1" dirty="0"/>
              <a:t>:</a:t>
            </a:r>
            <a:r>
              <a:rPr lang="tr-TR" dirty="0"/>
              <a:t> İndeksleme aşamasında metin parçalarından LLM ile olası sorular üretilip gömülür (</a:t>
            </a:r>
            <a:r>
              <a:rPr lang="tr-TR" i="1" dirty="0" err="1"/>
              <a:t>embedding</a:t>
            </a:r>
            <a:r>
              <a:rPr lang="tr-TR" dirty="0"/>
              <a:t>); kullanıcı bir soru sorduğunda ise doğrudan bu </a:t>
            </a:r>
            <a:r>
              <a:rPr lang="tr-TR" b="1" dirty="0"/>
              <a:t>sorular arasında benzerlik araması</a:t>
            </a:r>
            <a:r>
              <a:rPr lang="tr-TR" dirty="0"/>
              <a:t> yapılarak eşleşen metin parçaları (</a:t>
            </a:r>
            <a:r>
              <a:rPr lang="tr-TR" i="1" dirty="0" err="1"/>
              <a:t>chunks</a:t>
            </a:r>
            <a:r>
              <a:rPr lang="tr-TR" dirty="0"/>
              <a:t>) getirilir.</a:t>
            </a:r>
          </a:p>
          <a:p>
            <a:pPr lvl="0"/>
            <a:r>
              <a:rPr lang="tr-TR" b="1" dirty="0" err="1"/>
              <a:t>Usage</a:t>
            </a:r>
            <a:r>
              <a:rPr lang="tr-TR" b="1" dirty="0"/>
              <a:t>:</a:t>
            </a:r>
            <a:r>
              <a:rPr lang="tr-TR" dirty="0"/>
              <a:t> Soru ile metin parçası yerine </a:t>
            </a:r>
            <a:r>
              <a:rPr lang="tr-TR" i="1" dirty="0"/>
              <a:t>"soru ile soru"</a:t>
            </a:r>
            <a:r>
              <a:rPr lang="tr-TR" dirty="0"/>
              <a:t> eşleştirmesi yaptığı için klasik vektör aramasına göre çok daha yüksek alaka düzeyi sunar; ancak her parça için önceden soru üretme adımı nedeniyle LLM maliyeti ve ön işleme süresi artar.</a:t>
            </a:r>
          </a:p>
          <a:p>
            <a:pPr marL="0" lvl="0" indent="0" algn="l" rtl="0">
              <a:spcBef>
                <a:spcPts val="0"/>
              </a:spcBef>
              <a:spcAft>
                <a:spcPts val="0"/>
              </a:spcAft>
              <a:buNone/>
            </a:pPr>
            <a:endParaRPr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8"/>
        <p:cNvGrpSpPr/>
        <p:nvPr/>
      </p:nvGrpSpPr>
      <p:grpSpPr>
        <a:xfrm>
          <a:off x="0" y="0"/>
          <a:ext cx="0" cy="0"/>
          <a:chOff x="0" y="0"/>
          <a:chExt cx="0" cy="0"/>
        </a:xfrm>
      </p:grpSpPr>
      <p:sp>
        <p:nvSpPr>
          <p:cNvPr id="409" name="Google Shape;409;g3f7712b134d_0_7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0" name="Google Shape;410;g3f7712b134d_0_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lvl="0"/>
            <a:r>
              <a:rPr lang="tr-TR" b="1" dirty="0" err="1"/>
              <a:t>Description</a:t>
            </a:r>
            <a:r>
              <a:rPr lang="tr-TR" b="1" dirty="0"/>
              <a:t>:</a:t>
            </a:r>
            <a:r>
              <a:rPr lang="tr-TR" dirty="0"/>
              <a:t> Kullanıcı sorusu </a:t>
            </a:r>
            <a:r>
              <a:rPr lang="tr-TR" dirty="0" err="1"/>
              <a:t>embedding</a:t>
            </a:r>
            <a:r>
              <a:rPr lang="tr-TR" dirty="0"/>
              <a:t> modelinden geçirilerek en benzer </a:t>
            </a:r>
            <a:r>
              <a:rPr lang="tr-TR" b="1" dirty="0"/>
              <a:t>varlıklar (</a:t>
            </a:r>
            <a:r>
              <a:rPr lang="tr-TR" b="1" dirty="0" err="1"/>
              <a:t>entities</a:t>
            </a:r>
            <a:r>
              <a:rPr lang="tr-TR" b="1" dirty="0"/>
              <a:t>)</a:t>
            </a:r>
            <a:r>
              <a:rPr lang="tr-TR" dirty="0"/>
              <a:t> bulunur; ardından bu varlıklardan başlanarak komşu ilişkiler, bağlı metin parçaları ve ait oldukları alt topluluklar üzerinde graf gezintisi (</a:t>
            </a:r>
            <a:r>
              <a:rPr lang="tr-TR" i="1" dirty="0" err="1"/>
              <a:t>traversal</a:t>
            </a:r>
            <a:r>
              <a:rPr lang="tr-TR" dirty="0"/>
              <a:t>) yapılır.</a:t>
            </a:r>
          </a:p>
          <a:p>
            <a:pPr lvl="0"/>
            <a:r>
              <a:rPr lang="tr-TR" b="1" dirty="0" err="1"/>
              <a:t>Usage</a:t>
            </a:r>
            <a:r>
              <a:rPr lang="tr-TR" b="1" dirty="0"/>
              <a:t>:</a:t>
            </a:r>
            <a:r>
              <a:rPr lang="tr-TR" dirty="0"/>
              <a:t> Belirli bir kişi, kavram veya nesne etrafında derinlemesine bilgi keşfi gerektiren odaklı sorular için kullanılır; ancak graf şemasının, varlık ilişkilerinin ve topluluk yapılarının önceden kurulması gerektiğinden ön işleme maliyeti yüksektir.</a:t>
            </a:r>
          </a:p>
          <a:p>
            <a:pPr marL="0" lvl="0" indent="0" algn="l" rtl="0">
              <a:spcBef>
                <a:spcPts val="0"/>
              </a:spcBef>
              <a:spcAft>
                <a:spcPts val="0"/>
              </a:spcAft>
              <a:buNone/>
            </a:pPr>
            <a:endParaRPr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6"/>
        <p:cNvGrpSpPr/>
        <p:nvPr/>
      </p:nvGrpSpPr>
      <p:grpSpPr>
        <a:xfrm>
          <a:off x="0" y="0"/>
          <a:ext cx="0" cy="0"/>
          <a:chOff x="0" y="0"/>
          <a:chExt cx="0" cy="0"/>
        </a:xfrm>
      </p:grpSpPr>
      <p:sp>
        <p:nvSpPr>
          <p:cNvPr id="417" name="Google Shape;417;g3f7712b134d_0_8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8" name="Google Shape;418;g3f7712b134d_0_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lvl="0"/>
            <a:r>
              <a:rPr lang="tr-TR" b="1" dirty="0" err="1"/>
              <a:t>Description</a:t>
            </a:r>
            <a:r>
              <a:rPr lang="tr-TR" b="1" dirty="0"/>
              <a:t>:</a:t>
            </a:r>
            <a:r>
              <a:rPr lang="tr-TR" dirty="0"/>
              <a:t> Kullanıcı sorusundan tarih, kategori veya yazar gibi meta veri kriterleri ayıklanır; vektör benzerlik araması tüm veri yerine yalnızca bu filtre kriterlerini sağlayan düğümler üzerinde çalıştırılır.</a:t>
            </a:r>
          </a:p>
          <a:p>
            <a:pPr lvl="0"/>
            <a:r>
              <a:rPr lang="tr-TR" b="1" dirty="0" err="1"/>
              <a:t>Usage</a:t>
            </a:r>
            <a:r>
              <a:rPr lang="tr-TR" b="1" dirty="0"/>
              <a:t>:</a:t>
            </a:r>
            <a:r>
              <a:rPr lang="tr-TR" dirty="0"/>
              <a:t> Arama uzayını daraltarak </a:t>
            </a:r>
            <a:r>
              <a:rPr lang="tr-TR" dirty="0" err="1"/>
              <a:t>LLM'in</a:t>
            </a:r>
            <a:r>
              <a:rPr lang="tr-TR" dirty="0"/>
              <a:t> halüsinasyon görme riskini ciddi oranda azaltır; ancak veride yapılandırılmış meta veriler yoksa ve LLM ile çıkarılıyorsa tutarsızlıklar ya da ilgili belgelerin elenmesi riski doğabilir.</a:t>
            </a:r>
          </a:p>
          <a:p>
            <a:pPr marL="0" lvl="0" indent="0" algn="l" rtl="0">
              <a:spcBef>
                <a:spcPts val="0"/>
              </a:spcBef>
              <a:spcAft>
                <a:spcPts val="0"/>
              </a:spcAft>
              <a:buNone/>
            </a:pPr>
            <a:endParaRPr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3"/>
        <p:cNvGrpSpPr/>
        <p:nvPr/>
      </p:nvGrpSpPr>
      <p:grpSpPr>
        <a:xfrm>
          <a:off x="0" y="0"/>
          <a:ext cx="0" cy="0"/>
          <a:chOff x="0" y="0"/>
          <a:chExt cx="0" cy="0"/>
        </a:xfrm>
      </p:grpSpPr>
      <p:sp>
        <p:nvSpPr>
          <p:cNvPr id="424" name="Google Shape;424;g3f7712b134d_0_9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5" name="Google Shape;425;g3f7712b134d_0_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lvl="0"/>
            <a:r>
              <a:rPr lang="tr-TR" b="1" dirty="0" err="1"/>
              <a:t>Description</a:t>
            </a:r>
            <a:r>
              <a:rPr lang="tr-TR" b="1" dirty="0"/>
              <a:t>:</a:t>
            </a:r>
            <a:r>
              <a:rPr lang="tr-TR" dirty="0"/>
              <a:t> Vektör araması anlamsal netliği korumak için küçük alt parçalar (</a:t>
            </a:r>
            <a:r>
              <a:rPr lang="tr-TR" i="1" dirty="0" err="1"/>
              <a:t>child</a:t>
            </a:r>
            <a:r>
              <a:rPr lang="tr-TR" i="1" dirty="0"/>
              <a:t> </a:t>
            </a:r>
            <a:r>
              <a:rPr lang="tr-TR" i="1" dirty="0" err="1"/>
              <a:t>chunks</a:t>
            </a:r>
            <a:r>
              <a:rPr lang="tr-TR" dirty="0"/>
              <a:t>) üzerinde yapılır; ancak </a:t>
            </a:r>
            <a:r>
              <a:rPr lang="tr-TR" dirty="0" err="1"/>
              <a:t>LLM'e</a:t>
            </a:r>
            <a:r>
              <a:rPr lang="tr-TR" dirty="0"/>
              <a:t> bağlam olarak eşleşen bu küçük parçaların ait olduğu daha geniş üst metin parçaları (</a:t>
            </a:r>
            <a:r>
              <a:rPr lang="tr-TR" i="1" dirty="0" err="1"/>
              <a:t>parent</a:t>
            </a:r>
            <a:r>
              <a:rPr lang="tr-TR" i="1" dirty="0"/>
              <a:t> </a:t>
            </a:r>
            <a:r>
              <a:rPr lang="tr-TR" i="1" dirty="0" err="1"/>
              <a:t>chunks</a:t>
            </a:r>
            <a:r>
              <a:rPr lang="tr-TR" dirty="0"/>
              <a:t>) gönderilir.</a:t>
            </a:r>
          </a:p>
          <a:p>
            <a:pPr lvl="0"/>
            <a:r>
              <a:rPr lang="tr-TR" b="1" dirty="0" err="1"/>
              <a:t>Usage</a:t>
            </a:r>
            <a:r>
              <a:rPr lang="tr-TR" b="1" dirty="0"/>
              <a:t>:</a:t>
            </a:r>
            <a:r>
              <a:rPr lang="tr-TR" dirty="0"/>
              <a:t> Büyük metin bloklarında </a:t>
            </a:r>
            <a:r>
              <a:rPr lang="tr-TR" dirty="0" err="1"/>
              <a:t>embedding</a:t>
            </a:r>
            <a:r>
              <a:rPr lang="tr-TR" dirty="0"/>
              <a:t> kalitesinin düşmesini engellerken arama hassasiyetini artırır; az bir ön işleme zahmetiyle klasik Basic </a:t>
            </a:r>
            <a:r>
              <a:rPr lang="tr-TR" dirty="0" err="1"/>
              <a:t>Retriever'a</a:t>
            </a:r>
            <a:r>
              <a:rPr lang="tr-TR" dirty="0"/>
              <a:t> göre çok daha kapsamlı ve tutarlı bağlam elde edilmesini sağlar.</a:t>
            </a:r>
          </a:p>
          <a:p>
            <a:pPr marL="0" lvl="0" indent="0" algn="l" rtl="0">
              <a:spcBef>
                <a:spcPts val="0"/>
              </a:spcBef>
              <a:spcAft>
                <a:spcPts val="0"/>
              </a:spcAft>
              <a:buNone/>
            </a:pPr>
            <a:endParaRPr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1"/>
        <p:cNvGrpSpPr/>
        <p:nvPr/>
      </p:nvGrpSpPr>
      <p:grpSpPr>
        <a:xfrm>
          <a:off x="0" y="0"/>
          <a:ext cx="0" cy="0"/>
          <a:chOff x="0" y="0"/>
          <a:chExt cx="0" cy="0"/>
        </a:xfrm>
      </p:grpSpPr>
      <p:sp>
        <p:nvSpPr>
          <p:cNvPr id="432" name="Google Shape;432;g3f7712b134d_0_10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3" name="Google Shape;433;g3f7712b134d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lvl="0"/>
            <a:r>
              <a:rPr lang="tr-TR" b="1" dirty="0" err="1"/>
              <a:t>Description</a:t>
            </a:r>
            <a:r>
              <a:rPr lang="tr-TR" b="1" dirty="0"/>
              <a:t>:</a:t>
            </a:r>
            <a:r>
              <a:rPr lang="tr-TR" dirty="0"/>
              <a:t> Kullanıcı sorusu graf şemasıyla birleştirilerek LLM tarafından anlık bir </a:t>
            </a:r>
            <a:r>
              <a:rPr lang="tr-TR" dirty="0" err="1"/>
              <a:t>Cypher</a:t>
            </a:r>
            <a:r>
              <a:rPr lang="tr-TR" dirty="0"/>
              <a:t> sorgusuna dönüştürülür; </a:t>
            </a:r>
            <a:r>
              <a:rPr lang="tr-TR" dirty="0" err="1"/>
              <a:t>veritabanında</a:t>
            </a:r>
            <a:r>
              <a:rPr lang="tr-TR" dirty="0"/>
              <a:t> çalıştırılan sorgudan dönen ham veri </a:t>
            </a:r>
            <a:r>
              <a:rPr lang="tr-TR" dirty="0" err="1"/>
              <a:t>LLM'e</a:t>
            </a:r>
            <a:r>
              <a:rPr lang="tr-TR" dirty="0"/>
              <a:t> aktarılarak nihai yanıt üretilir.</a:t>
            </a:r>
          </a:p>
          <a:p>
            <a:pPr lvl="0"/>
            <a:r>
              <a:rPr lang="tr-TR" b="1" dirty="0" err="1"/>
              <a:t>Usage</a:t>
            </a:r>
            <a:r>
              <a:rPr lang="tr-TR" b="1" dirty="0"/>
              <a:t>:</a:t>
            </a:r>
            <a:r>
              <a:rPr lang="tr-TR" dirty="0"/>
              <a:t> Önceden tanımlı hiçbir şablona bağımlı olmadığı için en yüksek esnekliği sunar; ancak modelin </a:t>
            </a:r>
            <a:r>
              <a:rPr lang="tr-TR" dirty="0" err="1"/>
              <a:t>Cypher</a:t>
            </a:r>
            <a:r>
              <a:rPr lang="tr-TR" dirty="0"/>
              <a:t> üretiminde hata yapma riskine karşı salt okunur (</a:t>
            </a:r>
            <a:r>
              <a:rPr lang="tr-TR" i="1" dirty="0" err="1"/>
              <a:t>read-only</a:t>
            </a:r>
            <a:r>
              <a:rPr lang="tr-TR" dirty="0"/>
              <a:t>) yetkilendirme, sözdizimi doğrulama veya insan kontrolü (</a:t>
            </a:r>
            <a:r>
              <a:rPr lang="tr-TR" i="1" dirty="0"/>
              <a:t>HITL</a:t>
            </a:r>
            <a:r>
              <a:rPr lang="tr-TR" dirty="0"/>
              <a:t>) gibi güvenlik katmanları (</a:t>
            </a:r>
            <a:r>
              <a:rPr lang="tr-TR" i="1" dirty="0" err="1"/>
              <a:t>guardrails</a:t>
            </a:r>
            <a:r>
              <a:rPr lang="tr-TR" dirty="0"/>
              <a:t>) gerektirir.</a:t>
            </a:r>
          </a:p>
          <a:p>
            <a:pPr marL="0" lvl="0" indent="0" algn="l" rtl="0">
              <a:spcBef>
                <a:spcPts val="0"/>
              </a:spcBef>
              <a:spcAft>
                <a:spcPts val="0"/>
              </a:spcAft>
              <a:buNone/>
            </a:pPr>
            <a:endParaRPr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9"/>
        <p:cNvGrpSpPr/>
        <p:nvPr/>
      </p:nvGrpSpPr>
      <p:grpSpPr>
        <a:xfrm>
          <a:off x="0" y="0"/>
          <a:ext cx="0" cy="0"/>
          <a:chOff x="0" y="0"/>
          <a:chExt cx="0" cy="0"/>
        </a:xfrm>
      </p:grpSpPr>
      <p:sp>
        <p:nvSpPr>
          <p:cNvPr id="440" name="Google Shape;440;g3f7712b134d_0_1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1" name="Google Shape;441;g3f7712b134d_0_1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tr-TR" dirty="0" err="1"/>
              <a:t>Beijing</a:t>
            </a:r>
            <a:r>
              <a:rPr lang="tr-TR" dirty="0"/>
              <a:t> Academy of </a:t>
            </a:r>
            <a:r>
              <a:rPr lang="tr-TR" dirty="0" err="1"/>
              <a:t>Artificial</a:t>
            </a:r>
            <a:r>
              <a:rPr lang="tr-TR" dirty="0"/>
              <a:t> </a:t>
            </a:r>
            <a:r>
              <a:rPr lang="tr-TR" dirty="0" err="1"/>
              <a:t>Intelligence</a:t>
            </a:r>
            <a:r>
              <a:rPr lang="tr-TR" dirty="0"/>
              <a:t> (BAAI) tarafından geliştirilen, RAG ve bilgi getirme (</a:t>
            </a:r>
            <a:r>
              <a:rPr lang="tr-TR" dirty="0" err="1"/>
              <a:t>retrieval</a:t>
            </a:r>
            <a:r>
              <a:rPr lang="tr-TR" dirty="0"/>
              <a:t>) sistemlerinde sıkça tercih edilen açık kaynaklı bir </a:t>
            </a:r>
            <a:r>
              <a:rPr lang="tr-TR" dirty="0" err="1"/>
              <a:t>embedding</a:t>
            </a:r>
            <a:r>
              <a:rPr lang="tr-TR" dirty="0"/>
              <a:t> modelidir. Adındaki </a:t>
            </a:r>
            <a:r>
              <a:rPr lang="tr-TR" b="1" dirty="0"/>
              <a:t>"M3"</a:t>
            </a:r>
            <a:r>
              <a:rPr lang="tr-TR" dirty="0"/>
              <a:t> üç temel gücünü simgeler:</a:t>
            </a:r>
          </a:p>
          <a:p>
            <a:pPr lvl="0"/>
            <a:r>
              <a:rPr lang="tr-TR" b="1" dirty="0"/>
              <a:t>Multi-</a:t>
            </a:r>
            <a:r>
              <a:rPr lang="tr-TR" b="1" dirty="0" err="1"/>
              <a:t>Lingual</a:t>
            </a:r>
            <a:r>
              <a:rPr lang="tr-TR" b="1" dirty="0"/>
              <a:t> (Çok Dilli):</a:t>
            </a:r>
            <a:r>
              <a:rPr lang="tr-TR" dirty="0"/>
              <a:t> Türkçe dahil 100'den fazla dilde yüksek anlamsal doğrulukla çalışır ve diller arası semantik transferi başarıyla yapar.</a:t>
            </a:r>
          </a:p>
          <a:p>
            <a:pPr lvl="0"/>
            <a:r>
              <a:rPr lang="tr-TR" b="1" dirty="0"/>
              <a:t>Multi-</a:t>
            </a:r>
            <a:r>
              <a:rPr lang="tr-TR" b="1" dirty="0" err="1"/>
              <a:t>Granularity</a:t>
            </a:r>
            <a:r>
              <a:rPr lang="tr-TR" b="1" dirty="0"/>
              <a:t> (Çoklu Ölçek):</a:t>
            </a:r>
            <a:r>
              <a:rPr lang="tr-TR" dirty="0"/>
              <a:t> Cümle düzeyinden (kısa üçlüler/ilişkiler) 8192 </a:t>
            </a:r>
            <a:r>
              <a:rPr lang="tr-TR" dirty="0" err="1"/>
              <a:t>token</a:t>
            </a:r>
            <a:r>
              <a:rPr lang="tr-TR" dirty="0"/>
              <a:t> uzunluğundaki tam belgelere kadar geniş bir bağlamı aynı anda işleyebilir.</a:t>
            </a:r>
          </a:p>
          <a:p>
            <a:pPr lvl="0"/>
            <a:r>
              <a:rPr lang="tr-TR" b="1" dirty="0"/>
              <a:t>Multi-</a:t>
            </a:r>
            <a:r>
              <a:rPr lang="tr-TR" b="1" dirty="0" err="1"/>
              <a:t>Functionality</a:t>
            </a:r>
            <a:r>
              <a:rPr lang="tr-TR" b="1" dirty="0"/>
              <a:t> (Hibrit Arama Desteği):</a:t>
            </a:r>
            <a:r>
              <a:rPr lang="tr-TR" dirty="0"/>
              <a:t> Tek model üzerinden 3 farklı getirme modunu destekler:</a:t>
            </a:r>
          </a:p>
          <a:p>
            <a:pPr lvl="1"/>
            <a:r>
              <a:rPr lang="tr-TR" b="1" dirty="0"/>
              <a:t>Dense </a:t>
            </a:r>
            <a:r>
              <a:rPr lang="tr-TR" b="1" dirty="0" err="1"/>
              <a:t>Retrieval</a:t>
            </a:r>
            <a:r>
              <a:rPr lang="tr-TR" b="1" dirty="0"/>
              <a:t>:</a:t>
            </a:r>
            <a:r>
              <a:rPr lang="tr-TR" dirty="0"/>
              <a:t> Klasik kosinüs benzerliği için yoğun vektörler üretir.</a:t>
            </a:r>
          </a:p>
          <a:p>
            <a:pPr lvl="1"/>
            <a:r>
              <a:rPr lang="tr-TR" b="1" dirty="0" err="1"/>
              <a:t>Sparse</a:t>
            </a:r>
            <a:r>
              <a:rPr lang="tr-TR" b="1" dirty="0"/>
              <a:t> </a:t>
            </a:r>
            <a:r>
              <a:rPr lang="tr-TR" b="1" dirty="0" err="1"/>
              <a:t>Retrieval</a:t>
            </a:r>
            <a:r>
              <a:rPr lang="tr-TR" b="1" dirty="0"/>
              <a:t>:</a:t>
            </a:r>
            <a:r>
              <a:rPr lang="tr-TR" dirty="0"/>
              <a:t> BM25 gibi kelime eşleşmesine dayalı seyrek ağırlıklar (</a:t>
            </a:r>
            <a:r>
              <a:rPr lang="tr-TR" dirty="0" err="1"/>
              <a:t>lexical</a:t>
            </a:r>
            <a:r>
              <a:rPr lang="tr-TR" dirty="0"/>
              <a:t> </a:t>
            </a:r>
            <a:r>
              <a:rPr lang="tr-TR" dirty="0" err="1"/>
              <a:t>weights</a:t>
            </a:r>
            <a:r>
              <a:rPr lang="tr-TR" dirty="0"/>
              <a:t>) çıkarır.</a:t>
            </a:r>
          </a:p>
          <a:p>
            <a:pPr lvl="1"/>
            <a:r>
              <a:rPr lang="tr-TR" b="1" dirty="0"/>
              <a:t>Multi-</a:t>
            </a:r>
            <a:r>
              <a:rPr lang="tr-TR" b="1" dirty="0" err="1"/>
              <a:t>Vector</a:t>
            </a:r>
            <a:r>
              <a:rPr lang="tr-TR" b="1" dirty="0"/>
              <a:t> (</a:t>
            </a:r>
            <a:r>
              <a:rPr lang="tr-TR" b="1" dirty="0" err="1"/>
              <a:t>ColBERT</a:t>
            </a:r>
            <a:r>
              <a:rPr lang="tr-TR" b="1" dirty="0"/>
              <a:t> tarzı):</a:t>
            </a:r>
            <a:r>
              <a:rPr lang="tr-TR" dirty="0"/>
              <a:t> </a:t>
            </a:r>
            <a:r>
              <a:rPr lang="tr-TR" dirty="0" err="1"/>
              <a:t>Token</a:t>
            </a:r>
            <a:r>
              <a:rPr lang="tr-TR" dirty="0"/>
              <a:t> seviyesinde ince taneli </a:t>
            </a:r>
            <a:r>
              <a:rPr lang="tr-TR" dirty="0" err="1"/>
              <a:t>reranking</a:t>
            </a:r>
            <a:r>
              <a:rPr lang="tr-TR" dirty="0"/>
              <a:t>/etkileşim sağlar.</a:t>
            </a:r>
          </a:p>
          <a:p>
            <a:pPr marL="615950" lvl="1" indent="0">
              <a:buNone/>
            </a:pPr>
            <a:endParaRPr lang="tr-TR" dirty="0"/>
          </a:p>
          <a:p>
            <a:pPr marL="158750" indent="0">
              <a:buNone/>
            </a:pPr>
            <a:r>
              <a:rPr lang="tr-TR" b="1" dirty="0"/>
              <a:t>BGE-M3 Alternatifleri</a:t>
            </a:r>
            <a:endParaRPr lang="tr-TR" dirty="0"/>
          </a:p>
          <a:p>
            <a:pPr marL="158750" indent="0">
              <a:buNone/>
            </a:pPr>
            <a:r>
              <a:rPr lang="tr-TR" b="1" dirty="0"/>
              <a:t>Açık Kaynaklı (Self-</a:t>
            </a:r>
            <a:r>
              <a:rPr lang="tr-TR" b="1" dirty="0" err="1"/>
              <a:t>Hosted</a:t>
            </a:r>
            <a:r>
              <a:rPr lang="tr-TR" b="1" dirty="0"/>
              <a:t>) Modeller</a:t>
            </a:r>
            <a:endParaRPr lang="tr-TR" dirty="0"/>
          </a:p>
          <a:p>
            <a:pPr marL="158750" lvl="0" indent="0">
              <a:buNone/>
            </a:pPr>
            <a:r>
              <a:rPr lang="tr-TR" b="1" dirty="0"/>
              <a:t>E5 Serisi (</a:t>
            </a:r>
            <a:r>
              <a:rPr lang="tr-TR" sz="1100" b="1" i="0" u="none" strike="noStrike" cap="none" spc="0" dirty="0">
                <a:solidFill>
                  <a:srgbClr val="000000"/>
                </a:solidFill>
                <a:latin typeface="Arial"/>
                <a:ea typeface="Arial"/>
                <a:cs typeface="Arial"/>
                <a:sym typeface="Arial"/>
              </a:rPr>
              <a:t>multilingual-e5-large</a:t>
            </a:r>
            <a:r>
              <a:rPr lang="tr-TR" b="1" dirty="0"/>
              <a:t> / </a:t>
            </a:r>
            <a:r>
              <a:rPr lang="tr-TR" sz="1100" b="1" i="0" u="none" strike="noStrike" cap="none" spc="0" dirty="0">
                <a:solidFill>
                  <a:srgbClr val="000000"/>
                </a:solidFill>
                <a:latin typeface="Arial"/>
                <a:ea typeface="Arial"/>
                <a:cs typeface="Arial"/>
                <a:sym typeface="Arial"/>
              </a:rPr>
              <a:t>e5-mistral-7b</a:t>
            </a:r>
            <a:r>
              <a:rPr lang="tr-TR" b="1" dirty="0"/>
              <a:t>):</a:t>
            </a:r>
            <a:r>
              <a:rPr lang="tr-TR" dirty="0"/>
              <a:t> Microsoft'un geliştirdiği, çok dilli arama ve sınıflandırma görevlerinde BGE-M3 ile en yakın performansı sunan popüler model ailesi.</a:t>
            </a:r>
          </a:p>
          <a:p>
            <a:pPr marL="158750" lvl="0" indent="0">
              <a:buNone/>
            </a:pPr>
            <a:r>
              <a:rPr lang="tr-TR" b="1" dirty="0" err="1"/>
              <a:t>Nomic</a:t>
            </a:r>
            <a:r>
              <a:rPr lang="tr-TR" b="1" dirty="0"/>
              <a:t> </a:t>
            </a:r>
            <a:r>
              <a:rPr lang="tr-TR" b="1" dirty="0" err="1"/>
              <a:t>Embed</a:t>
            </a:r>
            <a:r>
              <a:rPr lang="tr-TR" b="1" dirty="0"/>
              <a:t> (</a:t>
            </a:r>
            <a:r>
              <a:rPr lang="tr-TR" sz="1100" b="1" i="0" u="none" strike="noStrike" cap="none" spc="0" dirty="0">
                <a:solidFill>
                  <a:srgbClr val="000000"/>
                </a:solidFill>
                <a:latin typeface="Arial"/>
                <a:ea typeface="Arial"/>
                <a:cs typeface="Arial"/>
                <a:sym typeface="Arial"/>
              </a:rPr>
              <a:t>nomic-embed-text-v1.5</a:t>
            </a:r>
            <a:r>
              <a:rPr lang="tr-TR" b="1" dirty="0"/>
              <a:t>):</a:t>
            </a:r>
            <a:r>
              <a:rPr lang="tr-TR" dirty="0"/>
              <a:t> 8192 </a:t>
            </a:r>
            <a:r>
              <a:rPr lang="tr-TR" dirty="0" err="1"/>
              <a:t>token</a:t>
            </a:r>
            <a:r>
              <a:rPr lang="tr-TR" dirty="0"/>
              <a:t> desteği sunan, boyut ayarlanabilir (</a:t>
            </a:r>
            <a:r>
              <a:rPr lang="tr-TR" i="1" dirty="0" err="1"/>
              <a:t>Matryoshka</a:t>
            </a:r>
            <a:r>
              <a:rPr lang="tr-TR" i="1" dirty="0"/>
              <a:t> </a:t>
            </a:r>
            <a:r>
              <a:rPr lang="tr-TR" i="1" dirty="0" err="1"/>
              <a:t>Embeddings</a:t>
            </a:r>
            <a:r>
              <a:rPr lang="tr-TR" dirty="0"/>
              <a:t>) ve tamamen açık ağırlıklı hafif bir model.</a:t>
            </a:r>
          </a:p>
          <a:p>
            <a:pPr marL="158750" lvl="0" indent="0">
              <a:buNone/>
            </a:pPr>
            <a:r>
              <a:rPr lang="tr-TR" b="1" dirty="0"/>
              <a:t>GTE Serisi (</a:t>
            </a:r>
            <a:r>
              <a:rPr lang="tr-TR" sz="1100" b="1" i="0" u="none" strike="noStrike" cap="none" spc="0" dirty="0" err="1">
                <a:solidFill>
                  <a:srgbClr val="000000"/>
                </a:solidFill>
                <a:latin typeface="Arial"/>
                <a:ea typeface="Arial"/>
                <a:cs typeface="Arial"/>
                <a:sym typeface="Arial"/>
              </a:rPr>
              <a:t>gte-multilingual-base</a:t>
            </a:r>
            <a:r>
              <a:rPr lang="tr-TR" b="1" dirty="0"/>
              <a:t> / </a:t>
            </a:r>
            <a:r>
              <a:rPr lang="tr-TR" sz="1100" b="1" i="0" u="none" strike="noStrike" cap="none" spc="0" dirty="0" err="1">
                <a:solidFill>
                  <a:srgbClr val="000000"/>
                </a:solidFill>
                <a:latin typeface="Arial"/>
                <a:ea typeface="Arial"/>
                <a:cs typeface="Arial"/>
                <a:sym typeface="Arial"/>
              </a:rPr>
              <a:t>gte-large</a:t>
            </a:r>
            <a:r>
              <a:rPr lang="tr-TR" b="1" dirty="0"/>
              <a:t>):</a:t>
            </a:r>
            <a:r>
              <a:rPr lang="tr-TR" dirty="0"/>
              <a:t> Alibaba tarafından geliştirilen, genel metin benzerliği ve semantik arama kıyaslamalarında (MTEB) üst sıralarda yer alan alternatif.</a:t>
            </a:r>
          </a:p>
          <a:p>
            <a:pPr marL="158750" lvl="0" indent="0">
              <a:buNone/>
            </a:pPr>
            <a:r>
              <a:rPr lang="tr-TR" b="1" dirty="0" err="1"/>
              <a:t>MiniLM</a:t>
            </a:r>
            <a:r>
              <a:rPr lang="tr-TR" b="1" dirty="0"/>
              <a:t> (</a:t>
            </a:r>
            <a:r>
              <a:rPr lang="tr-TR" sz="1100" b="1" i="0" u="none" strike="noStrike" cap="none" spc="0" dirty="0">
                <a:solidFill>
                  <a:srgbClr val="000000"/>
                </a:solidFill>
                <a:latin typeface="Arial"/>
                <a:ea typeface="Arial"/>
                <a:cs typeface="Arial"/>
                <a:sym typeface="Arial"/>
              </a:rPr>
              <a:t>all-MiniLM-L6-v2</a:t>
            </a:r>
            <a:r>
              <a:rPr lang="tr-TR" b="1" dirty="0"/>
              <a:t> / </a:t>
            </a:r>
            <a:r>
              <a:rPr lang="tr-TR" sz="1100" b="1" i="0" u="none" strike="noStrike" cap="none" spc="0" dirty="0">
                <a:solidFill>
                  <a:srgbClr val="000000"/>
                </a:solidFill>
                <a:latin typeface="Arial"/>
                <a:ea typeface="Arial"/>
                <a:cs typeface="Arial"/>
                <a:sym typeface="Arial"/>
              </a:rPr>
              <a:t>paraphrase-multilingual-MiniLM-L12-v2</a:t>
            </a:r>
            <a:r>
              <a:rPr lang="tr-TR" b="1" dirty="0"/>
              <a:t>):</a:t>
            </a:r>
            <a:r>
              <a:rPr lang="tr-TR" dirty="0"/>
              <a:t> Çok düşük gecikme süresi ve minimum RAM tüketimi gereken prodüksiyon ortamları için optimize edilmiş kompakt modeller.</a:t>
            </a:r>
          </a:p>
          <a:p>
            <a:pPr marL="615950" lvl="1" indent="0">
              <a:buNone/>
            </a:pPr>
            <a:endParaRPr lang="tr-TR" dirty="0"/>
          </a:p>
          <a:p>
            <a:pPr marL="615950" lvl="1" indent="0">
              <a:buNone/>
            </a:pPr>
            <a:endParaRPr lang="tr-TR" dirty="0"/>
          </a:p>
          <a:p>
            <a:pPr marL="0" lvl="0" indent="0" algn="l" rtl="0">
              <a:spcBef>
                <a:spcPts val="0"/>
              </a:spcBef>
              <a:spcAft>
                <a:spcPts val="0"/>
              </a:spcAft>
              <a:buNone/>
            </a:pPr>
            <a:endParaRPr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0"/>
        <p:cNvGrpSpPr/>
        <p:nvPr/>
      </p:nvGrpSpPr>
      <p:grpSpPr>
        <a:xfrm>
          <a:off x="0" y="0"/>
          <a:ext cx="0" cy="0"/>
          <a:chOff x="0" y="0"/>
          <a:chExt cx="0" cy="0"/>
        </a:xfrm>
      </p:grpSpPr>
      <p:sp>
        <p:nvSpPr>
          <p:cNvPr id="451" name="Google Shape;451;g3f7712b134d_0_12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2" name="Google Shape;452;g3f7712b134d_0_1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tr-TR" b="1" dirty="0"/>
              <a:t>1024</a:t>
            </a:r>
            <a:r>
              <a:rPr lang="tr-TR" dirty="0"/>
              <a:t> değeri rastgele seçilen bir parametre değil, kullanılan </a:t>
            </a:r>
            <a:r>
              <a:rPr lang="tr-TR" b="1" dirty="0"/>
              <a:t>BGE-M3</a:t>
            </a:r>
            <a:r>
              <a:rPr lang="tr-TR" dirty="0"/>
              <a:t> </a:t>
            </a:r>
            <a:r>
              <a:rPr lang="tr-TR" dirty="0" err="1"/>
              <a:t>embedding</a:t>
            </a:r>
            <a:r>
              <a:rPr lang="tr-TR" dirty="0"/>
              <a:t> modelinin </a:t>
            </a:r>
            <a:r>
              <a:rPr lang="tr-TR" b="1" dirty="0"/>
              <a:t>çıktı vektör boyutudur (</a:t>
            </a:r>
            <a:r>
              <a:rPr lang="tr-TR" b="1" dirty="0" err="1"/>
              <a:t>dimension</a:t>
            </a:r>
            <a:r>
              <a:rPr lang="tr-TR" b="1" dirty="0"/>
              <a:t>)</a:t>
            </a:r>
            <a:r>
              <a:rPr lang="tr-TR" dirty="0"/>
              <a:t>.</a:t>
            </a:r>
          </a:p>
          <a:p>
            <a:pPr lvl="0"/>
            <a:r>
              <a:rPr lang="tr-TR" b="1" dirty="0"/>
              <a:t>Birebir Eşleşme Zorunluluğu:</a:t>
            </a:r>
            <a:r>
              <a:rPr lang="tr-TR" dirty="0"/>
              <a:t> Vektör </a:t>
            </a:r>
            <a:r>
              <a:rPr lang="tr-TR" dirty="0" err="1"/>
              <a:t>veritabanlarında</a:t>
            </a:r>
            <a:r>
              <a:rPr lang="tr-TR" dirty="0"/>
              <a:t> ve Neo4j Vektör </a:t>
            </a:r>
            <a:r>
              <a:rPr lang="tr-TR" dirty="0" err="1"/>
              <a:t>İndeksi'nde</a:t>
            </a:r>
            <a:r>
              <a:rPr lang="tr-TR" dirty="0"/>
              <a:t> </a:t>
            </a:r>
            <a:r>
              <a:rPr lang="tr-TR" sz="1100" b="0" i="0" u="none" strike="noStrike" cap="none" spc="0" dirty="0" err="1">
                <a:solidFill>
                  <a:srgbClr val="000000"/>
                </a:solidFill>
                <a:latin typeface="Arial"/>
                <a:ea typeface="Arial"/>
                <a:cs typeface="Arial"/>
                <a:sym typeface="Arial"/>
              </a:rPr>
              <a:t>vector.dimensions</a:t>
            </a:r>
            <a:r>
              <a:rPr lang="tr-TR" dirty="0"/>
              <a:t> parametresi, veriyi </a:t>
            </a:r>
            <a:r>
              <a:rPr lang="tr-TR" dirty="0" err="1"/>
              <a:t>vektörleştiren</a:t>
            </a:r>
            <a:r>
              <a:rPr lang="tr-TR" dirty="0"/>
              <a:t> modelin ürettiği dizi uzunluğuyla birebir aynı olmak zorundadır.</a:t>
            </a:r>
          </a:p>
          <a:p>
            <a:pPr lvl="0"/>
            <a:r>
              <a:rPr lang="tr-TR" b="1" dirty="0"/>
              <a:t>Model Uyumu:</a:t>
            </a:r>
            <a:endParaRPr lang="tr-TR" dirty="0"/>
          </a:p>
          <a:p>
            <a:pPr lvl="1"/>
            <a:r>
              <a:rPr lang="tr-TR" b="1" dirty="0"/>
              <a:t>BGE-M3</a:t>
            </a:r>
            <a:r>
              <a:rPr lang="tr-TR" dirty="0"/>
              <a:t> modeli her metin için tam olarak </a:t>
            </a:r>
            <a:r>
              <a:rPr lang="tr-TR" b="1" dirty="0"/>
              <a:t>1024 boyutlu</a:t>
            </a:r>
            <a:r>
              <a:rPr lang="tr-TR" dirty="0"/>
              <a:t> bir sayı dizisi (</a:t>
            </a:r>
            <a:r>
              <a:rPr lang="tr-TR" sz="1100" b="0" i="0" u="none" strike="noStrike" cap="none" spc="0" dirty="0" err="1">
                <a:solidFill>
                  <a:srgbClr val="000000"/>
                </a:solidFill>
                <a:latin typeface="Arial"/>
                <a:ea typeface="Arial"/>
                <a:cs typeface="Arial"/>
                <a:sym typeface="Arial"/>
              </a:rPr>
              <a:t>float</a:t>
            </a:r>
            <a:r>
              <a:rPr lang="tr-TR" sz="1100" b="0" i="0" u="none" strike="noStrike" cap="none" spc="0" dirty="0">
                <a:solidFill>
                  <a:srgbClr val="000000"/>
                </a:solidFill>
                <a:latin typeface="Arial"/>
                <a:ea typeface="Arial"/>
                <a:cs typeface="Arial"/>
                <a:sym typeface="Arial"/>
              </a:rPr>
              <a:t> </a:t>
            </a:r>
            <a:r>
              <a:rPr lang="tr-TR" sz="1100" b="0" i="0" u="none" strike="noStrike" cap="none" spc="0" dirty="0" err="1">
                <a:solidFill>
                  <a:srgbClr val="000000"/>
                </a:solidFill>
                <a:latin typeface="Arial"/>
                <a:ea typeface="Arial"/>
                <a:cs typeface="Arial"/>
                <a:sym typeface="Arial"/>
              </a:rPr>
              <a:t>array</a:t>
            </a:r>
            <a:r>
              <a:rPr lang="tr-TR" dirty="0"/>
              <a:t>) üretir.</a:t>
            </a:r>
          </a:p>
          <a:p>
            <a:pPr lvl="1"/>
            <a:r>
              <a:rPr lang="tr-TR" dirty="0"/>
              <a:t>Eğer </a:t>
            </a:r>
            <a:r>
              <a:rPr lang="tr-TR" dirty="0" err="1"/>
              <a:t>OpenAI</a:t>
            </a:r>
            <a:r>
              <a:rPr lang="tr-TR" dirty="0"/>
              <a:t> </a:t>
            </a:r>
            <a:r>
              <a:rPr lang="tr-TR" sz="1100" b="0" i="0" u="none" strike="noStrike" cap="none" spc="0" dirty="0">
                <a:solidFill>
                  <a:srgbClr val="000000"/>
                </a:solidFill>
                <a:latin typeface="Arial"/>
                <a:ea typeface="Arial"/>
                <a:cs typeface="Arial"/>
                <a:sym typeface="Arial"/>
              </a:rPr>
              <a:t>text-embedding-3-small</a:t>
            </a:r>
            <a:r>
              <a:rPr lang="tr-TR" dirty="0"/>
              <a:t> kullanılsaydı buraya </a:t>
            </a:r>
            <a:r>
              <a:rPr lang="tr-TR" b="1" dirty="0"/>
              <a:t>1536</a:t>
            </a:r>
            <a:r>
              <a:rPr lang="tr-TR" dirty="0"/>
              <a:t>, </a:t>
            </a:r>
            <a:r>
              <a:rPr lang="tr-TR" dirty="0" err="1"/>
              <a:t>MiniLM</a:t>
            </a:r>
            <a:r>
              <a:rPr lang="tr-TR" dirty="0"/>
              <a:t> kullanılsaydı </a:t>
            </a:r>
            <a:r>
              <a:rPr lang="tr-TR" b="1" dirty="0"/>
              <a:t>384</a:t>
            </a:r>
            <a:r>
              <a:rPr lang="tr-TR" dirty="0"/>
              <a:t> yazılması gerekirdi.</a:t>
            </a:r>
          </a:p>
          <a:p>
            <a:pPr lvl="0"/>
            <a:r>
              <a:rPr lang="tr-TR" dirty="0"/>
              <a:t>Boyutlar eşleşmezse </a:t>
            </a:r>
            <a:r>
              <a:rPr lang="tr-TR" dirty="0" err="1"/>
              <a:t>veritabanı</a:t>
            </a:r>
            <a:r>
              <a:rPr lang="tr-TR" dirty="0"/>
              <a:t> vektörleri </a:t>
            </a:r>
            <a:r>
              <a:rPr lang="tr-TR" dirty="0" err="1"/>
              <a:t>indeksleyemez</a:t>
            </a:r>
            <a:r>
              <a:rPr lang="tr-TR" dirty="0"/>
              <a:t> ve sorgulama anında boyut uyuşmazlığı hatası verir.</a:t>
            </a:r>
          </a:p>
          <a:p>
            <a:pPr marL="0" lvl="0" indent="0" algn="l" rtl="0">
              <a:spcBef>
                <a:spcPts val="0"/>
              </a:spcBef>
              <a:spcAft>
                <a:spcPts val="0"/>
              </a:spcAft>
              <a:buNone/>
            </a:pPr>
            <a:endParaRPr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9"/>
        <p:cNvGrpSpPr/>
        <p:nvPr/>
      </p:nvGrpSpPr>
      <p:grpSpPr>
        <a:xfrm>
          <a:off x="0" y="0"/>
          <a:ext cx="0" cy="0"/>
          <a:chOff x="0" y="0"/>
          <a:chExt cx="0" cy="0"/>
        </a:xfrm>
      </p:grpSpPr>
      <p:sp>
        <p:nvSpPr>
          <p:cNvPr id="460" name="Google Shape;460;g3f7712b134d_0_13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1" name="Google Shape;461;g3f7712b134d_0_1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6"/>
        <p:cNvGrpSpPr/>
        <p:nvPr/>
      </p:nvGrpSpPr>
      <p:grpSpPr>
        <a:xfrm>
          <a:off x="0" y="0"/>
          <a:ext cx="0" cy="0"/>
          <a:chOff x="0" y="0"/>
          <a:chExt cx="0" cy="0"/>
        </a:xfrm>
      </p:grpSpPr>
      <p:sp>
        <p:nvSpPr>
          <p:cNvPr id="467" name="Google Shape;467;g3f7712b134d_0_14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8" name="Google Shape;468;g3f7712b134d_0_1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3"/>
        <p:cNvGrpSpPr/>
        <p:nvPr/>
      </p:nvGrpSpPr>
      <p:grpSpPr>
        <a:xfrm>
          <a:off x="0" y="0"/>
          <a:ext cx="0" cy="0"/>
          <a:chOff x="0" y="0"/>
          <a:chExt cx="0" cy="0"/>
        </a:xfrm>
      </p:grpSpPr>
      <p:sp>
        <p:nvSpPr>
          <p:cNvPr id="474" name="Google Shape;474;g3f7712b134d_0_15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5" name="Google Shape;475;g3f7712b134d_0_1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9"/>
        <p:cNvGrpSpPr/>
        <p:nvPr/>
      </p:nvGrpSpPr>
      <p:grpSpPr>
        <a:xfrm>
          <a:off x="0" y="0"/>
          <a:ext cx="0" cy="0"/>
          <a:chOff x="0" y="0"/>
          <a:chExt cx="0" cy="0"/>
        </a:xfrm>
      </p:grpSpPr>
      <p:sp>
        <p:nvSpPr>
          <p:cNvPr id="480" name="Google Shape;480;g3f7712b134d_0_16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1" name="Google Shape;481;g3f7712b134d_0_1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accent3"/>
        </a:solidFill>
        <a:effectLst/>
      </p:bgPr>
    </p:bg>
    <p:spTree>
      <p:nvGrpSpPr>
        <p:cNvPr id="1" name="Shape 9"/>
        <p:cNvGrpSpPr/>
        <p:nvPr/>
      </p:nvGrpSpPr>
      <p:grpSpPr>
        <a:xfrm>
          <a:off x="0" y="0"/>
          <a:ext cx="0" cy="0"/>
          <a:chOff x="0" y="0"/>
          <a:chExt cx="0" cy="0"/>
        </a:xfrm>
      </p:grpSpPr>
      <p:grpSp>
        <p:nvGrpSpPr>
          <p:cNvPr id="10" name="Google Shape;10;p2"/>
          <p:cNvGrpSpPr/>
          <p:nvPr/>
        </p:nvGrpSpPr>
        <p:grpSpPr>
          <a:xfrm>
            <a:off x="7343003" y="3409675"/>
            <a:ext cx="1691422" cy="1732548"/>
            <a:chOff x="7343003" y="3409675"/>
            <a:chExt cx="1691422" cy="1732548"/>
          </a:xfrm>
        </p:grpSpPr>
        <p:grpSp>
          <p:nvGrpSpPr>
            <p:cNvPr id="11" name="Google Shape;11;p2"/>
            <p:cNvGrpSpPr/>
            <p:nvPr/>
          </p:nvGrpSpPr>
          <p:grpSpPr>
            <a:xfrm>
              <a:off x="7343003" y="4453711"/>
              <a:ext cx="316800" cy="688513"/>
              <a:chOff x="7343003" y="4453711"/>
              <a:chExt cx="316800" cy="688513"/>
            </a:xfrm>
          </p:grpSpPr>
          <p:sp>
            <p:nvSpPr>
              <p:cNvPr id="12" name="Google Shape;12;p2"/>
              <p:cNvSpPr/>
              <p:nvPr/>
            </p:nvSpPr>
            <p:spPr>
              <a:xfrm>
                <a:off x="7343003" y="4453711"/>
                <a:ext cx="316800" cy="688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7343003" y="4801723"/>
                <a:ext cx="316800" cy="340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 name="Google Shape;14;p2"/>
            <p:cNvGrpSpPr/>
            <p:nvPr/>
          </p:nvGrpSpPr>
          <p:grpSpPr>
            <a:xfrm>
              <a:off x="7801210" y="4105700"/>
              <a:ext cx="316800" cy="1036523"/>
              <a:chOff x="7801210" y="4105700"/>
              <a:chExt cx="316800" cy="1036523"/>
            </a:xfrm>
          </p:grpSpPr>
          <p:sp>
            <p:nvSpPr>
              <p:cNvPr id="15" name="Google Shape;15;p2"/>
              <p:cNvSpPr/>
              <p:nvPr/>
            </p:nvSpPr>
            <p:spPr>
              <a:xfrm>
                <a:off x="7801210" y="4453711"/>
                <a:ext cx="316800" cy="688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7801210" y="4105700"/>
                <a:ext cx="316800" cy="1036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7801210" y="4801723"/>
                <a:ext cx="316800" cy="340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 name="Google Shape;18;p2"/>
            <p:cNvGrpSpPr/>
            <p:nvPr/>
          </p:nvGrpSpPr>
          <p:grpSpPr>
            <a:xfrm>
              <a:off x="8259418" y="3757688"/>
              <a:ext cx="316800" cy="1384535"/>
              <a:chOff x="8259418" y="3757688"/>
              <a:chExt cx="316800" cy="1384535"/>
            </a:xfrm>
          </p:grpSpPr>
          <p:sp>
            <p:nvSpPr>
              <p:cNvPr id="19" name="Google Shape;19;p2"/>
              <p:cNvSpPr/>
              <p:nvPr/>
            </p:nvSpPr>
            <p:spPr>
              <a:xfrm>
                <a:off x="8259418" y="4453711"/>
                <a:ext cx="316800" cy="688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8259418" y="3757688"/>
                <a:ext cx="316800" cy="1384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8259418" y="4105700"/>
                <a:ext cx="316800" cy="1036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2"/>
              <p:cNvSpPr/>
              <p:nvPr/>
            </p:nvSpPr>
            <p:spPr>
              <a:xfrm>
                <a:off x="8259418" y="4801723"/>
                <a:ext cx="316800" cy="340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 name="Google Shape;23;p2"/>
            <p:cNvGrpSpPr/>
            <p:nvPr/>
          </p:nvGrpSpPr>
          <p:grpSpPr>
            <a:xfrm>
              <a:off x="8717625" y="3409675"/>
              <a:ext cx="316800" cy="1732548"/>
              <a:chOff x="8717625" y="3409675"/>
              <a:chExt cx="316800" cy="1732548"/>
            </a:xfrm>
          </p:grpSpPr>
          <p:sp>
            <p:nvSpPr>
              <p:cNvPr id="24" name="Google Shape;24;p2"/>
              <p:cNvSpPr/>
              <p:nvPr/>
            </p:nvSpPr>
            <p:spPr>
              <a:xfrm>
                <a:off x="8717625" y="4453711"/>
                <a:ext cx="316800" cy="688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2"/>
              <p:cNvSpPr/>
              <p:nvPr/>
            </p:nvSpPr>
            <p:spPr>
              <a:xfrm>
                <a:off x="8717625" y="3757688"/>
                <a:ext cx="316800" cy="1384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2"/>
              <p:cNvSpPr/>
              <p:nvPr/>
            </p:nvSpPr>
            <p:spPr>
              <a:xfrm>
                <a:off x="8717625" y="4105700"/>
                <a:ext cx="316800" cy="1036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2"/>
              <p:cNvSpPr/>
              <p:nvPr/>
            </p:nvSpPr>
            <p:spPr>
              <a:xfrm>
                <a:off x="8717625" y="3409675"/>
                <a:ext cx="316800" cy="1732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
              <p:cNvSpPr/>
              <p:nvPr/>
            </p:nvSpPr>
            <p:spPr>
              <a:xfrm>
                <a:off x="8717625" y="4801723"/>
                <a:ext cx="316800" cy="340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9" name="Google Shape;29;p2"/>
          <p:cNvGrpSpPr/>
          <p:nvPr/>
        </p:nvGrpSpPr>
        <p:grpSpPr>
          <a:xfrm>
            <a:off x="5043503" y="0"/>
            <a:ext cx="3814072" cy="3839102"/>
            <a:chOff x="5043503" y="0"/>
            <a:chExt cx="3814072" cy="3839102"/>
          </a:xfrm>
        </p:grpSpPr>
        <p:sp>
          <p:nvSpPr>
            <p:cNvPr id="30" name="Google Shape;30;p2"/>
            <p:cNvSpPr/>
            <p:nvPr/>
          </p:nvSpPr>
          <p:spPr>
            <a:xfrm>
              <a:off x="8460975" y="1817775"/>
              <a:ext cx="396600" cy="396600"/>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2"/>
            <p:cNvSpPr/>
            <p:nvPr/>
          </p:nvSpPr>
          <p:spPr>
            <a:xfrm rot="-9830444">
              <a:off x="6469759" y="3480728"/>
              <a:ext cx="320148" cy="320148"/>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2" name="Google Shape;32;p2"/>
            <p:cNvGrpSpPr/>
            <p:nvPr/>
          </p:nvGrpSpPr>
          <p:grpSpPr>
            <a:xfrm>
              <a:off x="7647812" y="2704283"/>
              <a:ext cx="635219" cy="635219"/>
              <a:chOff x="6725724" y="2701260"/>
              <a:chExt cx="1208101" cy="1208100"/>
            </a:xfrm>
          </p:grpSpPr>
          <p:sp>
            <p:nvSpPr>
              <p:cNvPr id="33" name="Google Shape;33;p2"/>
              <p:cNvSpPr/>
              <p:nvPr/>
            </p:nvSpPr>
            <p:spPr>
              <a:xfrm rot="5400000">
                <a:off x="6725725" y="2701260"/>
                <a:ext cx="1208100" cy="1208100"/>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2"/>
              <p:cNvSpPr/>
              <p:nvPr/>
            </p:nvSpPr>
            <p:spPr>
              <a:xfrm rot="5400000">
                <a:off x="6725724" y="2701260"/>
                <a:ext cx="1208100" cy="1208100"/>
              </a:xfrm>
              <a:prstGeom prst="pie">
                <a:avLst>
                  <a:gd name="adj1" fmla="val 8244818"/>
                  <a:gd name="adj2" fmla="val 16246175"/>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2"/>
              <p:cNvSpPr/>
              <p:nvPr/>
            </p:nvSpPr>
            <p:spPr>
              <a:xfrm rot="5400000">
                <a:off x="6954988" y="2930398"/>
                <a:ext cx="749700" cy="749700"/>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 name="Google Shape;36;p2"/>
            <p:cNvSpPr/>
            <p:nvPr/>
          </p:nvSpPr>
          <p:spPr>
            <a:xfrm>
              <a:off x="8460975" y="1817775"/>
              <a:ext cx="396600" cy="396600"/>
            </a:xfrm>
            <a:prstGeom prst="pie">
              <a:avLst>
                <a:gd name="adj1" fmla="val 19376841"/>
                <a:gd name="adj2" fmla="val 1620000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7" name="Google Shape;37;p2"/>
            <p:cNvGrpSpPr/>
            <p:nvPr/>
          </p:nvGrpSpPr>
          <p:grpSpPr>
            <a:xfrm>
              <a:off x="7952720" y="179238"/>
              <a:ext cx="873165" cy="873003"/>
              <a:chOff x="7754428" y="208725"/>
              <a:chExt cx="541800" cy="541800"/>
            </a:xfrm>
          </p:grpSpPr>
          <p:sp>
            <p:nvSpPr>
              <p:cNvPr id="38" name="Google Shape;38;p2"/>
              <p:cNvSpPr/>
              <p:nvPr/>
            </p:nvSpPr>
            <p:spPr>
              <a:xfrm rot="-8647347">
                <a:off x="7831319" y="285616"/>
                <a:ext cx="388018" cy="388018"/>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2"/>
              <p:cNvSpPr/>
              <p:nvPr/>
            </p:nvSpPr>
            <p:spPr>
              <a:xfrm rot="-8647347">
                <a:off x="7831319" y="285616"/>
                <a:ext cx="388018" cy="388018"/>
              </a:xfrm>
              <a:prstGeom prst="pie">
                <a:avLst>
                  <a:gd name="adj1" fmla="val 19376841"/>
                  <a:gd name="adj2" fmla="val 12313574"/>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0" name="Google Shape;40;p2"/>
            <p:cNvSpPr/>
            <p:nvPr/>
          </p:nvSpPr>
          <p:spPr>
            <a:xfrm>
              <a:off x="5399840" y="356365"/>
              <a:ext cx="2577000" cy="2577000"/>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2"/>
            <p:cNvSpPr/>
            <p:nvPr/>
          </p:nvSpPr>
          <p:spPr>
            <a:xfrm rot="2043858">
              <a:off x="5503813" y="460310"/>
              <a:ext cx="2369480" cy="2369480"/>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2"/>
            <p:cNvSpPr/>
            <p:nvPr/>
          </p:nvSpPr>
          <p:spPr>
            <a:xfrm>
              <a:off x="5399795" y="360281"/>
              <a:ext cx="2577000" cy="2577000"/>
            </a:xfrm>
            <a:prstGeom prst="pie">
              <a:avLst>
                <a:gd name="adj1" fmla="val 8801158"/>
                <a:gd name="adj2" fmla="val 1620000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2"/>
            <p:cNvSpPr/>
            <p:nvPr/>
          </p:nvSpPr>
          <p:spPr>
            <a:xfrm rot="2044777">
              <a:off x="5911449" y="867729"/>
              <a:ext cx="1554223" cy="1554223"/>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2"/>
            <p:cNvSpPr/>
            <p:nvPr/>
          </p:nvSpPr>
          <p:spPr>
            <a:xfrm>
              <a:off x="5399795" y="356358"/>
              <a:ext cx="2577000" cy="2577000"/>
            </a:xfrm>
            <a:prstGeom prst="pie">
              <a:avLst>
                <a:gd name="adj1" fmla="val 12554101"/>
                <a:gd name="adj2" fmla="val 1620000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2"/>
            <p:cNvSpPr/>
            <p:nvPr/>
          </p:nvSpPr>
          <p:spPr>
            <a:xfrm rot="-9830444">
              <a:off x="6469759" y="3480727"/>
              <a:ext cx="320148" cy="320148"/>
            </a:xfrm>
            <a:prstGeom prst="pie">
              <a:avLst>
                <a:gd name="adj1" fmla="val 19376841"/>
                <a:gd name="adj2" fmla="val 1620000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6" name="Google Shape;46;p2"/>
          <p:cNvSpPr txBox="1">
            <a:spLocks noGrp="1"/>
          </p:cNvSpPr>
          <p:nvPr>
            <p:ph type="ctrTitle"/>
          </p:nvPr>
        </p:nvSpPr>
        <p:spPr>
          <a:xfrm>
            <a:off x="824000" y="1613813"/>
            <a:ext cx="4255500" cy="18729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47" name="Google Shape;47;p2"/>
          <p:cNvSpPr txBox="1">
            <a:spLocks noGrp="1"/>
          </p:cNvSpPr>
          <p:nvPr>
            <p:ph type="subTitle" idx="1"/>
          </p:nvPr>
        </p:nvSpPr>
        <p:spPr>
          <a:xfrm>
            <a:off x="824000" y="3596300"/>
            <a:ext cx="4255500" cy="6954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a:endParaRPr/>
          </a:p>
        </p:txBody>
      </p:sp>
      <p:sp>
        <p:nvSpPr>
          <p:cNvPr id="48" name="Google Shape;48;p2"/>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t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49"/>
        <p:cNvGrpSpPr/>
        <p:nvPr/>
      </p:nvGrpSpPr>
      <p:grpSpPr>
        <a:xfrm>
          <a:off x="0" y="0"/>
          <a:ext cx="0" cy="0"/>
          <a:chOff x="0" y="0"/>
          <a:chExt cx="0" cy="0"/>
        </a:xfrm>
      </p:grpSpPr>
      <p:grpSp>
        <p:nvGrpSpPr>
          <p:cNvPr id="50" name="Google Shape;50;p3"/>
          <p:cNvGrpSpPr/>
          <p:nvPr/>
        </p:nvGrpSpPr>
        <p:grpSpPr>
          <a:xfrm>
            <a:off x="146769" y="3406"/>
            <a:ext cx="1233215" cy="1384535"/>
            <a:chOff x="146769" y="3406"/>
            <a:chExt cx="1233215" cy="1384535"/>
          </a:xfrm>
        </p:grpSpPr>
        <p:grpSp>
          <p:nvGrpSpPr>
            <p:cNvPr id="51" name="Google Shape;51;p3"/>
            <p:cNvGrpSpPr/>
            <p:nvPr/>
          </p:nvGrpSpPr>
          <p:grpSpPr>
            <a:xfrm>
              <a:off x="1063183" y="3406"/>
              <a:ext cx="316800" cy="688513"/>
              <a:chOff x="1063183" y="3406"/>
              <a:chExt cx="316800" cy="688513"/>
            </a:xfrm>
          </p:grpSpPr>
          <p:sp>
            <p:nvSpPr>
              <p:cNvPr id="52" name="Google Shape;52;p3"/>
              <p:cNvSpPr/>
              <p:nvPr/>
            </p:nvSpPr>
            <p:spPr>
              <a:xfrm rot="10800000">
                <a:off x="1063183" y="3419"/>
                <a:ext cx="316800" cy="688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3"/>
              <p:cNvSpPr/>
              <p:nvPr/>
            </p:nvSpPr>
            <p:spPr>
              <a:xfrm rot="10800000">
                <a:off x="1063183" y="3406"/>
                <a:ext cx="316800" cy="340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4" name="Google Shape;54;p3"/>
            <p:cNvGrpSpPr/>
            <p:nvPr/>
          </p:nvGrpSpPr>
          <p:grpSpPr>
            <a:xfrm>
              <a:off x="604976" y="3406"/>
              <a:ext cx="316800" cy="1036524"/>
              <a:chOff x="604976" y="3406"/>
              <a:chExt cx="316800" cy="1036524"/>
            </a:xfrm>
          </p:grpSpPr>
          <p:sp>
            <p:nvSpPr>
              <p:cNvPr id="55" name="Google Shape;55;p3"/>
              <p:cNvSpPr/>
              <p:nvPr/>
            </p:nvSpPr>
            <p:spPr>
              <a:xfrm rot="10800000">
                <a:off x="604976" y="3419"/>
                <a:ext cx="316800" cy="688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3"/>
              <p:cNvSpPr/>
              <p:nvPr/>
            </p:nvSpPr>
            <p:spPr>
              <a:xfrm rot="10800000">
                <a:off x="604976" y="3430"/>
                <a:ext cx="316800" cy="1036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3"/>
              <p:cNvSpPr/>
              <p:nvPr/>
            </p:nvSpPr>
            <p:spPr>
              <a:xfrm rot="10800000">
                <a:off x="604976" y="3406"/>
                <a:ext cx="316800" cy="340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8" name="Google Shape;58;p3"/>
            <p:cNvGrpSpPr/>
            <p:nvPr/>
          </p:nvGrpSpPr>
          <p:grpSpPr>
            <a:xfrm>
              <a:off x="146769" y="3406"/>
              <a:ext cx="316800" cy="1384535"/>
              <a:chOff x="146769" y="3406"/>
              <a:chExt cx="316800" cy="1384535"/>
            </a:xfrm>
          </p:grpSpPr>
          <p:sp>
            <p:nvSpPr>
              <p:cNvPr id="59" name="Google Shape;59;p3"/>
              <p:cNvSpPr/>
              <p:nvPr/>
            </p:nvSpPr>
            <p:spPr>
              <a:xfrm rot="10800000">
                <a:off x="146769" y="3419"/>
                <a:ext cx="316800" cy="688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3"/>
              <p:cNvSpPr/>
              <p:nvPr/>
            </p:nvSpPr>
            <p:spPr>
              <a:xfrm rot="10800000">
                <a:off x="146769" y="3441"/>
                <a:ext cx="316800" cy="1384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3"/>
              <p:cNvSpPr/>
              <p:nvPr/>
            </p:nvSpPr>
            <p:spPr>
              <a:xfrm rot="10800000">
                <a:off x="146769" y="3430"/>
                <a:ext cx="316800" cy="1036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3"/>
              <p:cNvSpPr/>
              <p:nvPr/>
            </p:nvSpPr>
            <p:spPr>
              <a:xfrm rot="10800000">
                <a:off x="146769" y="3406"/>
                <a:ext cx="316800" cy="340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63" name="Google Shape;63;p3"/>
          <p:cNvGrpSpPr/>
          <p:nvPr/>
        </p:nvGrpSpPr>
        <p:grpSpPr>
          <a:xfrm>
            <a:off x="6775084" y="2904008"/>
            <a:ext cx="2186148" cy="2239500"/>
            <a:chOff x="6775084" y="2904008"/>
            <a:chExt cx="2186148" cy="2239500"/>
          </a:xfrm>
        </p:grpSpPr>
        <p:grpSp>
          <p:nvGrpSpPr>
            <p:cNvPr id="64" name="Google Shape;64;p3"/>
            <p:cNvGrpSpPr/>
            <p:nvPr/>
          </p:nvGrpSpPr>
          <p:grpSpPr>
            <a:xfrm>
              <a:off x="6775084" y="4253708"/>
              <a:ext cx="409500" cy="889800"/>
              <a:chOff x="6775084" y="4253708"/>
              <a:chExt cx="409500" cy="889800"/>
            </a:xfrm>
          </p:grpSpPr>
          <p:sp>
            <p:nvSpPr>
              <p:cNvPr id="65" name="Google Shape;65;p3"/>
              <p:cNvSpPr/>
              <p:nvPr/>
            </p:nvSpPr>
            <p:spPr>
              <a:xfrm>
                <a:off x="6775084" y="4253708"/>
                <a:ext cx="409500" cy="8898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3"/>
              <p:cNvSpPr/>
              <p:nvPr/>
            </p:nvSpPr>
            <p:spPr>
              <a:xfrm>
                <a:off x="6775084" y="4703408"/>
                <a:ext cx="409500" cy="4401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 name="Google Shape;67;p3"/>
            <p:cNvGrpSpPr/>
            <p:nvPr/>
          </p:nvGrpSpPr>
          <p:grpSpPr>
            <a:xfrm>
              <a:off x="7367299" y="3804008"/>
              <a:ext cx="409500" cy="1339500"/>
              <a:chOff x="7367299" y="3804008"/>
              <a:chExt cx="409500" cy="1339500"/>
            </a:xfrm>
          </p:grpSpPr>
          <p:sp>
            <p:nvSpPr>
              <p:cNvPr id="68" name="Google Shape;68;p3"/>
              <p:cNvSpPr/>
              <p:nvPr/>
            </p:nvSpPr>
            <p:spPr>
              <a:xfrm>
                <a:off x="7367299" y="4253708"/>
                <a:ext cx="409500" cy="8898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3"/>
              <p:cNvSpPr/>
              <p:nvPr/>
            </p:nvSpPr>
            <p:spPr>
              <a:xfrm>
                <a:off x="7367299" y="3804008"/>
                <a:ext cx="409500" cy="133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3"/>
              <p:cNvSpPr/>
              <p:nvPr/>
            </p:nvSpPr>
            <p:spPr>
              <a:xfrm>
                <a:off x="7367299" y="4703408"/>
                <a:ext cx="409500" cy="4401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1" name="Google Shape;71;p3"/>
            <p:cNvGrpSpPr/>
            <p:nvPr/>
          </p:nvGrpSpPr>
          <p:grpSpPr>
            <a:xfrm>
              <a:off x="7959516" y="3354008"/>
              <a:ext cx="409500" cy="1789500"/>
              <a:chOff x="7959516" y="3354008"/>
              <a:chExt cx="409500" cy="1789500"/>
            </a:xfrm>
          </p:grpSpPr>
          <p:sp>
            <p:nvSpPr>
              <p:cNvPr id="72" name="Google Shape;72;p3"/>
              <p:cNvSpPr/>
              <p:nvPr/>
            </p:nvSpPr>
            <p:spPr>
              <a:xfrm>
                <a:off x="7959516" y="4253708"/>
                <a:ext cx="409500" cy="8898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3"/>
              <p:cNvSpPr/>
              <p:nvPr/>
            </p:nvSpPr>
            <p:spPr>
              <a:xfrm>
                <a:off x="7959516" y="3354008"/>
                <a:ext cx="409500" cy="178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3"/>
              <p:cNvSpPr/>
              <p:nvPr/>
            </p:nvSpPr>
            <p:spPr>
              <a:xfrm>
                <a:off x="7959516" y="3804008"/>
                <a:ext cx="409500" cy="133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3"/>
              <p:cNvSpPr/>
              <p:nvPr/>
            </p:nvSpPr>
            <p:spPr>
              <a:xfrm>
                <a:off x="7959516" y="4703408"/>
                <a:ext cx="409500" cy="4401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 name="Google Shape;76;p3"/>
            <p:cNvGrpSpPr/>
            <p:nvPr/>
          </p:nvGrpSpPr>
          <p:grpSpPr>
            <a:xfrm>
              <a:off x="8551731" y="2904008"/>
              <a:ext cx="409500" cy="2239500"/>
              <a:chOff x="8551731" y="2904008"/>
              <a:chExt cx="409500" cy="2239500"/>
            </a:xfrm>
          </p:grpSpPr>
          <p:sp>
            <p:nvSpPr>
              <p:cNvPr id="77" name="Google Shape;77;p3"/>
              <p:cNvSpPr/>
              <p:nvPr/>
            </p:nvSpPr>
            <p:spPr>
              <a:xfrm>
                <a:off x="8551731" y="4253708"/>
                <a:ext cx="409500" cy="8898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3"/>
              <p:cNvSpPr/>
              <p:nvPr/>
            </p:nvSpPr>
            <p:spPr>
              <a:xfrm>
                <a:off x="8551731" y="3354008"/>
                <a:ext cx="409500" cy="178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3"/>
              <p:cNvSpPr/>
              <p:nvPr/>
            </p:nvSpPr>
            <p:spPr>
              <a:xfrm>
                <a:off x="8551731" y="3804008"/>
                <a:ext cx="409500" cy="133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3"/>
              <p:cNvSpPr/>
              <p:nvPr/>
            </p:nvSpPr>
            <p:spPr>
              <a:xfrm>
                <a:off x="8551731" y="2904008"/>
                <a:ext cx="409500" cy="223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3"/>
              <p:cNvSpPr/>
              <p:nvPr/>
            </p:nvSpPr>
            <p:spPr>
              <a:xfrm>
                <a:off x="8551731" y="4703408"/>
                <a:ext cx="409500" cy="4401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82" name="Google Shape;82;p3"/>
          <p:cNvSpPr txBox="1">
            <a:spLocks noGrp="1"/>
          </p:cNvSpPr>
          <p:nvPr>
            <p:ph type="title"/>
          </p:nvPr>
        </p:nvSpPr>
        <p:spPr>
          <a:xfrm>
            <a:off x="824000" y="1613825"/>
            <a:ext cx="5857800" cy="18729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83" name="Google Shape;83;p3"/>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t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84"/>
        <p:cNvGrpSpPr/>
        <p:nvPr/>
      </p:nvGrpSpPr>
      <p:grpSpPr>
        <a:xfrm>
          <a:off x="0" y="0"/>
          <a:ext cx="0" cy="0"/>
          <a:chOff x="0" y="0"/>
          <a:chExt cx="0" cy="0"/>
        </a:xfrm>
      </p:grpSpPr>
      <p:grpSp>
        <p:nvGrpSpPr>
          <p:cNvPr id="85" name="Google Shape;85;p4"/>
          <p:cNvGrpSpPr/>
          <p:nvPr/>
        </p:nvGrpSpPr>
        <p:grpSpPr>
          <a:xfrm>
            <a:off x="625966" y="299376"/>
            <a:ext cx="999312" cy="999312"/>
            <a:chOff x="348199" y="179450"/>
            <a:chExt cx="1116300" cy="1116300"/>
          </a:xfrm>
        </p:grpSpPr>
        <p:sp>
          <p:nvSpPr>
            <p:cNvPr id="86" name="Google Shape;86;p4"/>
            <p:cNvSpPr/>
            <p:nvPr/>
          </p:nvSpPr>
          <p:spPr>
            <a:xfrm rot="-5400000">
              <a:off x="574557" y="405788"/>
              <a:ext cx="663600" cy="663600"/>
            </a:xfrm>
            <a:prstGeom prst="pie">
              <a:avLst>
                <a:gd name="adj1" fmla="val 10792838"/>
                <a:gd name="adj2" fmla="val 16200000"/>
              </a:avLst>
            </a:prstGeom>
            <a:solidFill>
              <a:schemeClr val="dk2">
                <a:alpha val="1255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4"/>
            <p:cNvSpPr/>
            <p:nvPr/>
          </p:nvSpPr>
          <p:spPr>
            <a:xfrm rot="-5400000">
              <a:off x="348199" y="179450"/>
              <a:ext cx="1116300" cy="1116300"/>
            </a:xfrm>
            <a:prstGeom prst="pie">
              <a:avLst>
                <a:gd name="adj1" fmla="val 10792838"/>
                <a:gd name="adj2" fmla="val 16200000"/>
              </a:avLst>
            </a:prstGeom>
            <a:solidFill>
              <a:schemeClr val="dk2">
                <a:alpha val="1255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8" name="Google Shape;88;p4"/>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89" name="Google Shape;89;p4"/>
          <p:cNvSpPr txBox="1">
            <a:spLocks noGrp="1"/>
          </p:cNvSpPr>
          <p:nvPr>
            <p:ph type="body" idx="1"/>
          </p:nvPr>
        </p:nvSpPr>
        <p:spPr>
          <a:xfrm>
            <a:off x="1303800" y="1990050"/>
            <a:ext cx="7030500" cy="25416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90" name="Google Shape;90;p4"/>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t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91"/>
        <p:cNvGrpSpPr/>
        <p:nvPr/>
      </p:nvGrpSpPr>
      <p:grpSpPr>
        <a:xfrm>
          <a:off x="0" y="0"/>
          <a:ext cx="0" cy="0"/>
          <a:chOff x="0" y="0"/>
          <a:chExt cx="0" cy="0"/>
        </a:xfrm>
      </p:grpSpPr>
      <p:grpSp>
        <p:nvGrpSpPr>
          <p:cNvPr id="92" name="Google Shape;92;p5"/>
          <p:cNvGrpSpPr/>
          <p:nvPr/>
        </p:nvGrpSpPr>
        <p:grpSpPr>
          <a:xfrm>
            <a:off x="625966" y="299376"/>
            <a:ext cx="999312" cy="999312"/>
            <a:chOff x="348199" y="179450"/>
            <a:chExt cx="1116300" cy="1116300"/>
          </a:xfrm>
        </p:grpSpPr>
        <p:sp>
          <p:nvSpPr>
            <p:cNvPr id="93" name="Google Shape;93;p5"/>
            <p:cNvSpPr/>
            <p:nvPr/>
          </p:nvSpPr>
          <p:spPr>
            <a:xfrm rot="-5400000">
              <a:off x="574557" y="405788"/>
              <a:ext cx="663600" cy="663600"/>
            </a:xfrm>
            <a:prstGeom prst="pie">
              <a:avLst>
                <a:gd name="adj1" fmla="val 10792838"/>
                <a:gd name="adj2" fmla="val 16200000"/>
              </a:avLst>
            </a:prstGeom>
            <a:solidFill>
              <a:schemeClr val="dk2">
                <a:alpha val="1255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5"/>
            <p:cNvSpPr/>
            <p:nvPr/>
          </p:nvSpPr>
          <p:spPr>
            <a:xfrm rot="-5400000">
              <a:off x="348199" y="179450"/>
              <a:ext cx="1116300" cy="1116300"/>
            </a:xfrm>
            <a:prstGeom prst="pie">
              <a:avLst>
                <a:gd name="adj1" fmla="val 10792838"/>
                <a:gd name="adj2" fmla="val 16200000"/>
              </a:avLst>
            </a:prstGeom>
            <a:solidFill>
              <a:schemeClr val="dk2">
                <a:alpha val="1255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5" name="Google Shape;95;p5"/>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96" name="Google Shape;96;p5"/>
          <p:cNvSpPr txBox="1">
            <a:spLocks noGrp="1"/>
          </p:cNvSpPr>
          <p:nvPr>
            <p:ph type="body" idx="1"/>
          </p:nvPr>
        </p:nvSpPr>
        <p:spPr>
          <a:xfrm>
            <a:off x="1303800" y="1990050"/>
            <a:ext cx="3430500" cy="25416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97" name="Google Shape;97;p5"/>
          <p:cNvSpPr txBox="1">
            <a:spLocks noGrp="1"/>
          </p:cNvSpPr>
          <p:nvPr>
            <p:ph type="body" idx="2"/>
          </p:nvPr>
        </p:nvSpPr>
        <p:spPr>
          <a:xfrm>
            <a:off x="4903650" y="1990050"/>
            <a:ext cx="3430500" cy="25416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98" name="Google Shape;98;p5"/>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t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99"/>
        <p:cNvGrpSpPr/>
        <p:nvPr/>
      </p:nvGrpSpPr>
      <p:grpSpPr>
        <a:xfrm>
          <a:off x="0" y="0"/>
          <a:ext cx="0" cy="0"/>
          <a:chOff x="0" y="0"/>
          <a:chExt cx="0" cy="0"/>
        </a:xfrm>
      </p:grpSpPr>
      <p:grpSp>
        <p:nvGrpSpPr>
          <p:cNvPr id="100" name="Google Shape;100;p6"/>
          <p:cNvGrpSpPr/>
          <p:nvPr/>
        </p:nvGrpSpPr>
        <p:grpSpPr>
          <a:xfrm>
            <a:off x="625966" y="299376"/>
            <a:ext cx="999312" cy="999312"/>
            <a:chOff x="348199" y="179450"/>
            <a:chExt cx="1116300" cy="1116300"/>
          </a:xfrm>
        </p:grpSpPr>
        <p:sp>
          <p:nvSpPr>
            <p:cNvPr id="101" name="Google Shape;101;p6"/>
            <p:cNvSpPr/>
            <p:nvPr/>
          </p:nvSpPr>
          <p:spPr>
            <a:xfrm rot="-5400000">
              <a:off x="574557" y="405788"/>
              <a:ext cx="663600" cy="663600"/>
            </a:xfrm>
            <a:prstGeom prst="pie">
              <a:avLst>
                <a:gd name="adj1" fmla="val 10792838"/>
                <a:gd name="adj2" fmla="val 16200000"/>
              </a:avLst>
            </a:prstGeom>
            <a:solidFill>
              <a:schemeClr val="dk2">
                <a:alpha val="1255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6"/>
            <p:cNvSpPr/>
            <p:nvPr/>
          </p:nvSpPr>
          <p:spPr>
            <a:xfrm rot="-5400000">
              <a:off x="348199" y="179450"/>
              <a:ext cx="1116300" cy="1116300"/>
            </a:xfrm>
            <a:prstGeom prst="pie">
              <a:avLst>
                <a:gd name="adj1" fmla="val 10792838"/>
                <a:gd name="adj2" fmla="val 16200000"/>
              </a:avLst>
            </a:prstGeom>
            <a:solidFill>
              <a:schemeClr val="dk2">
                <a:alpha val="1255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3" name="Google Shape;103;p6"/>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04" name="Google Shape;104;p6"/>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t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05"/>
        <p:cNvGrpSpPr/>
        <p:nvPr/>
      </p:nvGrpSpPr>
      <p:grpSpPr>
        <a:xfrm>
          <a:off x="0" y="0"/>
          <a:ext cx="0" cy="0"/>
          <a:chOff x="0" y="0"/>
          <a:chExt cx="0" cy="0"/>
        </a:xfrm>
      </p:grpSpPr>
      <p:grpSp>
        <p:nvGrpSpPr>
          <p:cNvPr id="106" name="Google Shape;106;p7"/>
          <p:cNvGrpSpPr/>
          <p:nvPr/>
        </p:nvGrpSpPr>
        <p:grpSpPr>
          <a:xfrm>
            <a:off x="625966" y="299376"/>
            <a:ext cx="999312" cy="999312"/>
            <a:chOff x="348199" y="179450"/>
            <a:chExt cx="1116300" cy="1116300"/>
          </a:xfrm>
        </p:grpSpPr>
        <p:sp>
          <p:nvSpPr>
            <p:cNvPr id="107" name="Google Shape;107;p7"/>
            <p:cNvSpPr/>
            <p:nvPr/>
          </p:nvSpPr>
          <p:spPr>
            <a:xfrm rot="-5400000">
              <a:off x="574557" y="405788"/>
              <a:ext cx="663600" cy="663600"/>
            </a:xfrm>
            <a:prstGeom prst="pie">
              <a:avLst>
                <a:gd name="adj1" fmla="val 10792838"/>
                <a:gd name="adj2" fmla="val 16200000"/>
              </a:avLst>
            </a:prstGeom>
            <a:solidFill>
              <a:schemeClr val="dk2">
                <a:alpha val="1255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7"/>
            <p:cNvSpPr/>
            <p:nvPr/>
          </p:nvSpPr>
          <p:spPr>
            <a:xfrm rot="-5400000">
              <a:off x="348199" y="179450"/>
              <a:ext cx="1116300" cy="1116300"/>
            </a:xfrm>
            <a:prstGeom prst="pie">
              <a:avLst>
                <a:gd name="adj1" fmla="val 10792838"/>
                <a:gd name="adj2" fmla="val 16200000"/>
              </a:avLst>
            </a:prstGeom>
            <a:solidFill>
              <a:schemeClr val="dk2">
                <a:alpha val="1255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9" name="Google Shape;109;p7"/>
          <p:cNvSpPr txBox="1">
            <a:spLocks noGrp="1"/>
          </p:cNvSpPr>
          <p:nvPr>
            <p:ph type="title"/>
          </p:nvPr>
        </p:nvSpPr>
        <p:spPr>
          <a:xfrm>
            <a:off x="1303800" y="598575"/>
            <a:ext cx="3312000" cy="15900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10" name="Google Shape;110;p7"/>
          <p:cNvSpPr txBox="1">
            <a:spLocks noGrp="1"/>
          </p:cNvSpPr>
          <p:nvPr>
            <p:ph type="body" idx="1"/>
          </p:nvPr>
        </p:nvSpPr>
        <p:spPr>
          <a:xfrm>
            <a:off x="1303800" y="2309675"/>
            <a:ext cx="3312000" cy="22218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111" name="Google Shape;111;p7"/>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t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dk1"/>
        </a:solidFill>
        <a:effectLst/>
      </p:bgPr>
    </p:bg>
    <p:spTree>
      <p:nvGrpSpPr>
        <p:cNvPr id="1" name="Shape 112"/>
        <p:cNvGrpSpPr/>
        <p:nvPr/>
      </p:nvGrpSpPr>
      <p:grpSpPr>
        <a:xfrm>
          <a:off x="0" y="0"/>
          <a:ext cx="0" cy="0"/>
          <a:chOff x="0" y="0"/>
          <a:chExt cx="0" cy="0"/>
        </a:xfrm>
      </p:grpSpPr>
      <p:grpSp>
        <p:nvGrpSpPr>
          <p:cNvPr id="113" name="Google Shape;113;p8"/>
          <p:cNvGrpSpPr/>
          <p:nvPr/>
        </p:nvGrpSpPr>
        <p:grpSpPr>
          <a:xfrm>
            <a:off x="6866714" y="1306"/>
            <a:ext cx="2267451" cy="2601690"/>
            <a:chOff x="6790514" y="1306"/>
            <a:chExt cx="2267451" cy="2601690"/>
          </a:xfrm>
        </p:grpSpPr>
        <p:grpSp>
          <p:nvGrpSpPr>
            <p:cNvPr id="114" name="Google Shape;114;p8"/>
            <p:cNvGrpSpPr/>
            <p:nvPr/>
          </p:nvGrpSpPr>
          <p:grpSpPr>
            <a:xfrm>
              <a:off x="7067465" y="1306"/>
              <a:ext cx="1990500" cy="1990200"/>
              <a:chOff x="7067465" y="1306"/>
              <a:chExt cx="1990500" cy="1990200"/>
            </a:xfrm>
          </p:grpSpPr>
          <p:sp>
            <p:nvSpPr>
              <p:cNvPr id="115" name="Google Shape;115;p8"/>
              <p:cNvSpPr/>
              <p:nvPr/>
            </p:nvSpPr>
            <p:spPr>
              <a:xfrm rot="-8648551">
                <a:off x="7594313" y="527721"/>
                <a:ext cx="937226" cy="937226"/>
              </a:xfrm>
              <a:prstGeom prst="ellipse">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8"/>
              <p:cNvSpPr/>
              <p:nvPr/>
            </p:nvSpPr>
            <p:spPr>
              <a:xfrm rot="-8648551">
                <a:off x="7594313" y="527721"/>
                <a:ext cx="937226" cy="937226"/>
              </a:xfrm>
              <a:prstGeom prst="pie">
                <a:avLst>
                  <a:gd name="adj1" fmla="val 19376841"/>
                  <a:gd name="adj2" fmla="val 12313574"/>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8"/>
              <p:cNvSpPr/>
              <p:nvPr/>
            </p:nvSpPr>
            <p:spPr>
              <a:xfrm rot="-8649154">
                <a:off x="7349891" y="283705"/>
                <a:ext cx="1425647" cy="1425404"/>
              </a:xfrm>
              <a:prstGeom prst="ellipse">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8" name="Google Shape;118;p8"/>
            <p:cNvGrpSpPr/>
            <p:nvPr/>
          </p:nvGrpSpPr>
          <p:grpSpPr>
            <a:xfrm>
              <a:off x="8207126" y="1807996"/>
              <a:ext cx="795000" cy="795000"/>
              <a:chOff x="8207126" y="1807996"/>
              <a:chExt cx="795000" cy="795000"/>
            </a:xfrm>
          </p:grpSpPr>
          <p:sp>
            <p:nvSpPr>
              <p:cNvPr id="119" name="Google Shape;119;p8"/>
              <p:cNvSpPr/>
              <p:nvPr/>
            </p:nvSpPr>
            <p:spPr>
              <a:xfrm rot="2152054">
                <a:off x="8319942" y="1920813"/>
                <a:ext cx="569367" cy="569367"/>
              </a:xfrm>
              <a:prstGeom prst="ellipse">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8"/>
              <p:cNvSpPr/>
              <p:nvPr/>
            </p:nvSpPr>
            <p:spPr>
              <a:xfrm rot="2150259">
                <a:off x="8408218" y="2008610"/>
                <a:ext cx="393004" cy="393004"/>
              </a:xfrm>
              <a:prstGeom prst="ellipse">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8"/>
              <p:cNvSpPr/>
              <p:nvPr/>
            </p:nvSpPr>
            <p:spPr>
              <a:xfrm rot="2150259">
                <a:off x="8408218" y="2008610"/>
                <a:ext cx="393004" cy="393004"/>
              </a:xfrm>
              <a:prstGeom prst="pie">
                <a:avLst>
                  <a:gd name="adj1" fmla="val 5699893"/>
                  <a:gd name="adj2" fmla="val 12313574"/>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2" name="Google Shape;122;p8"/>
            <p:cNvGrpSpPr/>
            <p:nvPr/>
          </p:nvGrpSpPr>
          <p:grpSpPr>
            <a:xfrm>
              <a:off x="6790514" y="118857"/>
              <a:ext cx="548700" cy="548700"/>
              <a:chOff x="6790514" y="118857"/>
              <a:chExt cx="548700" cy="548700"/>
            </a:xfrm>
          </p:grpSpPr>
          <p:sp>
            <p:nvSpPr>
              <p:cNvPr id="123" name="Google Shape;123;p8"/>
              <p:cNvSpPr/>
              <p:nvPr/>
            </p:nvSpPr>
            <p:spPr>
              <a:xfrm rot="2150259">
                <a:off x="6868362" y="196705"/>
                <a:ext cx="393004" cy="393004"/>
              </a:xfrm>
              <a:prstGeom prst="ellipse">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8"/>
              <p:cNvSpPr/>
              <p:nvPr/>
            </p:nvSpPr>
            <p:spPr>
              <a:xfrm rot="2150259">
                <a:off x="6868362" y="196705"/>
                <a:ext cx="393004" cy="393004"/>
              </a:xfrm>
              <a:prstGeom prst="pie">
                <a:avLst>
                  <a:gd name="adj1" fmla="val 5699893"/>
                  <a:gd name="adj2" fmla="val 12313574"/>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25" name="Google Shape;125;p8"/>
          <p:cNvSpPr txBox="1">
            <a:spLocks noGrp="1"/>
          </p:cNvSpPr>
          <p:nvPr>
            <p:ph type="title"/>
          </p:nvPr>
        </p:nvSpPr>
        <p:spPr>
          <a:xfrm>
            <a:off x="824000" y="763600"/>
            <a:ext cx="5857800" cy="35733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126" name="Google Shape;126;p8"/>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t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27"/>
        <p:cNvGrpSpPr/>
        <p:nvPr/>
      </p:nvGrpSpPr>
      <p:grpSpPr>
        <a:xfrm>
          <a:off x="0" y="0"/>
          <a:ext cx="0" cy="0"/>
          <a:chOff x="0" y="0"/>
          <a:chExt cx="0" cy="0"/>
        </a:xfrm>
      </p:grpSpPr>
      <p:grpSp>
        <p:nvGrpSpPr>
          <p:cNvPr id="128" name="Google Shape;128;p9"/>
          <p:cNvGrpSpPr/>
          <p:nvPr/>
        </p:nvGrpSpPr>
        <p:grpSpPr>
          <a:xfrm>
            <a:off x="625966" y="299376"/>
            <a:ext cx="999312" cy="999312"/>
            <a:chOff x="348199" y="179450"/>
            <a:chExt cx="1116300" cy="1116300"/>
          </a:xfrm>
        </p:grpSpPr>
        <p:sp>
          <p:nvSpPr>
            <p:cNvPr id="129" name="Google Shape;129;p9"/>
            <p:cNvSpPr/>
            <p:nvPr/>
          </p:nvSpPr>
          <p:spPr>
            <a:xfrm rot="-5400000">
              <a:off x="574557" y="405788"/>
              <a:ext cx="663600" cy="663600"/>
            </a:xfrm>
            <a:prstGeom prst="pie">
              <a:avLst>
                <a:gd name="adj1" fmla="val 10792838"/>
                <a:gd name="adj2" fmla="val 16200000"/>
              </a:avLst>
            </a:prstGeom>
            <a:solidFill>
              <a:schemeClr val="dk2">
                <a:alpha val="1255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9"/>
            <p:cNvSpPr/>
            <p:nvPr/>
          </p:nvSpPr>
          <p:spPr>
            <a:xfrm rot="-5400000">
              <a:off x="348199" y="179450"/>
              <a:ext cx="1116300" cy="1116300"/>
            </a:xfrm>
            <a:prstGeom prst="pie">
              <a:avLst>
                <a:gd name="adj1" fmla="val 10792838"/>
                <a:gd name="adj2" fmla="val 16200000"/>
              </a:avLst>
            </a:prstGeom>
            <a:solidFill>
              <a:schemeClr val="dk2">
                <a:alpha val="1255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1" name="Google Shape;131;p9"/>
          <p:cNvSpPr txBox="1">
            <a:spLocks noGrp="1"/>
          </p:cNvSpPr>
          <p:nvPr>
            <p:ph type="title"/>
          </p:nvPr>
        </p:nvSpPr>
        <p:spPr>
          <a:xfrm>
            <a:off x="1303800" y="598575"/>
            <a:ext cx="3430500" cy="1990200"/>
          </a:xfrm>
          <a:prstGeom prst="rect">
            <a:avLst/>
          </a:prstGeom>
          <a:ln w="9525" cap="flat" cmpd="sng">
            <a:solidFill>
              <a:schemeClr val="lt1"/>
            </a:solidFill>
            <a:prstDash val="solid"/>
            <a:round/>
            <a:headEnd type="none" w="sm" len="sm"/>
            <a:tailEnd type="none" w="sm" len="sm"/>
          </a:ln>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32" name="Google Shape;132;p9"/>
          <p:cNvSpPr txBox="1">
            <a:spLocks noGrp="1"/>
          </p:cNvSpPr>
          <p:nvPr>
            <p:ph type="subTitle" idx="1"/>
          </p:nvPr>
        </p:nvSpPr>
        <p:spPr>
          <a:xfrm>
            <a:off x="1303800" y="2743203"/>
            <a:ext cx="3430500" cy="726000"/>
          </a:xfrm>
          <a:prstGeom prst="rect">
            <a:avLst/>
          </a:prstGeom>
          <a:ln w="9525" cap="flat" cmpd="sng">
            <a:solidFill>
              <a:schemeClr val="lt1"/>
            </a:solidFill>
            <a:prstDash val="solid"/>
            <a:round/>
            <a:headEnd type="none" w="sm" len="sm"/>
            <a:tailEnd type="none" w="sm" len="sm"/>
          </a:ln>
        </p:spPr>
        <p:txBody>
          <a:bodyPr spcFirstLastPara="1" wrap="square" lIns="91425" tIns="91425" rIns="91425" bIns="91425" anchor="t" anchorCtr="0">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a:endParaRPr/>
          </a:p>
        </p:txBody>
      </p:sp>
      <p:sp>
        <p:nvSpPr>
          <p:cNvPr id="133" name="Google Shape;133;p9"/>
          <p:cNvSpPr txBox="1">
            <a:spLocks noGrp="1"/>
          </p:cNvSpPr>
          <p:nvPr>
            <p:ph type="body" idx="2"/>
          </p:nvPr>
        </p:nvSpPr>
        <p:spPr>
          <a:xfrm>
            <a:off x="4903700" y="661000"/>
            <a:ext cx="3430500" cy="3870600"/>
          </a:xfrm>
          <a:prstGeom prst="rect">
            <a:avLst/>
          </a:prstGeom>
          <a:ln w="9525" cap="flat" cmpd="sng">
            <a:solidFill>
              <a:schemeClr val="lt1"/>
            </a:solidFill>
            <a:prstDash val="solid"/>
            <a:round/>
            <a:headEnd type="none" w="sm" len="sm"/>
            <a:tailEnd type="none" w="sm" len="sm"/>
          </a:ln>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134" name="Google Shape;134;p9"/>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t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35"/>
        <p:cNvGrpSpPr/>
        <p:nvPr/>
      </p:nvGrpSpPr>
      <p:grpSpPr>
        <a:xfrm>
          <a:off x="0" y="0"/>
          <a:ext cx="0" cy="0"/>
          <a:chOff x="0" y="0"/>
          <a:chExt cx="0" cy="0"/>
        </a:xfrm>
      </p:grpSpPr>
      <p:grpSp>
        <p:nvGrpSpPr>
          <p:cNvPr id="136" name="Google Shape;136;p10"/>
          <p:cNvGrpSpPr/>
          <p:nvPr/>
        </p:nvGrpSpPr>
        <p:grpSpPr>
          <a:xfrm>
            <a:off x="713373" y="3847119"/>
            <a:ext cx="825392" cy="825392"/>
            <a:chOff x="348199" y="179450"/>
            <a:chExt cx="1116300" cy="1116300"/>
          </a:xfrm>
        </p:grpSpPr>
        <p:sp>
          <p:nvSpPr>
            <p:cNvPr id="137" name="Google Shape;137;p10"/>
            <p:cNvSpPr/>
            <p:nvPr/>
          </p:nvSpPr>
          <p:spPr>
            <a:xfrm rot="-5400000">
              <a:off x="574557" y="405788"/>
              <a:ext cx="663600" cy="663600"/>
            </a:xfrm>
            <a:prstGeom prst="pie">
              <a:avLst>
                <a:gd name="adj1" fmla="val 10792838"/>
                <a:gd name="adj2" fmla="val 16200000"/>
              </a:avLst>
            </a:prstGeom>
            <a:solidFill>
              <a:schemeClr val="dk2">
                <a:alpha val="1255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10"/>
            <p:cNvSpPr/>
            <p:nvPr/>
          </p:nvSpPr>
          <p:spPr>
            <a:xfrm rot="-5400000">
              <a:off x="348199" y="179450"/>
              <a:ext cx="1116300" cy="1116300"/>
            </a:xfrm>
            <a:prstGeom prst="pie">
              <a:avLst>
                <a:gd name="adj1" fmla="val 10792838"/>
                <a:gd name="adj2" fmla="val 16200000"/>
              </a:avLst>
            </a:prstGeom>
            <a:solidFill>
              <a:schemeClr val="dk2">
                <a:alpha val="1255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9" name="Google Shape;139;p10"/>
          <p:cNvSpPr txBox="1">
            <a:spLocks noGrp="1"/>
          </p:cNvSpPr>
          <p:nvPr>
            <p:ph type="body" idx="1"/>
          </p:nvPr>
        </p:nvSpPr>
        <p:spPr>
          <a:xfrm>
            <a:off x="1303800" y="4138975"/>
            <a:ext cx="5843100" cy="534900"/>
          </a:xfrm>
          <a:prstGeom prst="rect">
            <a:avLst/>
          </a:prstGeom>
        </p:spPr>
        <p:txBody>
          <a:bodyPr spcFirstLastPara="1" wrap="square" lIns="91425" tIns="91425" rIns="91425" bIns="91425" anchor="t" anchorCtr="0">
            <a:normAutofit/>
          </a:bodyPr>
          <a:lstStyle>
            <a:lvl1pPr marL="457200" lvl="0" indent="-228600">
              <a:lnSpc>
                <a:spcPct val="100000"/>
              </a:lnSpc>
              <a:spcBef>
                <a:spcPts val="0"/>
              </a:spcBef>
              <a:spcAft>
                <a:spcPts val="0"/>
              </a:spcAft>
              <a:buSzPts val="1300"/>
              <a:buNone/>
              <a:defRPr/>
            </a:lvl1pPr>
          </a:lstStyle>
          <a:p>
            <a:endParaRPr/>
          </a:p>
        </p:txBody>
      </p:sp>
      <p:sp>
        <p:nvSpPr>
          <p:cNvPr id="140" name="Google Shape;140;p10"/>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t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accent3"/>
        </a:solidFill>
        <a:effectLst/>
      </p:bgPr>
    </p:bg>
    <p:spTree>
      <p:nvGrpSpPr>
        <p:cNvPr id="1" name="Shape 141"/>
        <p:cNvGrpSpPr/>
        <p:nvPr/>
      </p:nvGrpSpPr>
      <p:grpSpPr>
        <a:xfrm>
          <a:off x="0" y="0"/>
          <a:ext cx="0" cy="0"/>
          <a:chOff x="0" y="0"/>
          <a:chExt cx="0" cy="0"/>
        </a:xfrm>
      </p:grpSpPr>
      <p:grpSp>
        <p:nvGrpSpPr>
          <p:cNvPr id="142" name="Google Shape;142;p11"/>
          <p:cNvGrpSpPr/>
          <p:nvPr/>
        </p:nvGrpSpPr>
        <p:grpSpPr>
          <a:xfrm>
            <a:off x="52" y="4099200"/>
            <a:ext cx="9144036" cy="1044300"/>
            <a:chOff x="52" y="4099200"/>
            <a:chExt cx="9144036" cy="1044300"/>
          </a:xfrm>
        </p:grpSpPr>
        <p:grpSp>
          <p:nvGrpSpPr>
            <p:cNvPr id="143" name="Google Shape;143;p11"/>
            <p:cNvGrpSpPr/>
            <p:nvPr/>
          </p:nvGrpSpPr>
          <p:grpSpPr>
            <a:xfrm>
              <a:off x="52" y="4309200"/>
              <a:ext cx="231622" cy="834300"/>
              <a:chOff x="2688737" y="4301380"/>
              <a:chExt cx="231900" cy="834300"/>
            </a:xfrm>
          </p:grpSpPr>
          <p:sp>
            <p:nvSpPr>
              <p:cNvPr id="144" name="Google Shape;144;p11"/>
              <p:cNvSpPr/>
              <p:nvPr/>
            </p:nvSpPr>
            <p:spPr>
              <a:xfrm flipH="1">
                <a:off x="2688737" y="4720780"/>
                <a:ext cx="2319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11"/>
              <p:cNvSpPr/>
              <p:nvPr/>
            </p:nvSpPr>
            <p:spPr>
              <a:xfrm flipH="1">
                <a:off x="2688737" y="4301380"/>
                <a:ext cx="2319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11"/>
              <p:cNvSpPr/>
              <p:nvPr/>
            </p:nvSpPr>
            <p:spPr>
              <a:xfrm flipH="1">
                <a:off x="2688737" y="4511080"/>
                <a:ext cx="2319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11"/>
              <p:cNvSpPr/>
              <p:nvPr/>
            </p:nvSpPr>
            <p:spPr>
              <a:xfrm flipH="1">
                <a:off x="2688737" y="4930480"/>
                <a:ext cx="2319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8" name="Google Shape;148;p11"/>
            <p:cNvGrpSpPr/>
            <p:nvPr/>
          </p:nvGrpSpPr>
          <p:grpSpPr>
            <a:xfrm>
              <a:off x="371406" y="4099200"/>
              <a:ext cx="231622" cy="1044300"/>
              <a:chOff x="2688737" y="4091380"/>
              <a:chExt cx="231900" cy="1044300"/>
            </a:xfrm>
          </p:grpSpPr>
          <p:sp>
            <p:nvSpPr>
              <p:cNvPr id="149" name="Google Shape;149;p11"/>
              <p:cNvSpPr/>
              <p:nvPr/>
            </p:nvSpPr>
            <p:spPr>
              <a:xfrm flipH="1">
                <a:off x="2688737" y="4720780"/>
                <a:ext cx="2319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11"/>
              <p:cNvSpPr/>
              <p:nvPr/>
            </p:nvSpPr>
            <p:spPr>
              <a:xfrm flipH="1">
                <a:off x="2688737" y="4301380"/>
                <a:ext cx="2319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11"/>
              <p:cNvSpPr/>
              <p:nvPr/>
            </p:nvSpPr>
            <p:spPr>
              <a:xfrm flipH="1">
                <a:off x="2688737" y="4511080"/>
                <a:ext cx="2319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11"/>
              <p:cNvSpPr/>
              <p:nvPr/>
            </p:nvSpPr>
            <p:spPr>
              <a:xfrm flipH="1">
                <a:off x="2688737" y="4091380"/>
                <a:ext cx="2319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11"/>
              <p:cNvSpPr/>
              <p:nvPr/>
            </p:nvSpPr>
            <p:spPr>
              <a:xfrm flipH="1">
                <a:off x="2688737" y="4930480"/>
                <a:ext cx="2319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4" name="Google Shape;154;p11"/>
            <p:cNvGrpSpPr/>
            <p:nvPr/>
          </p:nvGrpSpPr>
          <p:grpSpPr>
            <a:xfrm>
              <a:off x="742761" y="4309200"/>
              <a:ext cx="231622" cy="834300"/>
              <a:chOff x="2688737" y="4301380"/>
              <a:chExt cx="231900" cy="834300"/>
            </a:xfrm>
          </p:grpSpPr>
          <p:sp>
            <p:nvSpPr>
              <p:cNvPr id="155" name="Google Shape;155;p11"/>
              <p:cNvSpPr/>
              <p:nvPr/>
            </p:nvSpPr>
            <p:spPr>
              <a:xfrm flipH="1">
                <a:off x="2688737" y="4720780"/>
                <a:ext cx="2319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11"/>
              <p:cNvSpPr/>
              <p:nvPr/>
            </p:nvSpPr>
            <p:spPr>
              <a:xfrm flipH="1">
                <a:off x="2688737" y="4301380"/>
                <a:ext cx="2319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11"/>
              <p:cNvSpPr/>
              <p:nvPr/>
            </p:nvSpPr>
            <p:spPr>
              <a:xfrm flipH="1">
                <a:off x="2688737" y="4511080"/>
                <a:ext cx="2319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11"/>
              <p:cNvSpPr/>
              <p:nvPr/>
            </p:nvSpPr>
            <p:spPr>
              <a:xfrm flipH="1">
                <a:off x="2688737" y="4930480"/>
                <a:ext cx="2319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9" name="Google Shape;159;p11"/>
            <p:cNvGrpSpPr/>
            <p:nvPr/>
          </p:nvGrpSpPr>
          <p:grpSpPr>
            <a:xfrm>
              <a:off x="1114115" y="4518900"/>
              <a:ext cx="231622" cy="624600"/>
              <a:chOff x="2688737" y="4511080"/>
              <a:chExt cx="231900" cy="624600"/>
            </a:xfrm>
          </p:grpSpPr>
          <p:sp>
            <p:nvSpPr>
              <p:cNvPr id="160" name="Google Shape;160;p11"/>
              <p:cNvSpPr/>
              <p:nvPr/>
            </p:nvSpPr>
            <p:spPr>
              <a:xfrm flipH="1">
                <a:off x="2688737" y="4720780"/>
                <a:ext cx="2319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11"/>
              <p:cNvSpPr/>
              <p:nvPr/>
            </p:nvSpPr>
            <p:spPr>
              <a:xfrm flipH="1">
                <a:off x="2688737" y="4511080"/>
                <a:ext cx="2319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11"/>
              <p:cNvSpPr/>
              <p:nvPr/>
            </p:nvSpPr>
            <p:spPr>
              <a:xfrm flipH="1">
                <a:off x="2688737" y="4930480"/>
                <a:ext cx="2319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3" name="Google Shape;163;p11"/>
            <p:cNvGrpSpPr/>
            <p:nvPr/>
          </p:nvGrpSpPr>
          <p:grpSpPr>
            <a:xfrm>
              <a:off x="1856753" y="4099200"/>
              <a:ext cx="231600" cy="1044300"/>
              <a:chOff x="1856753" y="4099200"/>
              <a:chExt cx="231600" cy="1044300"/>
            </a:xfrm>
          </p:grpSpPr>
          <p:sp>
            <p:nvSpPr>
              <p:cNvPr id="164" name="Google Shape;164;p11"/>
              <p:cNvSpPr/>
              <p:nvPr/>
            </p:nvSpPr>
            <p:spPr>
              <a:xfrm flipH="1">
                <a:off x="1856753"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11"/>
              <p:cNvSpPr/>
              <p:nvPr/>
            </p:nvSpPr>
            <p:spPr>
              <a:xfrm flipH="1">
                <a:off x="1856753"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11"/>
              <p:cNvSpPr/>
              <p:nvPr/>
            </p:nvSpPr>
            <p:spPr>
              <a:xfrm flipH="1">
                <a:off x="1856753"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11"/>
              <p:cNvSpPr/>
              <p:nvPr/>
            </p:nvSpPr>
            <p:spPr>
              <a:xfrm flipH="1">
                <a:off x="1856753" y="4099200"/>
                <a:ext cx="2316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11"/>
              <p:cNvSpPr/>
              <p:nvPr/>
            </p:nvSpPr>
            <p:spPr>
              <a:xfrm flipH="1">
                <a:off x="1856753"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9" name="Google Shape;169;p11"/>
            <p:cNvGrpSpPr/>
            <p:nvPr/>
          </p:nvGrpSpPr>
          <p:grpSpPr>
            <a:xfrm>
              <a:off x="2228107" y="4309200"/>
              <a:ext cx="231600" cy="834300"/>
              <a:chOff x="2228107" y="4309200"/>
              <a:chExt cx="231600" cy="834300"/>
            </a:xfrm>
          </p:grpSpPr>
          <p:sp>
            <p:nvSpPr>
              <p:cNvPr id="170" name="Google Shape;170;p11"/>
              <p:cNvSpPr/>
              <p:nvPr/>
            </p:nvSpPr>
            <p:spPr>
              <a:xfrm flipH="1">
                <a:off x="2228107"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11"/>
              <p:cNvSpPr/>
              <p:nvPr/>
            </p:nvSpPr>
            <p:spPr>
              <a:xfrm flipH="1">
                <a:off x="2228107"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11"/>
              <p:cNvSpPr/>
              <p:nvPr/>
            </p:nvSpPr>
            <p:spPr>
              <a:xfrm flipH="1">
                <a:off x="2228107"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11"/>
              <p:cNvSpPr/>
              <p:nvPr/>
            </p:nvSpPr>
            <p:spPr>
              <a:xfrm flipH="1">
                <a:off x="2228107"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4" name="Google Shape;174;p11"/>
            <p:cNvGrpSpPr/>
            <p:nvPr/>
          </p:nvGrpSpPr>
          <p:grpSpPr>
            <a:xfrm>
              <a:off x="2599462" y="4518900"/>
              <a:ext cx="231600" cy="624600"/>
              <a:chOff x="2599462" y="4518900"/>
              <a:chExt cx="231600" cy="624600"/>
            </a:xfrm>
          </p:grpSpPr>
          <p:sp>
            <p:nvSpPr>
              <p:cNvPr id="175" name="Google Shape;175;p11"/>
              <p:cNvSpPr/>
              <p:nvPr/>
            </p:nvSpPr>
            <p:spPr>
              <a:xfrm flipH="1">
                <a:off x="2599462"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11"/>
              <p:cNvSpPr/>
              <p:nvPr/>
            </p:nvSpPr>
            <p:spPr>
              <a:xfrm flipH="1">
                <a:off x="2599462"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11"/>
              <p:cNvSpPr/>
              <p:nvPr/>
            </p:nvSpPr>
            <p:spPr>
              <a:xfrm flipH="1">
                <a:off x="2599462"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8" name="Google Shape;178;p11"/>
            <p:cNvGrpSpPr/>
            <p:nvPr/>
          </p:nvGrpSpPr>
          <p:grpSpPr>
            <a:xfrm>
              <a:off x="3342171" y="4099200"/>
              <a:ext cx="231600" cy="1044300"/>
              <a:chOff x="3342171" y="4099200"/>
              <a:chExt cx="231600" cy="1044300"/>
            </a:xfrm>
          </p:grpSpPr>
          <p:sp>
            <p:nvSpPr>
              <p:cNvPr id="179" name="Google Shape;179;p11"/>
              <p:cNvSpPr/>
              <p:nvPr/>
            </p:nvSpPr>
            <p:spPr>
              <a:xfrm flipH="1">
                <a:off x="3342171"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11"/>
              <p:cNvSpPr/>
              <p:nvPr/>
            </p:nvSpPr>
            <p:spPr>
              <a:xfrm flipH="1">
                <a:off x="3342171"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11"/>
              <p:cNvSpPr/>
              <p:nvPr/>
            </p:nvSpPr>
            <p:spPr>
              <a:xfrm flipH="1">
                <a:off x="3342171"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11"/>
              <p:cNvSpPr/>
              <p:nvPr/>
            </p:nvSpPr>
            <p:spPr>
              <a:xfrm flipH="1">
                <a:off x="3342171" y="4099200"/>
                <a:ext cx="2316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11"/>
              <p:cNvSpPr/>
              <p:nvPr/>
            </p:nvSpPr>
            <p:spPr>
              <a:xfrm flipH="1">
                <a:off x="3342171"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4" name="Google Shape;184;p11"/>
            <p:cNvGrpSpPr/>
            <p:nvPr/>
          </p:nvGrpSpPr>
          <p:grpSpPr>
            <a:xfrm>
              <a:off x="3713525" y="4309200"/>
              <a:ext cx="231600" cy="834300"/>
              <a:chOff x="3713525" y="4309200"/>
              <a:chExt cx="231600" cy="834300"/>
            </a:xfrm>
          </p:grpSpPr>
          <p:sp>
            <p:nvSpPr>
              <p:cNvPr id="185" name="Google Shape;185;p11"/>
              <p:cNvSpPr/>
              <p:nvPr/>
            </p:nvSpPr>
            <p:spPr>
              <a:xfrm flipH="1">
                <a:off x="3713525"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11"/>
              <p:cNvSpPr/>
              <p:nvPr/>
            </p:nvSpPr>
            <p:spPr>
              <a:xfrm flipH="1">
                <a:off x="3713525"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11"/>
              <p:cNvSpPr/>
              <p:nvPr/>
            </p:nvSpPr>
            <p:spPr>
              <a:xfrm flipH="1">
                <a:off x="3713525"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11"/>
              <p:cNvSpPr/>
              <p:nvPr/>
            </p:nvSpPr>
            <p:spPr>
              <a:xfrm flipH="1">
                <a:off x="3713525"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9" name="Google Shape;189;p11"/>
            <p:cNvGrpSpPr/>
            <p:nvPr/>
          </p:nvGrpSpPr>
          <p:grpSpPr>
            <a:xfrm>
              <a:off x="1485398" y="4309200"/>
              <a:ext cx="231600" cy="834300"/>
              <a:chOff x="1485398" y="4309200"/>
              <a:chExt cx="231600" cy="834300"/>
            </a:xfrm>
          </p:grpSpPr>
          <p:sp>
            <p:nvSpPr>
              <p:cNvPr id="190" name="Google Shape;190;p11"/>
              <p:cNvSpPr/>
              <p:nvPr/>
            </p:nvSpPr>
            <p:spPr>
              <a:xfrm flipH="1">
                <a:off x="1485398"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11"/>
              <p:cNvSpPr/>
              <p:nvPr/>
            </p:nvSpPr>
            <p:spPr>
              <a:xfrm flipH="1">
                <a:off x="1485398"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11"/>
              <p:cNvSpPr/>
              <p:nvPr/>
            </p:nvSpPr>
            <p:spPr>
              <a:xfrm flipH="1">
                <a:off x="1485398"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11"/>
              <p:cNvSpPr/>
              <p:nvPr/>
            </p:nvSpPr>
            <p:spPr>
              <a:xfrm flipH="1">
                <a:off x="1485398"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4" name="Google Shape;194;p11"/>
            <p:cNvGrpSpPr/>
            <p:nvPr/>
          </p:nvGrpSpPr>
          <p:grpSpPr>
            <a:xfrm>
              <a:off x="4084879" y="4518900"/>
              <a:ext cx="231600" cy="624600"/>
              <a:chOff x="4084879" y="4518900"/>
              <a:chExt cx="231600" cy="624600"/>
            </a:xfrm>
          </p:grpSpPr>
          <p:sp>
            <p:nvSpPr>
              <p:cNvPr id="195" name="Google Shape;195;p11"/>
              <p:cNvSpPr/>
              <p:nvPr/>
            </p:nvSpPr>
            <p:spPr>
              <a:xfrm flipH="1">
                <a:off x="4084879"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11"/>
              <p:cNvSpPr/>
              <p:nvPr/>
            </p:nvSpPr>
            <p:spPr>
              <a:xfrm flipH="1">
                <a:off x="4084879"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11"/>
              <p:cNvSpPr/>
              <p:nvPr/>
            </p:nvSpPr>
            <p:spPr>
              <a:xfrm flipH="1">
                <a:off x="4084879"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8" name="Google Shape;198;p11"/>
            <p:cNvGrpSpPr/>
            <p:nvPr/>
          </p:nvGrpSpPr>
          <p:grpSpPr>
            <a:xfrm>
              <a:off x="2970816" y="4309200"/>
              <a:ext cx="231600" cy="834300"/>
              <a:chOff x="2970816" y="4309200"/>
              <a:chExt cx="231600" cy="834300"/>
            </a:xfrm>
          </p:grpSpPr>
          <p:sp>
            <p:nvSpPr>
              <p:cNvPr id="199" name="Google Shape;199;p11"/>
              <p:cNvSpPr/>
              <p:nvPr/>
            </p:nvSpPr>
            <p:spPr>
              <a:xfrm flipH="1">
                <a:off x="2970816"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11"/>
              <p:cNvSpPr/>
              <p:nvPr/>
            </p:nvSpPr>
            <p:spPr>
              <a:xfrm flipH="1">
                <a:off x="2970816"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11"/>
              <p:cNvSpPr/>
              <p:nvPr/>
            </p:nvSpPr>
            <p:spPr>
              <a:xfrm flipH="1">
                <a:off x="2970816"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11"/>
              <p:cNvSpPr/>
              <p:nvPr/>
            </p:nvSpPr>
            <p:spPr>
              <a:xfrm flipH="1">
                <a:off x="2970816"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3" name="Google Shape;203;p11"/>
            <p:cNvGrpSpPr/>
            <p:nvPr/>
          </p:nvGrpSpPr>
          <p:grpSpPr>
            <a:xfrm>
              <a:off x="4456234" y="4309200"/>
              <a:ext cx="231600" cy="834300"/>
              <a:chOff x="4456234" y="4309200"/>
              <a:chExt cx="231600" cy="834300"/>
            </a:xfrm>
          </p:grpSpPr>
          <p:sp>
            <p:nvSpPr>
              <p:cNvPr id="204" name="Google Shape;204;p11"/>
              <p:cNvSpPr/>
              <p:nvPr/>
            </p:nvSpPr>
            <p:spPr>
              <a:xfrm flipH="1">
                <a:off x="4456234"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11"/>
              <p:cNvSpPr/>
              <p:nvPr/>
            </p:nvSpPr>
            <p:spPr>
              <a:xfrm flipH="1">
                <a:off x="4456234"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11"/>
              <p:cNvSpPr/>
              <p:nvPr/>
            </p:nvSpPr>
            <p:spPr>
              <a:xfrm flipH="1">
                <a:off x="4456234"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11"/>
              <p:cNvSpPr/>
              <p:nvPr/>
            </p:nvSpPr>
            <p:spPr>
              <a:xfrm flipH="1">
                <a:off x="4456234"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8" name="Google Shape;208;p11"/>
            <p:cNvGrpSpPr/>
            <p:nvPr/>
          </p:nvGrpSpPr>
          <p:grpSpPr>
            <a:xfrm>
              <a:off x="4827588" y="4099200"/>
              <a:ext cx="231600" cy="1044300"/>
              <a:chOff x="4827588" y="4099200"/>
              <a:chExt cx="231600" cy="1044300"/>
            </a:xfrm>
          </p:grpSpPr>
          <p:sp>
            <p:nvSpPr>
              <p:cNvPr id="209" name="Google Shape;209;p11"/>
              <p:cNvSpPr/>
              <p:nvPr/>
            </p:nvSpPr>
            <p:spPr>
              <a:xfrm flipH="1">
                <a:off x="4827588"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11"/>
              <p:cNvSpPr/>
              <p:nvPr/>
            </p:nvSpPr>
            <p:spPr>
              <a:xfrm flipH="1">
                <a:off x="4827588"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11"/>
              <p:cNvSpPr/>
              <p:nvPr/>
            </p:nvSpPr>
            <p:spPr>
              <a:xfrm flipH="1">
                <a:off x="4827588"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11"/>
              <p:cNvSpPr/>
              <p:nvPr/>
            </p:nvSpPr>
            <p:spPr>
              <a:xfrm flipH="1">
                <a:off x="4827588" y="4099200"/>
                <a:ext cx="2316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11"/>
              <p:cNvSpPr/>
              <p:nvPr/>
            </p:nvSpPr>
            <p:spPr>
              <a:xfrm flipH="1">
                <a:off x="4827588"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4" name="Google Shape;214;p11"/>
            <p:cNvGrpSpPr/>
            <p:nvPr/>
          </p:nvGrpSpPr>
          <p:grpSpPr>
            <a:xfrm>
              <a:off x="5198943" y="4309200"/>
              <a:ext cx="231600" cy="834300"/>
              <a:chOff x="5198943" y="4309200"/>
              <a:chExt cx="231600" cy="834300"/>
            </a:xfrm>
          </p:grpSpPr>
          <p:sp>
            <p:nvSpPr>
              <p:cNvPr id="215" name="Google Shape;215;p11"/>
              <p:cNvSpPr/>
              <p:nvPr/>
            </p:nvSpPr>
            <p:spPr>
              <a:xfrm flipH="1">
                <a:off x="5198943"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11"/>
              <p:cNvSpPr/>
              <p:nvPr/>
            </p:nvSpPr>
            <p:spPr>
              <a:xfrm flipH="1">
                <a:off x="5198943"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11"/>
              <p:cNvSpPr/>
              <p:nvPr/>
            </p:nvSpPr>
            <p:spPr>
              <a:xfrm flipH="1">
                <a:off x="5198943"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11"/>
              <p:cNvSpPr/>
              <p:nvPr/>
            </p:nvSpPr>
            <p:spPr>
              <a:xfrm flipH="1">
                <a:off x="5198943"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9" name="Google Shape;219;p11"/>
            <p:cNvGrpSpPr/>
            <p:nvPr/>
          </p:nvGrpSpPr>
          <p:grpSpPr>
            <a:xfrm>
              <a:off x="5570297" y="4518900"/>
              <a:ext cx="231600" cy="624600"/>
              <a:chOff x="5570297" y="4518900"/>
              <a:chExt cx="231600" cy="624600"/>
            </a:xfrm>
          </p:grpSpPr>
          <p:sp>
            <p:nvSpPr>
              <p:cNvPr id="220" name="Google Shape;220;p11"/>
              <p:cNvSpPr/>
              <p:nvPr/>
            </p:nvSpPr>
            <p:spPr>
              <a:xfrm flipH="1">
                <a:off x="5570297"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11"/>
              <p:cNvSpPr/>
              <p:nvPr/>
            </p:nvSpPr>
            <p:spPr>
              <a:xfrm flipH="1">
                <a:off x="5570297"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11"/>
              <p:cNvSpPr/>
              <p:nvPr/>
            </p:nvSpPr>
            <p:spPr>
              <a:xfrm flipH="1">
                <a:off x="5570297"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3" name="Google Shape;223;p11"/>
            <p:cNvGrpSpPr/>
            <p:nvPr/>
          </p:nvGrpSpPr>
          <p:grpSpPr>
            <a:xfrm>
              <a:off x="5941652" y="4309200"/>
              <a:ext cx="231600" cy="834300"/>
              <a:chOff x="5941652" y="4309200"/>
              <a:chExt cx="231600" cy="834300"/>
            </a:xfrm>
          </p:grpSpPr>
          <p:sp>
            <p:nvSpPr>
              <p:cNvPr id="224" name="Google Shape;224;p11"/>
              <p:cNvSpPr/>
              <p:nvPr/>
            </p:nvSpPr>
            <p:spPr>
              <a:xfrm flipH="1">
                <a:off x="5941652"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25;p11"/>
              <p:cNvSpPr/>
              <p:nvPr/>
            </p:nvSpPr>
            <p:spPr>
              <a:xfrm flipH="1">
                <a:off x="5941652"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11"/>
              <p:cNvSpPr/>
              <p:nvPr/>
            </p:nvSpPr>
            <p:spPr>
              <a:xfrm flipH="1">
                <a:off x="5941652"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11"/>
              <p:cNvSpPr/>
              <p:nvPr/>
            </p:nvSpPr>
            <p:spPr>
              <a:xfrm flipH="1">
                <a:off x="5941652"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8" name="Google Shape;228;p11"/>
            <p:cNvGrpSpPr/>
            <p:nvPr/>
          </p:nvGrpSpPr>
          <p:grpSpPr>
            <a:xfrm>
              <a:off x="6313006" y="4099200"/>
              <a:ext cx="231600" cy="1044300"/>
              <a:chOff x="6313006" y="4099200"/>
              <a:chExt cx="231600" cy="1044300"/>
            </a:xfrm>
          </p:grpSpPr>
          <p:sp>
            <p:nvSpPr>
              <p:cNvPr id="229" name="Google Shape;229;p11"/>
              <p:cNvSpPr/>
              <p:nvPr/>
            </p:nvSpPr>
            <p:spPr>
              <a:xfrm flipH="1">
                <a:off x="6313006"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11"/>
              <p:cNvSpPr/>
              <p:nvPr/>
            </p:nvSpPr>
            <p:spPr>
              <a:xfrm flipH="1">
                <a:off x="6313006"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11"/>
              <p:cNvSpPr/>
              <p:nvPr/>
            </p:nvSpPr>
            <p:spPr>
              <a:xfrm flipH="1">
                <a:off x="6313006"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11"/>
              <p:cNvSpPr/>
              <p:nvPr/>
            </p:nvSpPr>
            <p:spPr>
              <a:xfrm flipH="1">
                <a:off x="6313006" y="4099200"/>
                <a:ext cx="2316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11"/>
              <p:cNvSpPr/>
              <p:nvPr/>
            </p:nvSpPr>
            <p:spPr>
              <a:xfrm flipH="1">
                <a:off x="6313006"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4" name="Google Shape;234;p11"/>
            <p:cNvGrpSpPr/>
            <p:nvPr/>
          </p:nvGrpSpPr>
          <p:grpSpPr>
            <a:xfrm>
              <a:off x="6684361" y="4309200"/>
              <a:ext cx="231600" cy="834300"/>
              <a:chOff x="6684361" y="4309200"/>
              <a:chExt cx="231600" cy="834300"/>
            </a:xfrm>
          </p:grpSpPr>
          <p:sp>
            <p:nvSpPr>
              <p:cNvPr id="235" name="Google Shape;235;p11"/>
              <p:cNvSpPr/>
              <p:nvPr/>
            </p:nvSpPr>
            <p:spPr>
              <a:xfrm flipH="1">
                <a:off x="6684361"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11"/>
              <p:cNvSpPr/>
              <p:nvPr/>
            </p:nvSpPr>
            <p:spPr>
              <a:xfrm flipH="1">
                <a:off x="6684361"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11"/>
              <p:cNvSpPr/>
              <p:nvPr/>
            </p:nvSpPr>
            <p:spPr>
              <a:xfrm flipH="1">
                <a:off x="6684361"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11"/>
              <p:cNvSpPr/>
              <p:nvPr/>
            </p:nvSpPr>
            <p:spPr>
              <a:xfrm flipH="1">
                <a:off x="6684361"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9" name="Google Shape;239;p11"/>
            <p:cNvGrpSpPr/>
            <p:nvPr/>
          </p:nvGrpSpPr>
          <p:grpSpPr>
            <a:xfrm>
              <a:off x="7055715" y="4518900"/>
              <a:ext cx="231600" cy="624600"/>
              <a:chOff x="7055715" y="4518900"/>
              <a:chExt cx="231600" cy="624600"/>
            </a:xfrm>
          </p:grpSpPr>
          <p:sp>
            <p:nvSpPr>
              <p:cNvPr id="240" name="Google Shape;240;p11"/>
              <p:cNvSpPr/>
              <p:nvPr/>
            </p:nvSpPr>
            <p:spPr>
              <a:xfrm flipH="1">
                <a:off x="7055715"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11"/>
              <p:cNvSpPr/>
              <p:nvPr/>
            </p:nvSpPr>
            <p:spPr>
              <a:xfrm flipH="1">
                <a:off x="7055715"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11"/>
              <p:cNvSpPr/>
              <p:nvPr/>
            </p:nvSpPr>
            <p:spPr>
              <a:xfrm flipH="1">
                <a:off x="7055715"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3" name="Google Shape;243;p11"/>
            <p:cNvGrpSpPr/>
            <p:nvPr/>
          </p:nvGrpSpPr>
          <p:grpSpPr>
            <a:xfrm>
              <a:off x="7798424" y="4099200"/>
              <a:ext cx="231600" cy="1044300"/>
              <a:chOff x="7798424" y="4099200"/>
              <a:chExt cx="231600" cy="1044300"/>
            </a:xfrm>
          </p:grpSpPr>
          <p:sp>
            <p:nvSpPr>
              <p:cNvPr id="244" name="Google Shape;244;p11"/>
              <p:cNvSpPr/>
              <p:nvPr/>
            </p:nvSpPr>
            <p:spPr>
              <a:xfrm flipH="1">
                <a:off x="7798424"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11"/>
              <p:cNvSpPr/>
              <p:nvPr/>
            </p:nvSpPr>
            <p:spPr>
              <a:xfrm flipH="1">
                <a:off x="7798424"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11"/>
              <p:cNvSpPr/>
              <p:nvPr/>
            </p:nvSpPr>
            <p:spPr>
              <a:xfrm flipH="1">
                <a:off x="7798424"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11"/>
              <p:cNvSpPr/>
              <p:nvPr/>
            </p:nvSpPr>
            <p:spPr>
              <a:xfrm flipH="1">
                <a:off x="7798424" y="4099200"/>
                <a:ext cx="2316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11"/>
              <p:cNvSpPr/>
              <p:nvPr/>
            </p:nvSpPr>
            <p:spPr>
              <a:xfrm flipH="1">
                <a:off x="7798424"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9" name="Google Shape;249;p11"/>
            <p:cNvGrpSpPr/>
            <p:nvPr/>
          </p:nvGrpSpPr>
          <p:grpSpPr>
            <a:xfrm>
              <a:off x="8169779" y="4309200"/>
              <a:ext cx="231600" cy="834300"/>
              <a:chOff x="8169779" y="4309200"/>
              <a:chExt cx="231600" cy="834300"/>
            </a:xfrm>
          </p:grpSpPr>
          <p:sp>
            <p:nvSpPr>
              <p:cNvPr id="250" name="Google Shape;250;p11"/>
              <p:cNvSpPr/>
              <p:nvPr/>
            </p:nvSpPr>
            <p:spPr>
              <a:xfrm flipH="1">
                <a:off x="8169779"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11"/>
              <p:cNvSpPr/>
              <p:nvPr/>
            </p:nvSpPr>
            <p:spPr>
              <a:xfrm flipH="1">
                <a:off x="8169779"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11"/>
              <p:cNvSpPr/>
              <p:nvPr/>
            </p:nvSpPr>
            <p:spPr>
              <a:xfrm flipH="1">
                <a:off x="8169779"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11"/>
              <p:cNvSpPr/>
              <p:nvPr/>
            </p:nvSpPr>
            <p:spPr>
              <a:xfrm flipH="1">
                <a:off x="8169779"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4" name="Google Shape;254;p11"/>
            <p:cNvGrpSpPr/>
            <p:nvPr/>
          </p:nvGrpSpPr>
          <p:grpSpPr>
            <a:xfrm>
              <a:off x="7427070" y="4309200"/>
              <a:ext cx="231600" cy="834300"/>
              <a:chOff x="7427070" y="4309200"/>
              <a:chExt cx="231600" cy="834300"/>
            </a:xfrm>
          </p:grpSpPr>
          <p:sp>
            <p:nvSpPr>
              <p:cNvPr id="255" name="Google Shape;255;p11"/>
              <p:cNvSpPr/>
              <p:nvPr/>
            </p:nvSpPr>
            <p:spPr>
              <a:xfrm flipH="1">
                <a:off x="7427070"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11"/>
              <p:cNvSpPr/>
              <p:nvPr/>
            </p:nvSpPr>
            <p:spPr>
              <a:xfrm flipH="1">
                <a:off x="7427070"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11"/>
              <p:cNvSpPr/>
              <p:nvPr/>
            </p:nvSpPr>
            <p:spPr>
              <a:xfrm flipH="1">
                <a:off x="7427070"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11"/>
              <p:cNvSpPr/>
              <p:nvPr/>
            </p:nvSpPr>
            <p:spPr>
              <a:xfrm flipH="1">
                <a:off x="7427070"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9" name="Google Shape;259;p11"/>
            <p:cNvGrpSpPr/>
            <p:nvPr/>
          </p:nvGrpSpPr>
          <p:grpSpPr>
            <a:xfrm>
              <a:off x="8541133" y="4518900"/>
              <a:ext cx="231600" cy="624600"/>
              <a:chOff x="8541133" y="4518900"/>
              <a:chExt cx="231600" cy="624600"/>
            </a:xfrm>
          </p:grpSpPr>
          <p:sp>
            <p:nvSpPr>
              <p:cNvPr id="260" name="Google Shape;260;p11"/>
              <p:cNvSpPr/>
              <p:nvPr/>
            </p:nvSpPr>
            <p:spPr>
              <a:xfrm flipH="1">
                <a:off x="8541133"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11"/>
              <p:cNvSpPr/>
              <p:nvPr/>
            </p:nvSpPr>
            <p:spPr>
              <a:xfrm flipH="1">
                <a:off x="8541133"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11"/>
              <p:cNvSpPr/>
              <p:nvPr/>
            </p:nvSpPr>
            <p:spPr>
              <a:xfrm flipH="1">
                <a:off x="8541133"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3" name="Google Shape;263;p11"/>
            <p:cNvGrpSpPr/>
            <p:nvPr/>
          </p:nvGrpSpPr>
          <p:grpSpPr>
            <a:xfrm>
              <a:off x="8912488" y="4309200"/>
              <a:ext cx="231600" cy="834300"/>
              <a:chOff x="8912488" y="4309200"/>
              <a:chExt cx="231600" cy="834300"/>
            </a:xfrm>
          </p:grpSpPr>
          <p:sp>
            <p:nvSpPr>
              <p:cNvPr id="264" name="Google Shape;264;p11"/>
              <p:cNvSpPr/>
              <p:nvPr/>
            </p:nvSpPr>
            <p:spPr>
              <a:xfrm flipH="1">
                <a:off x="8912488"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11"/>
              <p:cNvSpPr/>
              <p:nvPr/>
            </p:nvSpPr>
            <p:spPr>
              <a:xfrm flipH="1">
                <a:off x="8912488"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11"/>
              <p:cNvSpPr/>
              <p:nvPr/>
            </p:nvSpPr>
            <p:spPr>
              <a:xfrm flipH="1">
                <a:off x="8912488"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11"/>
              <p:cNvSpPr/>
              <p:nvPr/>
            </p:nvSpPr>
            <p:spPr>
              <a:xfrm flipH="1">
                <a:off x="8912488"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68" name="Google Shape;268;p11"/>
          <p:cNvSpPr txBox="1">
            <a:spLocks noGrp="1"/>
          </p:cNvSpPr>
          <p:nvPr>
            <p:ph type="title" hasCustomPrompt="1"/>
          </p:nvPr>
        </p:nvSpPr>
        <p:spPr>
          <a:xfrm>
            <a:off x="1388625" y="772725"/>
            <a:ext cx="6366900" cy="1863300"/>
          </a:xfrm>
          <a:prstGeom prst="rect">
            <a:avLst/>
          </a:prstGeom>
        </p:spPr>
        <p:txBody>
          <a:bodyPr spcFirstLastPara="1" wrap="square" lIns="91425" tIns="91425" rIns="91425" bIns="91425" anchor="ctr" anchorCtr="0">
            <a:normAutofit/>
          </a:bodyPr>
          <a:lstStyle>
            <a:lvl1pPr lvl="0" algn="ctr">
              <a:spcBef>
                <a:spcPts val="0"/>
              </a:spcBef>
              <a:spcAft>
                <a:spcPts val="0"/>
              </a:spcAft>
              <a:buClr>
                <a:schemeClr val="lt1"/>
              </a:buClr>
              <a:buSzPts val="8000"/>
              <a:buNone/>
              <a:defRPr sz="8000">
                <a:solidFill>
                  <a:schemeClr val="lt1"/>
                </a:solidFill>
              </a:defRPr>
            </a:lvl1pPr>
            <a:lvl2pPr lvl="1" algn="ctr">
              <a:spcBef>
                <a:spcPts val="0"/>
              </a:spcBef>
              <a:spcAft>
                <a:spcPts val="0"/>
              </a:spcAft>
              <a:buClr>
                <a:schemeClr val="lt1"/>
              </a:buClr>
              <a:buSzPts val="8000"/>
              <a:buNone/>
              <a:defRPr sz="8000">
                <a:solidFill>
                  <a:schemeClr val="lt1"/>
                </a:solidFill>
              </a:defRPr>
            </a:lvl2pPr>
            <a:lvl3pPr lvl="2" algn="ctr">
              <a:spcBef>
                <a:spcPts val="0"/>
              </a:spcBef>
              <a:spcAft>
                <a:spcPts val="0"/>
              </a:spcAft>
              <a:buClr>
                <a:schemeClr val="lt1"/>
              </a:buClr>
              <a:buSzPts val="8000"/>
              <a:buNone/>
              <a:defRPr sz="8000">
                <a:solidFill>
                  <a:schemeClr val="lt1"/>
                </a:solidFill>
              </a:defRPr>
            </a:lvl3pPr>
            <a:lvl4pPr lvl="3" algn="ctr">
              <a:spcBef>
                <a:spcPts val="0"/>
              </a:spcBef>
              <a:spcAft>
                <a:spcPts val="0"/>
              </a:spcAft>
              <a:buClr>
                <a:schemeClr val="lt1"/>
              </a:buClr>
              <a:buSzPts val="8000"/>
              <a:buNone/>
              <a:defRPr sz="8000">
                <a:solidFill>
                  <a:schemeClr val="lt1"/>
                </a:solidFill>
              </a:defRPr>
            </a:lvl4pPr>
            <a:lvl5pPr lvl="4" algn="ctr">
              <a:spcBef>
                <a:spcPts val="0"/>
              </a:spcBef>
              <a:spcAft>
                <a:spcPts val="0"/>
              </a:spcAft>
              <a:buClr>
                <a:schemeClr val="lt1"/>
              </a:buClr>
              <a:buSzPts val="8000"/>
              <a:buNone/>
              <a:defRPr sz="8000">
                <a:solidFill>
                  <a:schemeClr val="lt1"/>
                </a:solidFill>
              </a:defRPr>
            </a:lvl5pPr>
            <a:lvl6pPr lvl="5" algn="ctr">
              <a:spcBef>
                <a:spcPts val="0"/>
              </a:spcBef>
              <a:spcAft>
                <a:spcPts val="0"/>
              </a:spcAft>
              <a:buClr>
                <a:schemeClr val="lt1"/>
              </a:buClr>
              <a:buSzPts val="8000"/>
              <a:buNone/>
              <a:defRPr sz="8000">
                <a:solidFill>
                  <a:schemeClr val="lt1"/>
                </a:solidFill>
              </a:defRPr>
            </a:lvl6pPr>
            <a:lvl7pPr lvl="6" algn="ctr">
              <a:spcBef>
                <a:spcPts val="0"/>
              </a:spcBef>
              <a:spcAft>
                <a:spcPts val="0"/>
              </a:spcAft>
              <a:buClr>
                <a:schemeClr val="lt1"/>
              </a:buClr>
              <a:buSzPts val="8000"/>
              <a:buNone/>
              <a:defRPr sz="8000">
                <a:solidFill>
                  <a:schemeClr val="lt1"/>
                </a:solidFill>
              </a:defRPr>
            </a:lvl7pPr>
            <a:lvl8pPr lvl="7" algn="ctr">
              <a:spcBef>
                <a:spcPts val="0"/>
              </a:spcBef>
              <a:spcAft>
                <a:spcPts val="0"/>
              </a:spcAft>
              <a:buClr>
                <a:schemeClr val="lt1"/>
              </a:buClr>
              <a:buSzPts val="8000"/>
              <a:buNone/>
              <a:defRPr sz="8000">
                <a:solidFill>
                  <a:schemeClr val="lt1"/>
                </a:solidFill>
              </a:defRPr>
            </a:lvl8pPr>
            <a:lvl9pPr lvl="8" algn="ctr">
              <a:spcBef>
                <a:spcPts val="0"/>
              </a:spcBef>
              <a:spcAft>
                <a:spcPts val="0"/>
              </a:spcAft>
              <a:buClr>
                <a:schemeClr val="lt1"/>
              </a:buClr>
              <a:buSzPts val="8000"/>
              <a:buNone/>
              <a:defRPr sz="8000">
                <a:solidFill>
                  <a:schemeClr val="lt1"/>
                </a:solidFill>
              </a:defRPr>
            </a:lvl9pPr>
          </a:lstStyle>
          <a:p>
            <a:r>
              <a:t>xx%</a:t>
            </a:r>
          </a:p>
        </p:txBody>
      </p:sp>
      <p:sp>
        <p:nvSpPr>
          <p:cNvPr id="269" name="Google Shape;269;p11"/>
          <p:cNvSpPr txBox="1">
            <a:spLocks noGrp="1"/>
          </p:cNvSpPr>
          <p:nvPr>
            <p:ph type="body" idx="1"/>
          </p:nvPr>
        </p:nvSpPr>
        <p:spPr>
          <a:xfrm>
            <a:off x="1388625" y="2712300"/>
            <a:ext cx="6366900" cy="1111200"/>
          </a:xfrm>
          <a:prstGeom prst="rect">
            <a:avLst/>
          </a:prstGeom>
        </p:spPr>
        <p:txBody>
          <a:bodyPr spcFirstLastPara="1" wrap="square" lIns="91425" tIns="91425" rIns="91425" bIns="91425" anchor="t" anchorCtr="0">
            <a:normAutofit/>
          </a:bodyPr>
          <a:lstStyle>
            <a:lvl1pPr marL="457200" lvl="0" indent="-311150" algn="ctr">
              <a:spcBef>
                <a:spcPts val="0"/>
              </a:spcBef>
              <a:spcAft>
                <a:spcPts val="0"/>
              </a:spcAft>
              <a:buClr>
                <a:schemeClr val="lt1"/>
              </a:buClr>
              <a:buSzPts val="1300"/>
              <a:buChar char="●"/>
              <a:defRPr>
                <a:solidFill>
                  <a:schemeClr val="lt1"/>
                </a:solidFill>
              </a:defRPr>
            </a:lvl1pPr>
            <a:lvl2pPr marL="914400" lvl="1" indent="-298450" algn="ctr">
              <a:spcBef>
                <a:spcPts val="0"/>
              </a:spcBef>
              <a:spcAft>
                <a:spcPts val="0"/>
              </a:spcAft>
              <a:buClr>
                <a:schemeClr val="lt1"/>
              </a:buClr>
              <a:buSzPts val="1100"/>
              <a:buChar char="○"/>
              <a:defRPr>
                <a:solidFill>
                  <a:schemeClr val="lt1"/>
                </a:solidFill>
              </a:defRPr>
            </a:lvl2pPr>
            <a:lvl3pPr marL="1371600" lvl="2" indent="-298450" algn="ctr">
              <a:spcBef>
                <a:spcPts val="0"/>
              </a:spcBef>
              <a:spcAft>
                <a:spcPts val="0"/>
              </a:spcAft>
              <a:buClr>
                <a:schemeClr val="lt1"/>
              </a:buClr>
              <a:buSzPts val="1100"/>
              <a:buChar char="■"/>
              <a:defRPr>
                <a:solidFill>
                  <a:schemeClr val="lt1"/>
                </a:solidFill>
              </a:defRPr>
            </a:lvl3pPr>
            <a:lvl4pPr marL="1828800" lvl="3" indent="-298450" algn="ctr">
              <a:spcBef>
                <a:spcPts val="0"/>
              </a:spcBef>
              <a:spcAft>
                <a:spcPts val="0"/>
              </a:spcAft>
              <a:buClr>
                <a:schemeClr val="lt1"/>
              </a:buClr>
              <a:buSzPts val="1100"/>
              <a:buChar char="●"/>
              <a:defRPr>
                <a:solidFill>
                  <a:schemeClr val="lt1"/>
                </a:solidFill>
              </a:defRPr>
            </a:lvl4pPr>
            <a:lvl5pPr marL="2286000" lvl="4" indent="-298450" algn="ctr">
              <a:spcBef>
                <a:spcPts val="0"/>
              </a:spcBef>
              <a:spcAft>
                <a:spcPts val="0"/>
              </a:spcAft>
              <a:buClr>
                <a:schemeClr val="lt1"/>
              </a:buClr>
              <a:buSzPts val="1100"/>
              <a:buChar char="○"/>
              <a:defRPr>
                <a:solidFill>
                  <a:schemeClr val="lt1"/>
                </a:solidFill>
              </a:defRPr>
            </a:lvl5pPr>
            <a:lvl6pPr marL="2743200" lvl="5" indent="-298450" algn="ctr">
              <a:spcBef>
                <a:spcPts val="0"/>
              </a:spcBef>
              <a:spcAft>
                <a:spcPts val="0"/>
              </a:spcAft>
              <a:buClr>
                <a:schemeClr val="lt1"/>
              </a:buClr>
              <a:buSzPts val="1100"/>
              <a:buChar char="■"/>
              <a:defRPr>
                <a:solidFill>
                  <a:schemeClr val="lt1"/>
                </a:solidFill>
              </a:defRPr>
            </a:lvl6pPr>
            <a:lvl7pPr marL="3200400" lvl="6" indent="-298450" algn="ctr">
              <a:spcBef>
                <a:spcPts val="0"/>
              </a:spcBef>
              <a:spcAft>
                <a:spcPts val="0"/>
              </a:spcAft>
              <a:buClr>
                <a:schemeClr val="lt1"/>
              </a:buClr>
              <a:buSzPts val="1100"/>
              <a:buChar char="●"/>
              <a:defRPr>
                <a:solidFill>
                  <a:schemeClr val="lt1"/>
                </a:solidFill>
              </a:defRPr>
            </a:lvl7pPr>
            <a:lvl8pPr marL="3657600" lvl="7" indent="-298450" algn="ctr">
              <a:spcBef>
                <a:spcPts val="0"/>
              </a:spcBef>
              <a:spcAft>
                <a:spcPts val="0"/>
              </a:spcAft>
              <a:buClr>
                <a:schemeClr val="lt1"/>
              </a:buClr>
              <a:buSzPts val="1100"/>
              <a:buChar char="○"/>
              <a:defRPr>
                <a:solidFill>
                  <a:schemeClr val="lt1"/>
                </a:solidFill>
              </a:defRPr>
            </a:lvl8pPr>
            <a:lvl9pPr marL="4114800" lvl="8" indent="-298450" algn="ctr">
              <a:spcBef>
                <a:spcPts val="0"/>
              </a:spcBef>
              <a:spcAft>
                <a:spcPts val="0"/>
              </a:spcAft>
              <a:buClr>
                <a:schemeClr val="lt1"/>
              </a:buClr>
              <a:buSzPts val="1100"/>
              <a:buChar char="■"/>
              <a:defRPr>
                <a:solidFill>
                  <a:schemeClr val="lt1"/>
                </a:solidFill>
              </a:defRPr>
            </a:lvl9pPr>
          </a:lstStyle>
          <a:p>
            <a:endParaRPr/>
          </a:p>
        </p:txBody>
      </p:sp>
      <p:sp>
        <p:nvSpPr>
          <p:cNvPr id="270" name="Google Shape;270;p11"/>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t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71"/>
        <p:cNvGrpSpPr/>
        <p:nvPr/>
      </p:nvGrpSpPr>
      <p:grpSpPr>
        <a:xfrm>
          <a:off x="0" y="0"/>
          <a:ext cx="0" cy="0"/>
          <a:chOff x="0" y="0"/>
          <a:chExt cx="0" cy="0"/>
        </a:xfrm>
      </p:grpSpPr>
      <p:sp>
        <p:nvSpPr>
          <p:cNvPr id="272" name="Google Shape;272;p12"/>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t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omentum">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1pPr>
            <a:lvl2pPr lvl="1">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2pPr>
            <a:lvl3pPr lvl="2">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3pPr>
            <a:lvl4pPr lvl="3">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4pPr>
            <a:lvl5pPr lvl="4">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5pPr>
            <a:lvl6pPr lvl="5">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6pPr>
            <a:lvl7pPr lvl="6">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7pPr>
            <a:lvl8pPr lvl="7">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8pPr>
            <a:lvl9pPr lvl="8">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11150">
              <a:lnSpc>
                <a:spcPct val="115000"/>
              </a:lnSpc>
              <a:spcBef>
                <a:spcPts val="0"/>
              </a:spcBef>
              <a:spcAft>
                <a:spcPts val="0"/>
              </a:spcAft>
              <a:buClr>
                <a:schemeClr val="dk2"/>
              </a:buClr>
              <a:buSzPts val="1300"/>
              <a:buFont typeface="Nunito"/>
              <a:buChar char="●"/>
              <a:defRPr sz="1300">
                <a:solidFill>
                  <a:schemeClr val="dk2"/>
                </a:solidFill>
                <a:latin typeface="Nunito"/>
                <a:ea typeface="Nunito"/>
                <a:cs typeface="Nunito"/>
                <a:sym typeface="Nunito"/>
              </a:defRPr>
            </a:lvl1pPr>
            <a:lvl2pPr marL="914400" lvl="1" indent="-29845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2pPr>
            <a:lvl3pPr marL="1371600" lvl="2" indent="-29845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3pPr>
            <a:lvl4pPr marL="1828800" lvl="3" indent="-29845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4pPr>
            <a:lvl5pPr marL="2286000" lvl="4" indent="-29845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5pPr>
            <a:lvl6pPr marL="2743200" lvl="5" indent="-29845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6pPr>
            <a:lvl7pPr marL="3200400" lvl="6" indent="-29845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7pPr>
            <a:lvl8pPr marL="3657600" lvl="7" indent="-29845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8pPr>
            <a:lvl9pPr marL="4114800" lvl="8" indent="-29845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9pPr>
          </a:lstStyle>
          <a:p>
            <a:endParaRPr/>
          </a:p>
        </p:txBody>
      </p:sp>
      <p:sp>
        <p:nvSpPr>
          <p:cNvPr id="8" name="Google Shape;8;p1"/>
          <p:cNvSpPr txBox="1">
            <a:spLocks noGrp="1"/>
          </p:cNvSpPr>
          <p:nvPr>
            <p:ph type="sldNum" idx="12"/>
          </p:nvPr>
        </p:nvSpPr>
        <p:spPr>
          <a:xfrm>
            <a:off x="8451046" y="4736976"/>
            <a:ext cx="548700" cy="393600"/>
          </a:xfrm>
          <a:prstGeom prst="rect">
            <a:avLst/>
          </a:prstGeom>
          <a:noFill/>
          <a:ln>
            <a:noFill/>
          </a:ln>
        </p:spPr>
        <p:txBody>
          <a:bodyPr spcFirstLastPara="1" wrap="square" lIns="91425" tIns="91425" rIns="91425" bIns="91425" anchor="ctr" anchorCtr="0">
            <a:normAutofit/>
          </a:bodyPr>
          <a:lstStyle>
            <a:lvl1pPr lvl="0" algn="r">
              <a:buNone/>
              <a:defRPr sz="900">
                <a:solidFill>
                  <a:schemeClr val="dk2"/>
                </a:solidFill>
                <a:latin typeface="Nunito"/>
                <a:ea typeface="Nunito"/>
                <a:cs typeface="Nunito"/>
                <a:sym typeface="Nunito"/>
              </a:defRPr>
            </a:lvl1pPr>
            <a:lvl2pPr lvl="1" algn="r">
              <a:buNone/>
              <a:defRPr sz="900">
                <a:solidFill>
                  <a:schemeClr val="dk2"/>
                </a:solidFill>
                <a:latin typeface="Nunito"/>
                <a:ea typeface="Nunito"/>
                <a:cs typeface="Nunito"/>
                <a:sym typeface="Nunito"/>
              </a:defRPr>
            </a:lvl2pPr>
            <a:lvl3pPr lvl="2" algn="r">
              <a:buNone/>
              <a:defRPr sz="900">
                <a:solidFill>
                  <a:schemeClr val="dk2"/>
                </a:solidFill>
                <a:latin typeface="Nunito"/>
                <a:ea typeface="Nunito"/>
                <a:cs typeface="Nunito"/>
                <a:sym typeface="Nunito"/>
              </a:defRPr>
            </a:lvl3pPr>
            <a:lvl4pPr lvl="3" algn="r">
              <a:buNone/>
              <a:defRPr sz="900">
                <a:solidFill>
                  <a:schemeClr val="dk2"/>
                </a:solidFill>
                <a:latin typeface="Nunito"/>
                <a:ea typeface="Nunito"/>
                <a:cs typeface="Nunito"/>
                <a:sym typeface="Nunito"/>
              </a:defRPr>
            </a:lvl4pPr>
            <a:lvl5pPr lvl="4" algn="r">
              <a:buNone/>
              <a:defRPr sz="900">
                <a:solidFill>
                  <a:schemeClr val="dk2"/>
                </a:solidFill>
                <a:latin typeface="Nunito"/>
                <a:ea typeface="Nunito"/>
                <a:cs typeface="Nunito"/>
                <a:sym typeface="Nunito"/>
              </a:defRPr>
            </a:lvl5pPr>
            <a:lvl6pPr lvl="5" algn="r">
              <a:buNone/>
              <a:defRPr sz="900">
                <a:solidFill>
                  <a:schemeClr val="dk2"/>
                </a:solidFill>
                <a:latin typeface="Nunito"/>
                <a:ea typeface="Nunito"/>
                <a:cs typeface="Nunito"/>
                <a:sym typeface="Nunito"/>
              </a:defRPr>
            </a:lvl6pPr>
            <a:lvl7pPr lvl="6" algn="r">
              <a:buNone/>
              <a:defRPr sz="900">
                <a:solidFill>
                  <a:schemeClr val="dk2"/>
                </a:solidFill>
                <a:latin typeface="Nunito"/>
                <a:ea typeface="Nunito"/>
                <a:cs typeface="Nunito"/>
                <a:sym typeface="Nunito"/>
              </a:defRPr>
            </a:lvl7pPr>
            <a:lvl8pPr lvl="7" algn="r">
              <a:buNone/>
              <a:defRPr sz="900">
                <a:solidFill>
                  <a:schemeClr val="dk2"/>
                </a:solidFill>
                <a:latin typeface="Nunito"/>
                <a:ea typeface="Nunito"/>
                <a:cs typeface="Nunito"/>
                <a:sym typeface="Nunito"/>
              </a:defRPr>
            </a:lvl8pPr>
            <a:lvl9pPr lvl="8" algn="r">
              <a:buNone/>
              <a:defRPr sz="900">
                <a:solidFill>
                  <a:schemeClr val="dk2"/>
                </a:solidFill>
                <a:latin typeface="Nunito"/>
                <a:ea typeface="Nunito"/>
                <a:cs typeface="Nunito"/>
                <a:sym typeface="Nunito"/>
              </a:defRPr>
            </a:lvl9pPr>
          </a:lstStyle>
          <a:p>
            <a:pPr marL="0" lvl="0" indent="0" algn="r" rtl="0">
              <a:spcBef>
                <a:spcPts val="0"/>
              </a:spcBef>
              <a:spcAft>
                <a:spcPts val="0"/>
              </a:spcAft>
              <a:buNone/>
            </a:pPr>
            <a:fld id="{00000000-1234-1234-1234-123412341234}" type="slidenum">
              <a:rPr lang="tr"/>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8.xml"/><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0.xml"/><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2.xml"/><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3.xml"/><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4.xml"/><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5.xml"/><Relationship Id="rId1" Type="http://schemas.openxmlformats.org/officeDocument/2006/relationships/slideLayout" Target="../slideLayouts/slideLayout10.xml"/><Relationship Id="rId5" Type="http://schemas.openxmlformats.org/officeDocument/2006/relationships/image" Target="../media/image15.png"/><Relationship Id="rId4" Type="http://schemas.openxmlformats.org/officeDocument/2006/relationships/image" Target="../media/image14.png"/></Relationships>
</file>

<file path=ppt/slides/_rels/slide2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6.xml"/><Relationship Id="rId1" Type="http://schemas.openxmlformats.org/officeDocument/2006/relationships/slideLayout" Target="../slideLayouts/slideLayout10.xml"/><Relationship Id="rId4" Type="http://schemas.openxmlformats.org/officeDocument/2006/relationships/image" Target="../media/image17.png"/></Relationships>
</file>

<file path=ppt/slides/_rels/slide2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7.xml"/><Relationship Id="rId1" Type="http://schemas.openxmlformats.org/officeDocument/2006/relationships/slideLayout" Target="../slideLayouts/slideLayout10.xml"/><Relationship Id="rId4" Type="http://schemas.openxmlformats.org/officeDocument/2006/relationships/image" Target="../media/image19.png"/></Relationships>
</file>

<file path=ppt/slides/_rels/slide2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8.xml"/><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9.xml"/><Relationship Id="rId1" Type="http://schemas.openxmlformats.org/officeDocument/2006/relationships/slideLayout" Target="../slideLayouts/slideLayout1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sp>
        <p:nvSpPr>
          <p:cNvPr id="277" name="Google Shape;277;p13"/>
          <p:cNvSpPr txBox="1"/>
          <p:nvPr/>
        </p:nvSpPr>
        <p:spPr>
          <a:xfrm>
            <a:off x="3482250" y="2248500"/>
            <a:ext cx="2179500" cy="646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tr" sz="3000" b="1">
                <a:solidFill>
                  <a:schemeClr val="lt1"/>
                </a:solidFill>
                <a:latin typeface="Times New Roman"/>
                <a:ea typeface="Times New Roman"/>
                <a:cs typeface="Times New Roman"/>
                <a:sym typeface="Times New Roman"/>
              </a:rPr>
              <a:t>GraphRAG</a:t>
            </a:r>
            <a:endParaRPr sz="3000" b="1">
              <a:solidFill>
                <a:schemeClr val="lt1"/>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sp>
        <p:nvSpPr>
          <p:cNvPr id="282" name="Google Shape;282;p14"/>
          <p:cNvSpPr txBox="1"/>
          <p:nvPr/>
        </p:nvSpPr>
        <p:spPr>
          <a:xfrm>
            <a:off x="3160200" y="167675"/>
            <a:ext cx="2823600" cy="646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tr" sz="3000" b="1">
                <a:solidFill>
                  <a:schemeClr val="lt1"/>
                </a:solidFill>
                <a:latin typeface="Times New Roman"/>
                <a:ea typeface="Times New Roman"/>
                <a:cs typeface="Times New Roman"/>
                <a:sym typeface="Times New Roman"/>
              </a:rPr>
              <a:t>What is Graph?</a:t>
            </a:r>
            <a:endParaRPr sz="3000" b="1">
              <a:solidFill>
                <a:schemeClr val="lt1"/>
              </a:solidFill>
              <a:latin typeface="Times New Roman"/>
              <a:ea typeface="Times New Roman"/>
              <a:cs typeface="Times New Roman"/>
              <a:sym typeface="Times New Roman"/>
            </a:endParaRPr>
          </a:p>
        </p:txBody>
      </p:sp>
      <p:pic>
        <p:nvPicPr>
          <p:cNvPr id="283" name="Google Shape;283;p14"/>
          <p:cNvPicPr preferRelativeResize="0"/>
          <p:nvPr/>
        </p:nvPicPr>
        <p:blipFill>
          <a:blip r:embed="rId3">
            <a:alphaModFix/>
          </a:blip>
          <a:stretch>
            <a:fillRect/>
          </a:stretch>
        </p:blipFill>
        <p:spPr>
          <a:xfrm>
            <a:off x="2156625" y="814175"/>
            <a:ext cx="4830751" cy="1549700"/>
          </a:xfrm>
          <a:prstGeom prst="rect">
            <a:avLst/>
          </a:prstGeom>
          <a:noFill/>
          <a:ln>
            <a:noFill/>
          </a:ln>
        </p:spPr>
      </p:pic>
      <p:sp>
        <p:nvSpPr>
          <p:cNvPr id="284" name="Google Shape;284;p14"/>
          <p:cNvSpPr txBox="1"/>
          <p:nvPr/>
        </p:nvSpPr>
        <p:spPr>
          <a:xfrm>
            <a:off x="2376450" y="2571750"/>
            <a:ext cx="4391100" cy="1416000"/>
          </a:xfrm>
          <a:prstGeom prst="rect">
            <a:avLst/>
          </a:prstGeom>
          <a:noFill/>
          <a:ln>
            <a:noFill/>
          </a:ln>
        </p:spPr>
        <p:txBody>
          <a:bodyPr spcFirstLastPara="1" wrap="square" lIns="91425" tIns="91425" rIns="91425" bIns="91425" anchor="t" anchorCtr="0">
            <a:spAutoFit/>
          </a:bodyPr>
          <a:lstStyle/>
          <a:p>
            <a:pPr marL="457200" lvl="0" indent="-355600" algn="l" rtl="0">
              <a:spcBef>
                <a:spcPts val="0"/>
              </a:spcBef>
              <a:spcAft>
                <a:spcPts val="0"/>
              </a:spcAft>
              <a:buClr>
                <a:srgbClr val="B7B7B7"/>
              </a:buClr>
              <a:buSzPts val="2000"/>
              <a:buFont typeface="Nunito"/>
              <a:buChar char="●"/>
            </a:pPr>
            <a:r>
              <a:rPr lang="tr" sz="2000" b="1">
                <a:solidFill>
                  <a:srgbClr val="B7B7B7"/>
                </a:solidFill>
                <a:latin typeface="Nunito"/>
                <a:ea typeface="Nunito"/>
                <a:cs typeface="Nunito"/>
                <a:sym typeface="Nunito"/>
              </a:rPr>
              <a:t>Directed Graph</a:t>
            </a:r>
            <a:endParaRPr sz="2000" b="1">
              <a:solidFill>
                <a:srgbClr val="B7B7B7"/>
              </a:solidFill>
              <a:latin typeface="Nunito"/>
              <a:ea typeface="Nunito"/>
              <a:cs typeface="Nunito"/>
              <a:sym typeface="Nunito"/>
            </a:endParaRPr>
          </a:p>
          <a:p>
            <a:pPr marL="457200" lvl="0" indent="-355600" algn="l" rtl="0">
              <a:spcBef>
                <a:spcPts val="0"/>
              </a:spcBef>
              <a:spcAft>
                <a:spcPts val="0"/>
              </a:spcAft>
              <a:buClr>
                <a:srgbClr val="B7B7B7"/>
              </a:buClr>
              <a:buSzPts val="2000"/>
              <a:buFont typeface="Nunito"/>
              <a:buChar char="●"/>
            </a:pPr>
            <a:r>
              <a:rPr lang="tr" sz="2000" b="1">
                <a:solidFill>
                  <a:srgbClr val="B7B7B7"/>
                </a:solidFill>
                <a:latin typeface="Nunito"/>
                <a:ea typeface="Nunito"/>
                <a:cs typeface="Nunito"/>
                <a:sym typeface="Nunito"/>
              </a:rPr>
              <a:t>Undirected Graph</a:t>
            </a:r>
            <a:endParaRPr sz="2000" b="1">
              <a:solidFill>
                <a:srgbClr val="B7B7B7"/>
              </a:solidFill>
              <a:latin typeface="Nunito"/>
              <a:ea typeface="Nunito"/>
              <a:cs typeface="Nunito"/>
              <a:sym typeface="Nunito"/>
            </a:endParaRPr>
          </a:p>
          <a:p>
            <a:pPr marL="457200" lvl="0" indent="-355600" algn="l" rtl="0">
              <a:spcBef>
                <a:spcPts val="0"/>
              </a:spcBef>
              <a:spcAft>
                <a:spcPts val="0"/>
              </a:spcAft>
              <a:buClr>
                <a:srgbClr val="B7B7B7"/>
              </a:buClr>
              <a:buSzPts val="2000"/>
              <a:buFont typeface="Nunito"/>
              <a:buChar char="●"/>
            </a:pPr>
            <a:r>
              <a:rPr lang="tr" sz="2000" b="1">
                <a:solidFill>
                  <a:srgbClr val="B7B7B7"/>
                </a:solidFill>
                <a:latin typeface="Nunito"/>
                <a:ea typeface="Nunito"/>
                <a:cs typeface="Nunito"/>
                <a:sym typeface="Nunito"/>
              </a:rPr>
              <a:t>Full Graph</a:t>
            </a:r>
            <a:endParaRPr sz="2000" b="1">
              <a:solidFill>
                <a:srgbClr val="B7B7B7"/>
              </a:solidFill>
              <a:latin typeface="Nunito"/>
              <a:ea typeface="Nunito"/>
              <a:cs typeface="Nunito"/>
              <a:sym typeface="Nunito"/>
            </a:endParaRPr>
          </a:p>
          <a:p>
            <a:pPr marL="457200" lvl="0" indent="-355600" algn="l" rtl="0">
              <a:spcBef>
                <a:spcPts val="0"/>
              </a:spcBef>
              <a:spcAft>
                <a:spcPts val="0"/>
              </a:spcAft>
              <a:buClr>
                <a:srgbClr val="B7B7B7"/>
              </a:buClr>
              <a:buSzPts val="2000"/>
              <a:buFont typeface="Nunito"/>
              <a:buChar char="●"/>
            </a:pPr>
            <a:r>
              <a:rPr lang="tr" sz="2000" b="1">
                <a:solidFill>
                  <a:srgbClr val="B7B7B7"/>
                </a:solidFill>
                <a:latin typeface="Nunito"/>
                <a:ea typeface="Nunito"/>
                <a:cs typeface="Nunito"/>
                <a:sym typeface="Nunito"/>
              </a:rPr>
              <a:t>Weighted -Unweighted graph</a:t>
            </a:r>
            <a:endParaRPr sz="2000" b="1">
              <a:solidFill>
                <a:srgbClr val="B7B7B7"/>
              </a:solidFill>
              <a:latin typeface="Nunito"/>
              <a:ea typeface="Nunito"/>
              <a:cs typeface="Nunito"/>
              <a:sym typeface="Nunito"/>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88"/>
        <p:cNvGrpSpPr/>
        <p:nvPr/>
      </p:nvGrpSpPr>
      <p:grpSpPr>
        <a:xfrm>
          <a:off x="0" y="0"/>
          <a:ext cx="0" cy="0"/>
          <a:chOff x="0" y="0"/>
          <a:chExt cx="0" cy="0"/>
        </a:xfrm>
      </p:grpSpPr>
      <p:sp>
        <p:nvSpPr>
          <p:cNvPr id="289" name="Google Shape;289;p15"/>
          <p:cNvSpPr txBox="1"/>
          <p:nvPr/>
        </p:nvSpPr>
        <p:spPr>
          <a:xfrm>
            <a:off x="2332350" y="199275"/>
            <a:ext cx="4479300" cy="646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tr" sz="3000" b="1">
                <a:solidFill>
                  <a:schemeClr val="lt1"/>
                </a:solidFill>
                <a:latin typeface="Times New Roman"/>
                <a:ea typeface="Times New Roman"/>
                <a:cs typeface="Times New Roman"/>
                <a:sym typeface="Times New Roman"/>
              </a:rPr>
              <a:t>What is Graph Database?</a:t>
            </a:r>
            <a:endParaRPr sz="3000" b="1">
              <a:solidFill>
                <a:schemeClr val="lt1"/>
              </a:solidFill>
              <a:latin typeface="Times New Roman"/>
              <a:ea typeface="Times New Roman"/>
              <a:cs typeface="Times New Roman"/>
              <a:sym typeface="Times New Roman"/>
            </a:endParaRPr>
          </a:p>
        </p:txBody>
      </p:sp>
      <p:sp>
        <p:nvSpPr>
          <p:cNvPr id="290" name="Google Shape;290;p15"/>
          <p:cNvSpPr txBox="1"/>
          <p:nvPr/>
        </p:nvSpPr>
        <p:spPr>
          <a:xfrm>
            <a:off x="1524450" y="1044700"/>
            <a:ext cx="6095100" cy="2647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tr" sz="2000">
                <a:solidFill>
                  <a:srgbClr val="B7B7B7"/>
                </a:solidFill>
                <a:latin typeface="Times New Roman"/>
                <a:ea typeface="Times New Roman"/>
                <a:cs typeface="Times New Roman"/>
                <a:sym typeface="Times New Roman"/>
              </a:rPr>
              <a:t>A graph database (GDB) is a database that uses graph structures for storing data. It uses nodes, edges, and properties instead of tables or documents to represent and store data. The edges represent relationships between the nodes. This helps in retrieving data more easily and, in many cases, with one operation. Graph databases are commonly referred to as NoSQL. Ex: Neo4j, Amazon Neptune, ArangoDB etc.</a:t>
            </a:r>
            <a:endParaRPr sz="2000">
              <a:solidFill>
                <a:srgbClr val="B7B7B7"/>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94"/>
        <p:cNvGrpSpPr/>
        <p:nvPr/>
      </p:nvGrpSpPr>
      <p:grpSpPr>
        <a:xfrm>
          <a:off x="0" y="0"/>
          <a:ext cx="0" cy="0"/>
          <a:chOff x="0" y="0"/>
          <a:chExt cx="0" cy="0"/>
        </a:xfrm>
      </p:grpSpPr>
      <p:sp>
        <p:nvSpPr>
          <p:cNvPr id="295" name="Google Shape;295;p16"/>
          <p:cNvSpPr txBox="1"/>
          <p:nvPr/>
        </p:nvSpPr>
        <p:spPr>
          <a:xfrm>
            <a:off x="1555050" y="209200"/>
            <a:ext cx="6033900" cy="646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tr" sz="3000" b="1">
                <a:solidFill>
                  <a:schemeClr val="lt1"/>
                </a:solidFill>
                <a:latin typeface="Times New Roman"/>
                <a:ea typeface="Times New Roman"/>
                <a:cs typeface="Times New Roman"/>
                <a:sym typeface="Times New Roman"/>
              </a:rPr>
              <a:t>When do we need Graph Database?</a:t>
            </a:r>
            <a:endParaRPr sz="3000" b="1">
              <a:solidFill>
                <a:schemeClr val="lt1"/>
              </a:solidFill>
              <a:latin typeface="Times New Roman"/>
              <a:ea typeface="Times New Roman"/>
              <a:cs typeface="Times New Roman"/>
              <a:sym typeface="Times New Roman"/>
            </a:endParaRPr>
          </a:p>
        </p:txBody>
      </p:sp>
      <p:sp>
        <p:nvSpPr>
          <p:cNvPr id="296" name="Google Shape;296;p16"/>
          <p:cNvSpPr txBox="1"/>
          <p:nvPr/>
        </p:nvSpPr>
        <p:spPr>
          <a:xfrm>
            <a:off x="953100" y="1342375"/>
            <a:ext cx="7237800" cy="1108200"/>
          </a:xfrm>
          <a:prstGeom prst="rect">
            <a:avLst/>
          </a:prstGeom>
          <a:noFill/>
          <a:ln>
            <a:noFill/>
          </a:ln>
        </p:spPr>
        <p:txBody>
          <a:bodyPr spcFirstLastPara="1" wrap="square" lIns="91425" tIns="91425" rIns="91425" bIns="91425" anchor="t" anchorCtr="0">
            <a:spAutoFit/>
          </a:bodyPr>
          <a:lstStyle/>
          <a:p>
            <a:pPr marL="457200" lvl="0" indent="-355600" algn="l" rtl="0">
              <a:spcBef>
                <a:spcPts val="0"/>
              </a:spcBef>
              <a:spcAft>
                <a:spcPts val="0"/>
              </a:spcAft>
              <a:buClr>
                <a:srgbClr val="B7B7B7"/>
              </a:buClr>
              <a:buSzPts val="2000"/>
              <a:buFont typeface="Times New Roman"/>
              <a:buChar char="●"/>
            </a:pPr>
            <a:r>
              <a:rPr lang="tr" sz="2000">
                <a:solidFill>
                  <a:srgbClr val="B7B7B7"/>
                </a:solidFill>
                <a:latin typeface="Times New Roman"/>
                <a:ea typeface="Times New Roman"/>
                <a:cs typeface="Times New Roman"/>
                <a:sym typeface="Times New Roman"/>
              </a:rPr>
              <a:t> It solves Many-To-Many relationship problems</a:t>
            </a:r>
            <a:endParaRPr sz="2000">
              <a:solidFill>
                <a:srgbClr val="B7B7B7"/>
              </a:solidFill>
              <a:latin typeface="Times New Roman"/>
              <a:ea typeface="Times New Roman"/>
              <a:cs typeface="Times New Roman"/>
              <a:sym typeface="Times New Roman"/>
            </a:endParaRPr>
          </a:p>
          <a:p>
            <a:pPr marL="457200" lvl="0" indent="-355600" algn="l" rtl="0">
              <a:spcBef>
                <a:spcPts val="0"/>
              </a:spcBef>
              <a:spcAft>
                <a:spcPts val="0"/>
              </a:spcAft>
              <a:buClr>
                <a:srgbClr val="B7B7B7"/>
              </a:buClr>
              <a:buSzPts val="2000"/>
              <a:buFont typeface="Times New Roman"/>
              <a:buChar char="●"/>
            </a:pPr>
            <a:r>
              <a:rPr lang="tr" sz="2000">
                <a:solidFill>
                  <a:srgbClr val="B7B7B7"/>
                </a:solidFill>
                <a:latin typeface="Times New Roman"/>
                <a:ea typeface="Times New Roman"/>
                <a:cs typeface="Times New Roman"/>
                <a:sym typeface="Times New Roman"/>
              </a:rPr>
              <a:t> When relationships between data elements are more important</a:t>
            </a:r>
            <a:endParaRPr sz="2000">
              <a:solidFill>
                <a:srgbClr val="B7B7B7"/>
              </a:solidFill>
              <a:latin typeface="Times New Roman"/>
              <a:ea typeface="Times New Roman"/>
              <a:cs typeface="Times New Roman"/>
              <a:sym typeface="Times New Roman"/>
            </a:endParaRPr>
          </a:p>
          <a:p>
            <a:pPr marL="457200" lvl="0" indent="-355600" algn="l" rtl="0">
              <a:spcBef>
                <a:spcPts val="0"/>
              </a:spcBef>
              <a:spcAft>
                <a:spcPts val="0"/>
              </a:spcAft>
              <a:buClr>
                <a:srgbClr val="B7B7B7"/>
              </a:buClr>
              <a:buSzPts val="2000"/>
              <a:buFont typeface="Times New Roman"/>
              <a:buChar char="●"/>
            </a:pPr>
            <a:r>
              <a:rPr lang="tr" sz="2000">
                <a:solidFill>
                  <a:srgbClr val="B7B7B7"/>
                </a:solidFill>
                <a:latin typeface="Times New Roman"/>
                <a:ea typeface="Times New Roman"/>
                <a:cs typeface="Times New Roman"/>
                <a:sym typeface="Times New Roman"/>
              </a:rPr>
              <a:t> Low latency with large scale data</a:t>
            </a:r>
            <a:endParaRPr sz="2000">
              <a:solidFill>
                <a:srgbClr val="B7B7B7"/>
              </a:solidFill>
              <a:latin typeface="Times New Roman"/>
              <a:ea typeface="Times New Roman"/>
              <a:cs typeface="Times New Roman"/>
              <a:sym typeface="Times New Roman"/>
            </a:endParaRPr>
          </a:p>
        </p:txBody>
      </p:sp>
      <p:sp>
        <p:nvSpPr>
          <p:cNvPr id="297" name="Google Shape;297;p16"/>
          <p:cNvSpPr txBox="1"/>
          <p:nvPr/>
        </p:nvSpPr>
        <p:spPr>
          <a:xfrm>
            <a:off x="953100" y="2834250"/>
            <a:ext cx="7237800" cy="1108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tr" sz="2000">
                <a:solidFill>
                  <a:srgbClr val="B7B7B7"/>
                </a:solidFill>
                <a:latin typeface="Times New Roman"/>
                <a:ea typeface="Times New Roman"/>
                <a:cs typeface="Times New Roman"/>
                <a:sym typeface="Times New Roman"/>
              </a:rPr>
              <a:t>!Graph databases aren't only used in situations with a large number of relationships. The question of whether you're constantly traversing between these relationships is a crucial criterion here.</a:t>
            </a:r>
            <a:endParaRPr sz="2000">
              <a:solidFill>
                <a:srgbClr val="B7B7B7"/>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1"/>
        <p:cNvGrpSpPr/>
        <p:nvPr/>
      </p:nvGrpSpPr>
      <p:grpSpPr>
        <a:xfrm>
          <a:off x="0" y="0"/>
          <a:ext cx="0" cy="0"/>
          <a:chOff x="0" y="0"/>
          <a:chExt cx="0" cy="0"/>
        </a:xfrm>
      </p:grpSpPr>
      <p:sp>
        <p:nvSpPr>
          <p:cNvPr id="302" name="Google Shape;302;p17"/>
          <p:cNvSpPr txBox="1"/>
          <p:nvPr/>
        </p:nvSpPr>
        <p:spPr>
          <a:xfrm>
            <a:off x="3708750" y="129825"/>
            <a:ext cx="1726500" cy="554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tr" sz="2400" b="1">
                <a:solidFill>
                  <a:schemeClr val="lt1"/>
                </a:solidFill>
                <a:latin typeface="Times New Roman"/>
                <a:ea typeface="Times New Roman"/>
                <a:cs typeface="Times New Roman"/>
                <a:sym typeface="Times New Roman"/>
              </a:rPr>
              <a:t>Difference?</a:t>
            </a:r>
            <a:endParaRPr sz="2400" b="1">
              <a:solidFill>
                <a:schemeClr val="lt1"/>
              </a:solidFill>
              <a:latin typeface="Times New Roman"/>
              <a:ea typeface="Times New Roman"/>
              <a:cs typeface="Times New Roman"/>
              <a:sym typeface="Times New Roman"/>
            </a:endParaRPr>
          </a:p>
        </p:txBody>
      </p:sp>
      <p:sp>
        <p:nvSpPr>
          <p:cNvPr id="303" name="Google Shape;303;p17"/>
          <p:cNvSpPr txBox="1"/>
          <p:nvPr/>
        </p:nvSpPr>
        <p:spPr>
          <a:xfrm>
            <a:off x="953100" y="1342375"/>
            <a:ext cx="7237800" cy="492600"/>
          </a:xfrm>
          <a:prstGeom prst="rect">
            <a:avLst/>
          </a:prstGeom>
          <a:noFill/>
          <a:ln>
            <a:noFill/>
          </a:ln>
        </p:spPr>
        <p:txBody>
          <a:bodyPr spcFirstLastPara="1" wrap="square" lIns="91425" tIns="91425" rIns="91425" bIns="91425" anchor="t" anchorCtr="0">
            <a:spAutoFit/>
          </a:bodyPr>
          <a:lstStyle/>
          <a:p>
            <a:pPr marL="457200" lvl="0" indent="0" algn="l" rtl="0">
              <a:spcBef>
                <a:spcPts val="0"/>
              </a:spcBef>
              <a:spcAft>
                <a:spcPts val="0"/>
              </a:spcAft>
              <a:buNone/>
            </a:pPr>
            <a:endParaRPr sz="2000">
              <a:solidFill>
                <a:srgbClr val="242424"/>
              </a:solidFill>
              <a:latin typeface="Times New Roman"/>
              <a:ea typeface="Times New Roman"/>
              <a:cs typeface="Times New Roman"/>
              <a:sym typeface="Times New Roman"/>
            </a:endParaRPr>
          </a:p>
        </p:txBody>
      </p:sp>
      <p:pic>
        <p:nvPicPr>
          <p:cNvPr id="304" name="Google Shape;304;p17"/>
          <p:cNvPicPr preferRelativeResize="0"/>
          <p:nvPr/>
        </p:nvPicPr>
        <p:blipFill>
          <a:blip r:embed="rId3">
            <a:alphaModFix/>
          </a:blip>
          <a:stretch>
            <a:fillRect/>
          </a:stretch>
        </p:blipFill>
        <p:spPr>
          <a:xfrm>
            <a:off x="1078800" y="683925"/>
            <a:ext cx="6986375" cy="4326924"/>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18"/>
          <p:cNvSpPr txBox="1"/>
          <p:nvPr/>
        </p:nvSpPr>
        <p:spPr>
          <a:xfrm>
            <a:off x="2277750" y="129825"/>
            <a:ext cx="4588500" cy="646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tr" sz="3000" b="1">
                <a:solidFill>
                  <a:schemeClr val="lt1"/>
                </a:solidFill>
                <a:latin typeface="Times New Roman"/>
                <a:ea typeface="Times New Roman"/>
                <a:cs typeface="Times New Roman"/>
                <a:sym typeface="Times New Roman"/>
              </a:rPr>
              <a:t>Types of Graph Databases</a:t>
            </a:r>
            <a:endParaRPr sz="3000" b="1">
              <a:solidFill>
                <a:schemeClr val="lt1"/>
              </a:solidFill>
              <a:latin typeface="Times New Roman"/>
              <a:ea typeface="Times New Roman"/>
              <a:cs typeface="Times New Roman"/>
              <a:sym typeface="Times New Roman"/>
            </a:endParaRPr>
          </a:p>
        </p:txBody>
      </p:sp>
      <p:sp>
        <p:nvSpPr>
          <p:cNvPr id="310" name="Google Shape;310;p18"/>
          <p:cNvSpPr txBox="1"/>
          <p:nvPr/>
        </p:nvSpPr>
        <p:spPr>
          <a:xfrm>
            <a:off x="1180050" y="1561100"/>
            <a:ext cx="1017900" cy="571800"/>
          </a:xfrm>
          <a:prstGeom prst="rect">
            <a:avLst/>
          </a:prstGeom>
          <a:noFill/>
          <a:ln>
            <a:noFill/>
          </a:ln>
        </p:spPr>
        <p:txBody>
          <a:bodyPr spcFirstLastPara="1" wrap="square" lIns="106125" tIns="106125" rIns="106125" bIns="106125" anchor="t" anchorCtr="0">
            <a:spAutoFit/>
          </a:bodyPr>
          <a:lstStyle/>
          <a:p>
            <a:pPr marL="0" lvl="0" indent="0" algn="l" rtl="0">
              <a:spcBef>
                <a:spcPts val="0"/>
              </a:spcBef>
              <a:spcAft>
                <a:spcPts val="0"/>
              </a:spcAft>
              <a:buNone/>
            </a:pPr>
            <a:r>
              <a:rPr lang="tr" sz="2322" b="1">
                <a:solidFill>
                  <a:srgbClr val="0000FF"/>
                </a:solidFill>
              </a:rPr>
              <a:t>Neo4j</a:t>
            </a:r>
            <a:endParaRPr sz="2322" b="1">
              <a:solidFill>
                <a:srgbClr val="0000FF"/>
              </a:solidFill>
            </a:endParaRPr>
          </a:p>
        </p:txBody>
      </p:sp>
      <p:sp>
        <p:nvSpPr>
          <p:cNvPr id="311" name="Google Shape;311;p18"/>
          <p:cNvSpPr txBox="1"/>
          <p:nvPr/>
        </p:nvSpPr>
        <p:spPr>
          <a:xfrm>
            <a:off x="3198139" y="1955098"/>
            <a:ext cx="1683900" cy="571800"/>
          </a:xfrm>
          <a:prstGeom prst="rect">
            <a:avLst/>
          </a:prstGeom>
          <a:noFill/>
          <a:ln>
            <a:noFill/>
          </a:ln>
        </p:spPr>
        <p:txBody>
          <a:bodyPr spcFirstLastPara="1" wrap="square" lIns="106125" tIns="106125" rIns="106125" bIns="106125" anchor="t" anchorCtr="0">
            <a:spAutoFit/>
          </a:bodyPr>
          <a:lstStyle/>
          <a:p>
            <a:pPr marL="0" lvl="0" indent="0" algn="l" rtl="0">
              <a:spcBef>
                <a:spcPts val="0"/>
              </a:spcBef>
              <a:spcAft>
                <a:spcPts val="0"/>
              </a:spcAft>
              <a:buNone/>
            </a:pPr>
            <a:r>
              <a:rPr lang="tr" sz="2322" b="1">
                <a:solidFill>
                  <a:srgbClr val="B7B7B7"/>
                </a:solidFill>
              </a:rPr>
              <a:t>ArangoDB</a:t>
            </a:r>
            <a:endParaRPr sz="2322" b="1">
              <a:solidFill>
                <a:srgbClr val="B7B7B7"/>
              </a:solidFill>
            </a:endParaRPr>
          </a:p>
        </p:txBody>
      </p:sp>
      <p:sp>
        <p:nvSpPr>
          <p:cNvPr id="312" name="Google Shape;312;p18"/>
          <p:cNvSpPr txBox="1"/>
          <p:nvPr/>
        </p:nvSpPr>
        <p:spPr>
          <a:xfrm>
            <a:off x="5593894" y="1383251"/>
            <a:ext cx="1281000" cy="571800"/>
          </a:xfrm>
          <a:prstGeom prst="rect">
            <a:avLst/>
          </a:prstGeom>
          <a:noFill/>
          <a:ln>
            <a:noFill/>
          </a:ln>
        </p:spPr>
        <p:txBody>
          <a:bodyPr spcFirstLastPara="1" wrap="square" lIns="106125" tIns="106125" rIns="106125" bIns="106125" anchor="t" anchorCtr="0">
            <a:spAutoFit/>
          </a:bodyPr>
          <a:lstStyle/>
          <a:p>
            <a:pPr marL="0" lvl="0" indent="0" algn="l" rtl="0">
              <a:spcBef>
                <a:spcPts val="0"/>
              </a:spcBef>
              <a:spcAft>
                <a:spcPts val="0"/>
              </a:spcAft>
              <a:buNone/>
            </a:pPr>
            <a:r>
              <a:rPr lang="tr" sz="2322" b="1">
                <a:solidFill>
                  <a:srgbClr val="B7B7B7"/>
                </a:solidFill>
              </a:rPr>
              <a:t>Dgraph</a:t>
            </a:r>
            <a:endParaRPr sz="2322" b="1">
              <a:solidFill>
                <a:srgbClr val="B7B7B7"/>
              </a:solidFill>
            </a:endParaRPr>
          </a:p>
        </p:txBody>
      </p:sp>
      <p:sp>
        <p:nvSpPr>
          <p:cNvPr id="313" name="Google Shape;313;p18"/>
          <p:cNvSpPr txBox="1"/>
          <p:nvPr/>
        </p:nvSpPr>
        <p:spPr>
          <a:xfrm>
            <a:off x="1617723" y="3290628"/>
            <a:ext cx="1580400" cy="571800"/>
          </a:xfrm>
          <a:prstGeom prst="rect">
            <a:avLst/>
          </a:prstGeom>
          <a:noFill/>
          <a:ln>
            <a:noFill/>
          </a:ln>
        </p:spPr>
        <p:txBody>
          <a:bodyPr spcFirstLastPara="1" wrap="square" lIns="106125" tIns="106125" rIns="106125" bIns="106125" anchor="t" anchorCtr="0">
            <a:spAutoFit/>
          </a:bodyPr>
          <a:lstStyle/>
          <a:p>
            <a:pPr marL="0" lvl="0" indent="0" algn="l" rtl="0">
              <a:spcBef>
                <a:spcPts val="0"/>
              </a:spcBef>
              <a:spcAft>
                <a:spcPts val="0"/>
              </a:spcAft>
              <a:buNone/>
            </a:pPr>
            <a:r>
              <a:rPr lang="tr" sz="2322" b="1">
                <a:solidFill>
                  <a:srgbClr val="B7B7B7"/>
                </a:solidFill>
              </a:rPr>
              <a:t>OrientDB</a:t>
            </a:r>
            <a:endParaRPr sz="2322" b="1">
              <a:solidFill>
                <a:srgbClr val="B7B7B7"/>
              </a:solidFill>
            </a:endParaRPr>
          </a:p>
        </p:txBody>
      </p:sp>
      <p:sp>
        <p:nvSpPr>
          <p:cNvPr id="314" name="Google Shape;314;p18"/>
          <p:cNvSpPr txBox="1"/>
          <p:nvPr/>
        </p:nvSpPr>
        <p:spPr>
          <a:xfrm>
            <a:off x="4881988" y="3290628"/>
            <a:ext cx="2087100" cy="571800"/>
          </a:xfrm>
          <a:prstGeom prst="rect">
            <a:avLst/>
          </a:prstGeom>
          <a:noFill/>
          <a:ln>
            <a:noFill/>
          </a:ln>
        </p:spPr>
        <p:txBody>
          <a:bodyPr spcFirstLastPara="1" wrap="square" lIns="106125" tIns="106125" rIns="106125" bIns="106125" anchor="t" anchorCtr="0">
            <a:spAutoFit/>
          </a:bodyPr>
          <a:lstStyle/>
          <a:p>
            <a:pPr marL="0" lvl="0" indent="0" algn="l" rtl="0">
              <a:spcBef>
                <a:spcPts val="0"/>
              </a:spcBef>
              <a:spcAft>
                <a:spcPts val="0"/>
              </a:spcAft>
              <a:buNone/>
            </a:pPr>
            <a:r>
              <a:rPr lang="tr" sz="2322" b="1">
                <a:solidFill>
                  <a:srgbClr val="B7B7B7"/>
                </a:solidFill>
              </a:rPr>
              <a:t>TigerGraph</a:t>
            </a:r>
            <a:endParaRPr sz="2322" b="1">
              <a:solidFill>
                <a:srgbClr val="B7B7B7"/>
              </a:solidFill>
            </a:endParaRPr>
          </a:p>
        </p:txBody>
      </p:sp>
      <p:sp>
        <p:nvSpPr>
          <p:cNvPr id="315" name="Google Shape;315;p18"/>
          <p:cNvSpPr txBox="1"/>
          <p:nvPr/>
        </p:nvSpPr>
        <p:spPr>
          <a:xfrm>
            <a:off x="6298175" y="2376550"/>
            <a:ext cx="2402700" cy="538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tr" sz="2300" b="1">
                <a:solidFill>
                  <a:srgbClr val="B7B7B7"/>
                </a:solidFill>
              </a:rPr>
              <a:t>HyperGraphDB</a:t>
            </a:r>
            <a:endParaRPr sz="2300" b="1">
              <a:solidFill>
                <a:srgbClr val="B7B7B7"/>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19"/>
        <p:cNvGrpSpPr/>
        <p:nvPr/>
      </p:nvGrpSpPr>
      <p:grpSpPr>
        <a:xfrm>
          <a:off x="0" y="0"/>
          <a:ext cx="0" cy="0"/>
          <a:chOff x="0" y="0"/>
          <a:chExt cx="0" cy="0"/>
        </a:xfrm>
      </p:grpSpPr>
      <p:sp>
        <p:nvSpPr>
          <p:cNvPr id="320" name="Google Shape;320;p19"/>
          <p:cNvSpPr txBox="1"/>
          <p:nvPr/>
        </p:nvSpPr>
        <p:spPr>
          <a:xfrm>
            <a:off x="3838950" y="110375"/>
            <a:ext cx="1466100" cy="646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tr" sz="3000" b="1">
                <a:solidFill>
                  <a:schemeClr val="lt1"/>
                </a:solidFill>
                <a:latin typeface="Times New Roman"/>
                <a:ea typeface="Times New Roman"/>
                <a:cs typeface="Times New Roman"/>
                <a:sym typeface="Times New Roman"/>
              </a:rPr>
              <a:t>NEO4J</a:t>
            </a:r>
            <a:endParaRPr sz="3000" b="1">
              <a:solidFill>
                <a:schemeClr val="lt1"/>
              </a:solidFill>
              <a:latin typeface="Times New Roman"/>
              <a:ea typeface="Times New Roman"/>
              <a:cs typeface="Times New Roman"/>
              <a:sym typeface="Times New Roman"/>
            </a:endParaRPr>
          </a:p>
        </p:txBody>
      </p:sp>
      <p:sp>
        <p:nvSpPr>
          <p:cNvPr id="321" name="Google Shape;321;p19"/>
          <p:cNvSpPr txBox="1"/>
          <p:nvPr/>
        </p:nvSpPr>
        <p:spPr>
          <a:xfrm>
            <a:off x="893100" y="1053575"/>
            <a:ext cx="7357800" cy="2647500"/>
          </a:xfrm>
          <a:prstGeom prst="rect">
            <a:avLst/>
          </a:prstGeom>
          <a:noFill/>
          <a:ln>
            <a:noFill/>
          </a:ln>
        </p:spPr>
        <p:txBody>
          <a:bodyPr spcFirstLastPara="1" wrap="square" lIns="91425" tIns="91425" rIns="91425" bIns="91425" anchor="t" anchorCtr="0">
            <a:spAutoFit/>
          </a:bodyPr>
          <a:lstStyle/>
          <a:p>
            <a:pPr marL="457200" lvl="0" indent="-355600" algn="l" rtl="0">
              <a:spcBef>
                <a:spcPts val="0"/>
              </a:spcBef>
              <a:spcAft>
                <a:spcPts val="0"/>
              </a:spcAft>
              <a:buClr>
                <a:srgbClr val="B7B7B7"/>
              </a:buClr>
              <a:buSzPts val="2000"/>
              <a:buChar char="●"/>
            </a:pPr>
            <a:r>
              <a:rPr lang="tr" sz="2000" b="1">
                <a:solidFill>
                  <a:srgbClr val="B7B7B7"/>
                </a:solidFill>
              </a:rPr>
              <a:t>Cypher was developed by Neo4j and has now become an ISO standard (GQL).</a:t>
            </a:r>
            <a:endParaRPr sz="2000" b="1">
              <a:solidFill>
                <a:srgbClr val="B7B7B7"/>
              </a:solidFill>
            </a:endParaRPr>
          </a:p>
          <a:p>
            <a:pPr marL="457200" lvl="0" indent="-355600" algn="l" rtl="0">
              <a:spcBef>
                <a:spcPts val="0"/>
              </a:spcBef>
              <a:spcAft>
                <a:spcPts val="0"/>
              </a:spcAft>
              <a:buClr>
                <a:srgbClr val="B7B7B7"/>
              </a:buClr>
              <a:buSzPts val="2000"/>
              <a:buChar char="●"/>
            </a:pPr>
            <a:r>
              <a:rPr lang="tr" sz="2000" b="1">
                <a:solidFill>
                  <a:srgbClr val="B7B7B7"/>
                </a:solidFill>
              </a:rPr>
              <a:t>Neo4j is the most widely used graph database in production, boasting the largest community and the most mature toolset.</a:t>
            </a:r>
            <a:endParaRPr sz="2000" b="1">
              <a:solidFill>
                <a:srgbClr val="B7B7B7"/>
              </a:solidFill>
            </a:endParaRPr>
          </a:p>
          <a:p>
            <a:pPr marL="457200" lvl="0" indent="-355600" algn="l" rtl="0">
              <a:spcBef>
                <a:spcPts val="0"/>
              </a:spcBef>
              <a:spcAft>
                <a:spcPts val="0"/>
              </a:spcAft>
              <a:buClr>
                <a:srgbClr val="B7B7B7"/>
              </a:buClr>
              <a:buSzPts val="2000"/>
              <a:buChar char="●"/>
            </a:pPr>
            <a:r>
              <a:rPr lang="tr" sz="2000" b="1">
                <a:solidFill>
                  <a:srgbClr val="B7B7B7"/>
                </a:solidFill>
              </a:rPr>
              <a:t>APOC</a:t>
            </a:r>
            <a:endParaRPr sz="2000" b="1">
              <a:solidFill>
                <a:srgbClr val="B7B7B7"/>
              </a:solidFill>
            </a:endParaRPr>
          </a:p>
          <a:p>
            <a:pPr marL="457200" lvl="0" indent="-355600" algn="l" rtl="0">
              <a:spcBef>
                <a:spcPts val="0"/>
              </a:spcBef>
              <a:spcAft>
                <a:spcPts val="0"/>
              </a:spcAft>
              <a:buClr>
                <a:srgbClr val="B7B7B7"/>
              </a:buClr>
              <a:buSzPts val="2000"/>
              <a:buChar char="●"/>
            </a:pPr>
            <a:r>
              <a:rPr lang="tr" sz="2000" b="1">
                <a:solidFill>
                  <a:srgbClr val="B7B7B7"/>
                </a:solidFill>
              </a:rPr>
              <a:t>It offers a powerful toolset, including Neo4j Aura (managed cloud), Neo4j Desktop, and Neo4j Browser.</a:t>
            </a:r>
            <a:endParaRPr sz="2000" b="1">
              <a:solidFill>
                <a:srgbClr val="B7B7B7"/>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p:sp>
        <p:nvSpPr>
          <p:cNvPr id="326" name="Google Shape;326;p20"/>
          <p:cNvSpPr txBox="1"/>
          <p:nvPr/>
        </p:nvSpPr>
        <p:spPr>
          <a:xfrm>
            <a:off x="3633000" y="2248500"/>
            <a:ext cx="1878000" cy="646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tr" sz="3000" b="1">
                <a:solidFill>
                  <a:schemeClr val="lt1"/>
                </a:solidFill>
                <a:latin typeface="Times New Roman"/>
                <a:ea typeface="Times New Roman"/>
                <a:cs typeface="Times New Roman"/>
                <a:sym typeface="Times New Roman"/>
              </a:rPr>
              <a:t>CYPHER</a:t>
            </a:r>
            <a:endParaRPr sz="3000" b="1">
              <a:solidFill>
                <a:schemeClr val="lt1"/>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30"/>
        <p:cNvGrpSpPr/>
        <p:nvPr/>
      </p:nvGrpSpPr>
      <p:grpSpPr>
        <a:xfrm>
          <a:off x="0" y="0"/>
          <a:ext cx="0" cy="0"/>
          <a:chOff x="0" y="0"/>
          <a:chExt cx="0" cy="0"/>
        </a:xfrm>
      </p:grpSpPr>
      <p:pic>
        <p:nvPicPr>
          <p:cNvPr id="331" name="Google Shape;331;p21"/>
          <p:cNvPicPr preferRelativeResize="0"/>
          <p:nvPr/>
        </p:nvPicPr>
        <p:blipFill>
          <a:blip r:embed="rId3">
            <a:alphaModFix/>
          </a:blip>
          <a:stretch>
            <a:fillRect/>
          </a:stretch>
        </p:blipFill>
        <p:spPr>
          <a:xfrm>
            <a:off x="0" y="0"/>
            <a:ext cx="9144001" cy="51435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35"/>
        <p:cNvGrpSpPr/>
        <p:nvPr/>
      </p:nvGrpSpPr>
      <p:grpSpPr>
        <a:xfrm>
          <a:off x="0" y="0"/>
          <a:ext cx="0" cy="0"/>
          <a:chOff x="0" y="0"/>
          <a:chExt cx="0" cy="0"/>
        </a:xfrm>
      </p:grpSpPr>
      <p:pic>
        <p:nvPicPr>
          <p:cNvPr id="336" name="Google Shape;336;p22"/>
          <p:cNvPicPr preferRelativeResize="0"/>
          <p:nvPr/>
        </p:nvPicPr>
        <p:blipFill>
          <a:blip r:embed="rId3">
            <a:alphaModFix/>
          </a:blip>
          <a:stretch>
            <a:fillRect/>
          </a:stretch>
        </p:blipFill>
        <p:spPr>
          <a:xfrm>
            <a:off x="0" y="0"/>
            <a:ext cx="9144000" cy="5143499"/>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242424"/>
        </a:solidFill>
        <a:effectLst/>
      </p:bgPr>
    </p:bg>
    <p:spTree>
      <p:nvGrpSpPr>
        <p:cNvPr id="1" name="Shape 340"/>
        <p:cNvGrpSpPr/>
        <p:nvPr/>
      </p:nvGrpSpPr>
      <p:grpSpPr>
        <a:xfrm>
          <a:off x="0" y="0"/>
          <a:ext cx="0" cy="0"/>
          <a:chOff x="0" y="0"/>
          <a:chExt cx="0" cy="0"/>
        </a:xfrm>
      </p:grpSpPr>
      <p:pic>
        <p:nvPicPr>
          <p:cNvPr id="341" name="Google Shape;341;p23"/>
          <p:cNvPicPr preferRelativeResize="0"/>
          <p:nvPr/>
        </p:nvPicPr>
        <p:blipFill>
          <a:blip r:embed="rId3">
            <a:alphaModFix/>
          </a:blip>
          <a:stretch>
            <a:fillRect/>
          </a:stretch>
        </p:blipFill>
        <p:spPr>
          <a:xfrm>
            <a:off x="2097150" y="0"/>
            <a:ext cx="4949700" cy="51435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45"/>
        <p:cNvGrpSpPr/>
        <p:nvPr/>
      </p:nvGrpSpPr>
      <p:grpSpPr>
        <a:xfrm>
          <a:off x="0" y="0"/>
          <a:ext cx="0" cy="0"/>
          <a:chOff x="0" y="0"/>
          <a:chExt cx="0" cy="0"/>
        </a:xfrm>
      </p:grpSpPr>
      <p:sp>
        <p:nvSpPr>
          <p:cNvPr id="346" name="Google Shape;346;p24"/>
          <p:cNvSpPr txBox="1"/>
          <p:nvPr/>
        </p:nvSpPr>
        <p:spPr>
          <a:xfrm>
            <a:off x="762000" y="238125"/>
            <a:ext cx="7620000" cy="431100"/>
          </a:xfrm>
          <a:prstGeom prst="rect">
            <a:avLst/>
          </a:prstGeom>
          <a:solidFill>
            <a:srgbClr val="000000">
              <a:alpha val="0"/>
            </a:srgbClr>
          </a:solidFill>
          <a:ln>
            <a:noFill/>
          </a:ln>
        </p:spPr>
        <p:txBody>
          <a:bodyPr spcFirstLastPara="1" wrap="square" lIns="0" tIns="0" rIns="0" bIns="0" anchor="ctr" anchorCtr="0">
            <a:spAutoFit/>
          </a:bodyPr>
          <a:lstStyle/>
          <a:p>
            <a:pPr marL="0" lvl="0" indent="0" algn="ctr" rtl="0">
              <a:spcBef>
                <a:spcPts val="0"/>
              </a:spcBef>
              <a:spcAft>
                <a:spcPts val="0"/>
              </a:spcAft>
              <a:buNone/>
            </a:pPr>
            <a:r>
              <a:rPr lang="tr" sz="2800" b="0">
                <a:solidFill>
                  <a:srgbClr val="FFFFFF"/>
                </a:solidFill>
                <a:latin typeface="Inter ExtraBold"/>
                <a:ea typeface="Inter ExtraBold"/>
                <a:cs typeface="Inter ExtraBold"/>
                <a:sym typeface="Inter ExtraBold"/>
              </a:rPr>
              <a:t>MySQL </a:t>
            </a:r>
            <a:r>
              <a:rPr lang="tr" sz="2800" b="0">
                <a:solidFill>
                  <a:srgbClr val="F1C232"/>
                </a:solidFill>
                <a:latin typeface="Inter ExtraBold"/>
                <a:ea typeface="Inter ExtraBold"/>
                <a:cs typeface="Inter ExtraBold"/>
                <a:sym typeface="Inter ExtraBold"/>
              </a:rPr>
              <a:t>➔</a:t>
            </a:r>
            <a:r>
              <a:rPr lang="tr" sz="2800" b="0">
                <a:solidFill>
                  <a:srgbClr val="FFFFFF"/>
                </a:solidFill>
                <a:latin typeface="Inter ExtraBold"/>
                <a:ea typeface="Inter ExtraBold"/>
                <a:cs typeface="Inter ExtraBold"/>
                <a:sym typeface="Inter ExtraBold"/>
              </a:rPr>
              <a:t> Neo4j</a:t>
            </a:r>
            <a:endParaRPr sz="2800" b="0">
              <a:solidFill>
                <a:srgbClr val="FFFFFF"/>
              </a:solidFill>
              <a:latin typeface="Inter ExtraBold"/>
              <a:ea typeface="Inter ExtraBold"/>
              <a:cs typeface="Inter ExtraBold"/>
              <a:sym typeface="Inter ExtraBold"/>
            </a:endParaRPr>
          </a:p>
        </p:txBody>
      </p:sp>
      <p:sp>
        <p:nvSpPr>
          <p:cNvPr id="347" name="Google Shape;347;p24"/>
          <p:cNvSpPr txBox="1"/>
          <p:nvPr/>
        </p:nvSpPr>
        <p:spPr>
          <a:xfrm>
            <a:off x="3619500" y="857250"/>
            <a:ext cx="1905000" cy="254100"/>
          </a:xfrm>
          <a:prstGeom prst="rect">
            <a:avLst/>
          </a:prstGeom>
          <a:solidFill>
            <a:srgbClr val="000000">
              <a:alpha val="0"/>
            </a:srgbClr>
          </a:solidFill>
          <a:ln>
            <a:noFill/>
          </a:ln>
        </p:spPr>
        <p:txBody>
          <a:bodyPr spcFirstLastPara="1" wrap="square" lIns="95250" tIns="19050" rIns="95250" bIns="19050" anchor="ctr" anchorCtr="0">
            <a:spAutoFit/>
          </a:bodyPr>
          <a:lstStyle/>
          <a:p>
            <a:pPr marL="0" lvl="0" indent="0" algn="ctr" rtl="0">
              <a:spcBef>
                <a:spcPts val="0"/>
              </a:spcBef>
              <a:spcAft>
                <a:spcPts val="0"/>
              </a:spcAft>
              <a:buNone/>
            </a:pPr>
            <a:r>
              <a:rPr lang="tr" sz="1400" b="1">
                <a:solidFill>
                  <a:srgbClr val="111827"/>
                </a:solidFill>
                <a:highlight>
                  <a:srgbClr val="F1C232"/>
                </a:highlight>
                <a:latin typeface="Inter"/>
                <a:ea typeface="Inter"/>
                <a:cs typeface="Inter"/>
                <a:sym typeface="Inter"/>
              </a:rPr>
              <a:t>NDJSON</a:t>
            </a:r>
            <a:endParaRPr sz="1400" b="1">
              <a:solidFill>
                <a:srgbClr val="111827"/>
              </a:solidFill>
              <a:highlight>
                <a:srgbClr val="F1C232"/>
              </a:highlight>
              <a:latin typeface="Inter"/>
              <a:ea typeface="Inter"/>
              <a:cs typeface="Inter"/>
              <a:sym typeface="Inter"/>
            </a:endParaRPr>
          </a:p>
        </p:txBody>
      </p:sp>
      <p:sp>
        <p:nvSpPr>
          <p:cNvPr id="348" name="Google Shape;348;p24"/>
          <p:cNvSpPr txBox="1"/>
          <p:nvPr/>
        </p:nvSpPr>
        <p:spPr>
          <a:xfrm>
            <a:off x="571500" y="1524000"/>
            <a:ext cx="2476500" cy="846600"/>
          </a:xfrm>
          <a:prstGeom prst="rect">
            <a:avLst/>
          </a:prstGeom>
          <a:solidFill>
            <a:srgbClr val="FFFFFF">
              <a:alpha val="10000"/>
            </a:srgbClr>
          </a:solidFill>
          <a:ln w="14300" cap="flat" cmpd="sng">
            <a:solidFill>
              <a:srgbClr val="FFFFFF">
                <a:alpha val="20000"/>
              </a:srgbClr>
            </a:solidFill>
            <a:prstDash val="solid"/>
            <a:round/>
            <a:headEnd type="none" w="sm" len="sm"/>
            <a:tailEnd type="none" w="sm" len="sm"/>
          </a:ln>
        </p:spPr>
        <p:txBody>
          <a:bodyPr spcFirstLastPara="1" wrap="square" lIns="190500" tIns="190500" rIns="190500" bIns="190500" anchor="ctr" anchorCtr="0">
            <a:spAutoFit/>
          </a:bodyPr>
          <a:lstStyle/>
          <a:p>
            <a:pPr marL="0" lvl="0" indent="0" algn="l" rtl="0">
              <a:spcBef>
                <a:spcPts val="0"/>
              </a:spcBef>
              <a:spcAft>
                <a:spcPts val="0"/>
              </a:spcAft>
              <a:buNone/>
            </a:pPr>
            <a:r>
              <a:rPr lang="tr" sz="1500" b="0">
                <a:solidFill>
                  <a:srgbClr val="FFFFFF"/>
                </a:solidFill>
                <a:latin typeface="Inter SemiBold"/>
                <a:ea typeface="Inter SemiBold"/>
                <a:cs typeface="Inter SemiBold"/>
                <a:sym typeface="Inter SemiBold"/>
              </a:rPr>
              <a:t>Machine Learning and AI Training Data</a:t>
            </a:r>
            <a:endParaRPr sz="1500" b="0">
              <a:solidFill>
                <a:srgbClr val="FFFFFF"/>
              </a:solidFill>
              <a:latin typeface="Inter SemiBold"/>
              <a:ea typeface="Inter SemiBold"/>
              <a:cs typeface="Inter SemiBold"/>
              <a:sym typeface="Inter SemiBold"/>
            </a:endParaRPr>
          </a:p>
        </p:txBody>
      </p:sp>
      <p:sp>
        <p:nvSpPr>
          <p:cNvPr id="349" name="Google Shape;349;p24"/>
          <p:cNvSpPr txBox="1"/>
          <p:nvPr/>
        </p:nvSpPr>
        <p:spPr>
          <a:xfrm>
            <a:off x="3333750" y="1524000"/>
            <a:ext cx="2476500" cy="615600"/>
          </a:xfrm>
          <a:prstGeom prst="rect">
            <a:avLst/>
          </a:prstGeom>
          <a:solidFill>
            <a:srgbClr val="FFFFFF">
              <a:alpha val="10000"/>
            </a:srgbClr>
          </a:solidFill>
          <a:ln w="14300" cap="flat" cmpd="sng">
            <a:solidFill>
              <a:srgbClr val="FFFFFF">
                <a:alpha val="20000"/>
              </a:srgbClr>
            </a:solidFill>
            <a:prstDash val="solid"/>
            <a:round/>
            <a:headEnd type="none" w="sm" len="sm"/>
            <a:tailEnd type="none" w="sm" len="sm"/>
          </a:ln>
        </p:spPr>
        <p:txBody>
          <a:bodyPr spcFirstLastPara="1" wrap="square" lIns="190500" tIns="190500" rIns="190500" bIns="190500" anchor="ctr" anchorCtr="0">
            <a:spAutoFit/>
          </a:bodyPr>
          <a:lstStyle/>
          <a:p>
            <a:pPr marL="0" lvl="0" indent="0" algn="l" rtl="0">
              <a:spcBef>
                <a:spcPts val="0"/>
              </a:spcBef>
              <a:spcAft>
                <a:spcPts val="0"/>
              </a:spcAft>
              <a:buNone/>
            </a:pPr>
            <a:r>
              <a:rPr lang="tr" sz="1500" b="0">
                <a:solidFill>
                  <a:srgbClr val="FFFFFF"/>
                </a:solidFill>
                <a:latin typeface="Inter SemiBold"/>
                <a:ea typeface="Inter SemiBold"/>
                <a:cs typeface="Inter SemiBold"/>
                <a:sym typeface="Inter SemiBold"/>
              </a:rPr>
              <a:t>Application Logging</a:t>
            </a:r>
            <a:endParaRPr sz="1500" b="0">
              <a:solidFill>
                <a:srgbClr val="FFFFFF"/>
              </a:solidFill>
              <a:latin typeface="Inter SemiBold"/>
              <a:ea typeface="Inter SemiBold"/>
              <a:cs typeface="Inter SemiBold"/>
              <a:sym typeface="Inter SemiBold"/>
            </a:endParaRPr>
          </a:p>
        </p:txBody>
      </p:sp>
      <p:sp>
        <p:nvSpPr>
          <p:cNvPr id="350" name="Google Shape;350;p24"/>
          <p:cNvSpPr txBox="1"/>
          <p:nvPr/>
        </p:nvSpPr>
        <p:spPr>
          <a:xfrm>
            <a:off x="6096000" y="1524000"/>
            <a:ext cx="2476500" cy="615600"/>
          </a:xfrm>
          <a:prstGeom prst="rect">
            <a:avLst/>
          </a:prstGeom>
          <a:solidFill>
            <a:srgbClr val="FFFFFF">
              <a:alpha val="10000"/>
            </a:srgbClr>
          </a:solidFill>
          <a:ln w="14300" cap="flat" cmpd="sng">
            <a:solidFill>
              <a:srgbClr val="FFFFFF">
                <a:alpha val="20000"/>
              </a:srgbClr>
            </a:solidFill>
            <a:prstDash val="solid"/>
            <a:round/>
            <a:headEnd type="none" w="sm" len="sm"/>
            <a:tailEnd type="none" w="sm" len="sm"/>
          </a:ln>
        </p:spPr>
        <p:txBody>
          <a:bodyPr spcFirstLastPara="1" wrap="square" lIns="190500" tIns="190500" rIns="190500" bIns="190500" anchor="ctr" anchorCtr="0">
            <a:spAutoFit/>
          </a:bodyPr>
          <a:lstStyle/>
          <a:p>
            <a:pPr marL="0" lvl="0" indent="0" algn="l" rtl="0">
              <a:spcBef>
                <a:spcPts val="0"/>
              </a:spcBef>
              <a:spcAft>
                <a:spcPts val="0"/>
              </a:spcAft>
              <a:buNone/>
            </a:pPr>
            <a:r>
              <a:rPr lang="tr" sz="1500" b="0">
                <a:solidFill>
                  <a:srgbClr val="FFFFFF"/>
                </a:solidFill>
                <a:latin typeface="Inter SemiBold"/>
                <a:ea typeface="Inter SemiBold"/>
                <a:cs typeface="Inter SemiBold"/>
                <a:sym typeface="Inter SemiBold"/>
              </a:rPr>
              <a:t>Big Data Pipelines</a:t>
            </a:r>
            <a:endParaRPr sz="1500" b="0">
              <a:solidFill>
                <a:srgbClr val="FFFFFF"/>
              </a:solidFill>
              <a:latin typeface="Inter SemiBold"/>
              <a:ea typeface="Inter SemiBold"/>
              <a:cs typeface="Inter SemiBold"/>
              <a:sym typeface="Inter SemiBold"/>
            </a:endParaRPr>
          </a:p>
        </p:txBody>
      </p:sp>
      <p:sp>
        <p:nvSpPr>
          <p:cNvPr id="351" name="Google Shape;351;p24"/>
          <p:cNvSpPr txBox="1"/>
          <p:nvPr/>
        </p:nvSpPr>
        <p:spPr>
          <a:xfrm>
            <a:off x="571500" y="2952750"/>
            <a:ext cx="2476500" cy="615600"/>
          </a:xfrm>
          <a:prstGeom prst="rect">
            <a:avLst/>
          </a:prstGeom>
          <a:solidFill>
            <a:srgbClr val="FFFFFF">
              <a:alpha val="10000"/>
            </a:srgbClr>
          </a:solidFill>
          <a:ln w="14300" cap="flat" cmpd="sng">
            <a:solidFill>
              <a:srgbClr val="FFFFFF">
                <a:alpha val="20000"/>
              </a:srgbClr>
            </a:solidFill>
            <a:prstDash val="solid"/>
            <a:round/>
            <a:headEnd type="none" w="sm" len="sm"/>
            <a:tailEnd type="none" w="sm" len="sm"/>
          </a:ln>
        </p:spPr>
        <p:txBody>
          <a:bodyPr spcFirstLastPara="1" wrap="square" lIns="190500" tIns="190500" rIns="190500" bIns="190500" anchor="ctr" anchorCtr="0">
            <a:spAutoFit/>
          </a:bodyPr>
          <a:lstStyle/>
          <a:p>
            <a:pPr marL="0" lvl="0" indent="0" algn="l" rtl="0">
              <a:spcBef>
                <a:spcPts val="0"/>
              </a:spcBef>
              <a:spcAft>
                <a:spcPts val="0"/>
              </a:spcAft>
              <a:buNone/>
            </a:pPr>
            <a:r>
              <a:rPr lang="tr" sz="1500" b="0">
                <a:solidFill>
                  <a:srgbClr val="FFFFFF"/>
                </a:solidFill>
                <a:latin typeface="Inter SemiBold"/>
                <a:ea typeface="Inter SemiBold"/>
                <a:cs typeface="Inter SemiBold"/>
                <a:sym typeface="Inter SemiBold"/>
              </a:rPr>
              <a:t>Streaming Data</a:t>
            </a:r>
            <a:endParaRPr sz="1500" b="0">
              <a:solidFill>
                <a:srgbClr val="FFFFFF"/>
              </a:solidFill>
              <a:latin typeface="Inter SemiBold"/>
              <a:ea typeface="Inter SemiBold"/>
              <a:cs typeface="Inter SemiBold"/>
              <a:sym typeface="Inter SemiBold"/>
            </a:endParaRPr>
          </a:p>
        </p:txBody>
      </p:sp>
      <p:sp>
        <p:nvSpPr>
          <p:cNvPr id="352" name="Google Shape;352;p24"/>
          <p:cNvSpPr txBox="1"/>
          <p:nvPr/>
        </p:nvSpPr>
        <p:spPr>
          <a:xfrm>
            <a:off x="3333750" y="2952750"/>
            <a:ext cx="2476500" cy="846600"/>
          </a:xfrm>
          <a:prstGeom prst="rect">
            <a:avLst/>
          </a:prstGeom>
          <a:solidFill>
            <a:srgbClr val="FFFFFF">
              <a:alpha val="10000"/>
            </a:srgbClr>
          </a:solidFill>
          <a:ln w="14300" cap="flat" cmpd="sng">
            <a:solidFill>
              <a:srgbClr val="FFFFFF">
                <a:alpha val="20000"/>
              </a:srgbClr>
            </a:solidFill>
            <a:prstDash val="solid"/>
            <a:round/>
            <a:headEnd type="none" w="sm" len="sm"/>
            <a:tailEnd type="none" w="sm" len="sm"/>
          </a:ln>
        </p:spPr>
        <p:txBody>
          <a:bodyPr spcFirstLastPara="1" wrap="square" lIns="190500" tIns="190500" rIns="190500" bIns="190500" anchor="ctr" anchorCtr="0">
            <a:spAutoFit/>
          </a:bodyPr>
          <a:lstStyle/>
          <a:p>
            <a:pPr marL="0" lvl="0" indent="0" algn="l" rtl="0">
              <a:spcBef>
                <a:spcPts val="0"/>
              </a:spcBef>
              <a:spcAft>
                <a:spcPts val="0"/>
              </a:spcAft>
              <a:buNone/>
            </a:pPr>
            <a:r>
              <a:rPr lang="tr" sz="1500" b="0">
                <a:solidFill>
                  <a:srgbClr val="FFFFFF"/>
                </a:solidFill>
                <a:latin typeface="Inter SemiBold"/>
                <a:ea typeface="Inter SemiBold"/>
                <a:cs typeface="Inter SemiBold"/>
                <a:sym typeface="Inter SemiBold"/>
              </a:rPr>
              <a:t>Streaming APIs and Bulk Exports</a:t>
            </a:r>
            <a:endParaRPr sz="1500" b="0">
              <a:solidFill>
                <a:srgbClr val="FFFFFF"/>
              </a:solidFill>
              <a:latin typeface="Inter SemiBold"/>
              <a:ea typeface="Inter SemiBold"/>
              <a:cs typeface="Inter SemiBold"/>
              <a:sym typeface="Inter SemiBold"/>
            </a:endParaRPr>
          </a:p>
        </p:txBody>
      </p:sp>
      <p:sp>
        <p:nvSpPr>
          <p:cNvPr id="353" name="Google Shape;353;p24"/>
          <p:cNvSpPr txBox="1"/>
          <p:nvPr/>
        </p:nvSpPr>
        <p:spPr>
          <a:xfrm>
            <a:off x="6096000" y="2952750"/>
            <a:ext cx="2476500" cy="615600"/>
          </a:xfrm>
          <a:prstGeom prst="rect">
            <a:avLst/>
          </a:prstGeom>
          <a:solidFill>
            <a:srgbClr val="FFFFFF">
              <a:alpha val="10000"/>
            </a:srgbClr>
          </a:solidFill>
          <a:ln w="14300" cap="flat" cmpd="sng">
            <a:solidFill>
              <a:srgbClr val="FFFFFF">
                <a:alpha val="20000"/>
              </a:srgbClr>
            </a:solidFill>
            <a:prstDash val="solid"/>
            <a:round/>
            <a:headEnd type="none" w="sm" len="sm"/>
            <a:tailEnd type="none" w="sm" len="sm"/>
          </a:ln>
        </p:spPr>
        <p:txBody>
          <a:bodyPr spcFirstLastPara="1" wrap="square" lIns="190500" tIns="190500" rIns="190500" bIns="190500" anchor="ctr" anchorCtr="0">
            <a:spAutoFit/>
          </a:bodyPr>
          <a:lstStyle/>
          <a:p>
            <a:pPr marL="0" lvl="0" indent="0" algn="l" rtl="0">
              <a:spcBef>
                <a:spcPts val="0"/>
              </a:spcBef>
              <a:spcAft>
                <a:spcPts val="0"/>
              </a:spcAft>
              <a:buNone/>
            </a:pPr>
            <a:r>
              <a:rPr lang="tr" sz="1500" b="0">
                <a:solidFill>
                  <a:srgbClr val="FFFFFF"/>
                </a:solidFill>
                <a:latin typeface="Inter SemiBold"/>
                <a:ea typeface="Inter SemiBold"/>
                <a:cs typeface="Inter SemiBold"/>
                <a:sym typeface="Inter SemiBold"/>
              </a:rPr>
              <a:t>Analytics Events</a:t>
            </a:r>
            <a:endParaRPr sz="1500" b="0">
              <a:solidFill>
                <a:srgbClr val="FFFFFF"/>
              </a:solidFill>
              <a:latin typeface="Inter SemiBold"/>
              <a:ea typeface="Inter SemiBold"/>
              <a:cs typeface="Inter SemiBold"/>
              <a:sym typeface="Inter SemiBold"/>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57"/>
        <p:cNvGrpSpPr/>
        <p:nvPr/>
      </p:nvGrpSpPr>
      <p:grpSpPr>
        <a:xfrm>
          <a:off x="0" y="0"/>
          <a:ext cx="0" cy="0"/>
          <a:chOff x="0" y="0"/>
          <a:chExt cx="0" cy="0"/>
        </a:xfrm>
      </p:grpSpPr>
      <p:sp>
        <p:nvSpPr>
          <p:cNvPr id="358" name="Google Shape;358;p25"/>
          <p:cNvSpPr txBox="1"/>
          <p:nvPr/>
        </p:nvSpPr>
        <p:spPr>
          <a:xfrm>
            <a:off x="2482350" y="79550"/>
            <a:ext cx="4179300" cy="646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tr" sz="3000" b="1">
                <a:solidFill>
                  <a:schemeClr val="lt1"/>
                </a:solidFill>
                <a:latin typeface="Times New Roman"/>
                <a:ea typeface="Times New Roman"/>
                <a:cs typeface="Times New Roman"/>
                <a:sym typeface="Times New Roman"/>
              </a:rPr>
              <a:t>GraphRAG Techniques</a:t>
            </a:r>
            <a:endParaRPr sz="3000" b="1">
              <a:solidFill>
                <a:schemeClr val="lt1"/>
              </a:solidFill>
              <a:latin typeface="Times New Roman"/>
              <a:ea typeface="Times New Roman"/>
              <a:cs typeface="Times New Roman"/>
              <a:sym typeface="Times New Roman"/>
            </a:endParaRPr>
          </a:p>
        </p:txBody>
      </p:sp>
      <p:sp>
        <p:nvSpPr>
          <p:cNvPr id="359" name="Google Shape;359;p25"/>
          <p:cNvSpPr txBox="1"/>
          <p:nvPr/>
        </p:nvSpPr>
        <p:spPr>
          <a:xfrm>
            <a:off x="200975" y="852025"/>
            <a:ext cx="5030100" cy="3109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tr" sz="1900" b="1">
                <a:solidFill>
                  <a:srgbClr val="CCCCCC"/>
                </a:solidFill>
              </a:rPr>
              <a:t>1- Basic Retriever</a:t>
            </a:r>
            <a:endParaRPr sz="1900" b="1">
              <a:solidFill>
                <a:srgbClr val="CCCCCC"/>
              </a:solidFill>
            </a:endParaRPr>
          </a:p>
          <a:p>
            <a:pPr marL="0" lvl="0" indent="0" algn="l" rtl="0">
              <a:spcBef>
                <a:spcPts val="0"/>
              </a:spcBef>
              <a:spcAft>
                <a:spcPts val="0"/>
              </a:spcAft>
              <a:buNone/>
            </a:pPr>
            <a:r>
              <a:rPr lang="tr" sz="1900" b="1">
                <a:solidFill>
                  <a:srgbClr val="CCCCCC"/>
                </a:solidFill>
              </a:rPr>
              <a:t>2- Cypher Template</a:t>
            </a:r>
            <a:endParaRPr sz="1900" b="1">
              <a:solidFill>
                <a:srgbClr val="CCCCCC"/>
              </a:solidFill>
            </a:endParaRPr>
          </a:p>
          <a:p>
            <a:pPr marL="0" lvl="0" indent="0" algn="l" rtl="0">
              <a:spcBef>
                <a:spcPts val="0"/>
              </a:spcBef>
              <a:spcAft>
                <a:spcPts val="0"/>
              </a:spcAft>
              <a:buNone/>
            </a:pPr>
            <a:r>
              <a:rPr lang="tr" sz="1900" b="1">
                <a:solidFill>
                  <a:srgbClr val="CCCCCC"/>
                </a:solidFill>
              </a:rPr>
              <a:t>3- Dynamic Cypher Template</a:t>
            </a:r>
            <a:endParaRPr sz="1900" b="1">
              <a:solidFill>
                <a:srgbClr val="CCCCCC"/>
              </a:solidFill>
            </a:endParaRPr>
          </a:p>
          <a:p>
            <a:pPr marL="0" lvl="0" indent="0" algn="l" rtl="0">
              <a:spcBef>
                <a:spcPts val="0"/>
              </a:spcBef>
              <a:spcAft>
                <a:spcPts val="0"/>
              </a:spcAft>
              <a:buNone/>
            </a:pPr>
            <a:r>
              <a:rPr lang="tr" sz="1900" b="1">
                <a:solidFill>
                  <a:srgbClr val="CCCCCC"/>
                </a:solidFill>
              </a:rPr>
              <a:t>4- Global Community Summary Retriever</a:t>
            </a:r>
            <a:endParaRPr sz="1900" b="1">
              <a:solidFill>
                <a:srgbClr val="CCCCCC"/>
              </a:solidFill>
            </a:endParaRPr>
          </a:p>
          <a:p>
            <a:pPr marL="0" lvl="0" indent="0" algn="l" rtl="0">
              <a:spcBef>
                <a:spcPts val="0"/>
              </a:spcBef>
              <a:spcAft>
                <a:spcPts val="0"/>
              </a:spcAft>
              <a:buNone/>
            </a:pPr>
            <a:r>
              <a:rPr lang="tr" sz="1900" b="1">
                <a:solidFill>
                  <a:srgbClr val="CCCCCC"/>
                </a:solidFill>
              </a:rPr>
              <a:t>5- Graph-Enhanced Vector Search</a:t>
            </a:r>
            <a:endParaRPr sz="1900" b="1">
              <a:solidFill>
                <a:srgbClr val="CCCCCC"/>
              </a:solidFill>
            </a:endParaRPr>
          </a:p>
          <a:p>
            <a:pPr marL="0" lvl="0" indent="0" algn="l" rtl="0">
              <a:spcBef>
                <a:spcPts val="0"/>
              </a:spcBef>
              <a:spcAft>
                <a:spcPts val="0"/>
              </a:spcAft>
              <a:buNone/>
            </a:pPr>
            <a:r>
              <a:rPr lang="tr" sz="1900" b="1">
                <a:solidFill>
                  <a:srgbClr val="CCCCCC"/>
                </a:solidFill>
              </a:rPr>
              <a:t>6- Hypothetical Question Retriever</a:t>
            </a:r>
            <a:endParaRPr sz="1900" b="1">
              <a:solidFill>
                <a:srgbClr val="CCCCCC"/>
              </a:solidFill>
            </a:endParaRPr>
          </a:p>
          <a:p>
            <a:pPr marL="0" lvl="0" indent="0" algn="l" rtl="0">
              <a:spcBef>
                <a:spcPts val="0"/>
              </a:spcBef>
              <a:spcAft>
                <a:spcPts val="0"/>
              </a:spcAft>
              <a:buNone/>
            </a:pPr>
            <a:r>
              <a:rPr lang="tr" sz="1900" b="1">
                <a:solidFill>
                  <a:srgbClr val="CCCCCC"/>
                </a:solidFill>
              </a:rPr>
              <a:t>7- Local Retriever</a:t>
            </a:r>
            <a:endParaRPr sz="1900" b="1">
              <a:solidFill>
                <a:srgbClr val="CCCCCC"/>
              </a:solidFill>
            </a:endParaRPr>
          </a:p>
          <a:p>
            <a:pPr marL="0" lvl="0" indent="0" algn="l" rtl="0">
              <a:spcBef>
                <a:spcPts val="0"/>
              </a:spcBef>
              <a:spcAft>
                <a:spcPts val="0"/>
              </a:spcAft>
              <a:buNone/>
            </a:pPr>
            <a:r>
              <a:rPr lang="tr" sz="1900" b="1">
                <a:solidFill>
                  <a:srgbClr val="CCCCCC"/>
                </a:solidFill>
              </a:rPr>
              <a:t>8- Metadata Filtering</a:t>
            </a:r>
            <a:endParaRPr sz="1900" b="1">
              <a:solidFill>
                <a:srgbClr val="CCCCCC"/>
              </a:solidFill>
            </a:endParaRPr>
          </a:p>
          <a:p>
            <a:pPr marL="0" lvl="0" indent="0" algn="l" rtl="0">
              <a:spcBef>
                <a:spcPts val="0"/>
              </a:spcBef>
              <a:spcAft>
                <a:spcPts val="0"/>
              </a:spcAft>
              <a:buNone/>
            </a:pPr>
            <a:r>
              <a:rPr lang="tr" sz="1900" b="1">
                <a:solidFill>
                  <a:srgbClr val="CCCCCC"/>
                </a:solidFill>
              </a:rPr>
              <a:t>9- Parent-Child Retriever</a:t>
            </a:r>
            <a:endParaRPr sz="1900" b="1">
              <a:solidFill>
                <a:srgbClr val="CCCCCC"/>
              </a:solidFill>
            </a:endParaRPr>
          </a:p>
          <a:p>
            <a:pPr marL="0" lvl="0" indent="0" algn="l" rtl="0">
              <a:spcBef>
                <a:spcPts val="0"/>
              </a:spcBef>
              <a:spcAft>
                <a:spcPts val="0"/>
              </a:spcAft>
              <a:buNone/>
            </a:pPr>
            <a:r>
              <a:rPr lang="tr" sz="1900" b="1">
                <a:solidFill>
                  <a:srgbClr val="CCCCCC"/>
                </a:solidFill>
              </a:rPr>
              <a:t>10- Text2Cypher</a:t>
            </a:r>
            <a:endParaRPr sz="1900" b="1">
              <a:solidFill>
                <a:srgbClr val="CCCCCC"/>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63"/>
        <p:cNvGrpSpPr/>
        <p:nvPr/>
      </p:nvGrpSpPr>
      <p:grpSpPr>
        <a:xfrm>
          <a:off x="0" y="0"/>
          <a:ext cx="0" cy="0"/>
          <a:chOff x="0" y="0"/>
          <a:chExt cx="0" cy="0"/>
        </a:xfrm>
      </p:grpSpPr>
      <p:sp>
        <p:nvSpPr>
          <p:cNvPr id="364" name="Google Shape;364;p26"/>
          <p:cNvSpPr txBox="1"/>
          <p:nvPr/>
        </p:nvSpPr>
        <p:spPr>
          <a:xfrm>
            <a:off x="3181200" y="79550"/>
            <a:ext cx="2781600" cy="646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tr" sz="3000" b="1">
                <a:solidFill>
                  <a:schemeClr val="lt1"/>
                </a:solidFill>
                <a:latin typeface="Times New Roman"/>
                <a:ea typeface="Times New Roman"/>
                <a:cs typeface="Times New Roman"/>
                <a:sym typeface="Times New Roman"/>
              </a:rPr>
              <a:t>Basic Retriever</a:t>
            </a:r>
            <a:endParaRPr sz="3000" b="1">
              <a:solidFill>
                <a:schemeClr val="lt1"/>
              </a:solidFill>
              <a:latin typeface="Times New Roman"/>
              <a:ea typeface="Times New Roman"/>
              <a:cs typeface="Times New Roman"/>
              <a:sym typeface="Times New Roman"/>
            </a:endParaRPr>
          </a:p>
        </p:txBody>
      </p:sp>
      <p:pic>
        <p:nvPicPr>
          <p:cNvPr id="365" name="Google Shape;365;p26"/>
          <p:cNvPicPr preferRelativeResize="0"/>
          <p:nvPr/>
        </p:nvPicPr>
        <p:blipFill>
          <a:blip r:embed="rId3">
            <a:alphaModFix/>
          </a:blip>
          <a:stretch>
            <a:fillRect/>
          </a:stretch>
        </p:blipFill>
        <p:spPr>
          <a:xfrm>
            <a:off x="3027000" y="1922213"/>
            <a:ext cx="3090000" cy="2277725"/>
          </a:xfrm>
          <a:prstGeom prst="rect">
            <a:avLst/>
          </a:prstGeom>
          <a:noFill/>
          <a:ln>
            <a:noFill/>
          </a:ln>
        </p:spPr>
      </p:pic>
      <p:sp>
        <p:nvSpPr>
          <p:cNvPr id="366" name="Google Shape;366;p26"/>
          <p:cNvSpPr txBox="1"/>
          <p:nvPr/>
        </p:nvSpPr>
        <p:spPr>
          <a:xfrm>
            <a:off x="0" y="1401913"/>
            <a:ext cx="3000000" cy="2339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tr" b="1">
                <a:solidFill>
                  <a:srgbClr val="CCCCCC"/>
                </a:solidFill>
              </a:rPr>
              <a:t>Description</a:t>
            </a:r>
            <a:endParaRPr b="1">
              <a:solidFill>
                <a:srgbClr val="CCCCCC"/>
              </a:solidFill>
            </a:endParaRPr>
          </a:p>
          <a:p>
            <a:pPr marL="0" lvl="0" indent="0" algn="ctr" rtl="0">
              <a:spcBef>
                <a:spcPts val="0"/>
              </a:spcBef>
              <a:spcAft>
                <a:spcPts val="0"/>
              </a:spcAft>
              <a:buNone/>
            </a:pPr>
            <a:r>
              <a:rPr lang="tr">
                <a:solidFill>
                  <a:srgbClr val="B7B7B7"/>
                </a:solidFill>
              </a:rPr>
              <a:t>The user question is embedded using the same embedder that has been used before to create the chunk embeddings. A vector similarity search is executed on the chunk embeddings to retrieve k (number previously configured by developer / user) most similar chunks.</a:t>
            </a:r>
            <a:endParaRPr>
              <a:solidFill>
                <a:srgbClr val="B7B7B7"/>
              </a:solidFill>
            </a:endParaRPr>
          </a:p>
        </p:txBody>
      </p:sp>
      <p:sp>
        <p:nvSpPr>
          <p:cNvPr id="367" name="Google Shape;367;p26"/>
          <p:cNvSpPr txBox="1"/>
          <p:nvPr/>
        </p:nvSpPr>
        <p:spPr>
          <a:xfrm>
            <a:off x="6144000" y="1186500"/>
            <a:ext cx="3000000" cy="27705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tr" b="1">
                <a:solidFill>
                  <a:srgbClr val="CCCCCC"/>
                </a:solidFill>
              </a:rPr>
              <a:t>Usage</a:t>
            </a:r>
            <a:endParaRPr b="1">
              <a:solidFill>
                <a:srgbClr val="CCCCCC"/>
              </a:solidFill>
            </a:endParaRPr>
          </a:p>
          <a:p>
            <a:pPr marL="0" lvl="0" indent="0" algn="ctr" rtl="0">
              <a:spcBef>
                <a:spcPts val="0"/>
              </a:spcBef>
              <a:spcAft>
                <a:spcPts val="0"/>
              </a:spcAft>
              <a:buNone/>
            </a:pPr>
            <a:r>
              <a:rPr lang="tr">
                <a:solidFill>
                  <a:srgbClr val="B7B7B7"/>
                </a:solidFill>
              </a:rPr>
              <a:t>This pattern is useful if the user asks for specific information about a topic that exists in one or more (but not too many) chunks. The question should not require complex aggregations or knowledge about the whole dataset. Since the pattern only contains a vector similarity search it is easy to understand, implement and get started with.</a:t>
            </a:r>
            <a:endParaRPr>
              <a:solidFill>
                <a:srgbClr val="B7B7B7"/>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71"/>
        <p:cNvGrpSpPr/>
        <p:nvPr/>
      </p:nvGrpSpPr>
      <p:grpSpPr>
        <a:xfrm>
          <a:off x="0" y="0"/>
          <a:ext cx="0" cy="0"/>
          <a:chOff x="0" y="0"/>
          <a:chExt cx="0" cy="0"/>
        </a:xfrm>
      </p:grpSpPr>
      <p:sp>
        <p:nvSpPr>
          <p:cNvPr id="372" name="Google Shape;372;p27"/>
          <p:cNvSpPr txBox="1"/>
          <p:nvPr/>
        </p:nvSpPr>
        <p:spPr>
          <a:xfrm>
            <a:off x="3012300" y="99275"/>
            <a:ext cx="3119400" cy="646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tr" sz="3000" b="1">
                <a:solidFill>
                  <a:schemeClr val="lt1"/>
                </a:solidFill>
                <a:latin typeface="Times New Roman"/>
                <a:ea typeface="Times New Roman"/>
                <a:cs typeface="Times New Roman"/>
                <a:sym typeface="Times New Roman"/>
              </a:rPr>
              <a:t>Cypher Template</a:t>
            </a:r>
            <a:endParaRPr sz="3000" b="1">
              <a:solidFill>
                <a:schemeClr val="lt1"/>
              </a:solidFill>
              <a:latin typeface="Times New Roman"/>
              <a:ea typeface="Times New Roman"/>
              <a:cs typeface="Times New Roman"/>
              <a:sym typeface="Times New Roman"/>
            </a:endParaRPr>
          </a:p>
        </p:txBody>
      </p:sp>
      <p:pic>
        <p:nvPicPr>
          <p:cNvPr id="373" name="Google Shape;373;p27"/>
          <p:cNvPicPr preferRelativeResize="0"/>
          <p:nvPr/>
        </p:nvPicPr>
        <p:blipFill>
          <a:blip r:embed="rId3">
            <a:alphaModFix/>
          </a:blip>
          <a:stretch>
            <a:fillRect/>
          </a:stretch>
        </p:blipFill>
        <p:spPr>
          <a:xfrm>
            <a:off x="2499462" y="3110378"/>
            <a:ext cx="4145075" cy="1979448"/>
          </a:xfrm>
          <a:prstGeom prst="rect">
            <a:avLst/>
          </a:prstGeom>
          <a:noFill/>
          <a:ln>
            <a:noFill/>
          </a:ln>
        </p:spPr>
      </p:pic>
      <p:sp>
        <p:nvSpPr>
          <p:cNvPr id="374" name="Google Shape;374;p27"/>
          <p:cNvSpPr txBox="1"/>
          <p:nvPr/>
        </p:nvSpPr>
        <p:spPr>
          <a:xfrm>
            <a:off x="12300" y="913425"/>
            <a:ext cx="3000000" cy="2339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tr" b="1">
                <a:solidFill>
                  <a:srgbClr val="CCCCCC"/>
                </a:solidFill>
              </a:rPr>
              <a:t>Description</a:t>
            </a:r>
            <a:endParaRPr b="1">
              <a:solidFill>
                <a:srgbClr val="CCCCCC"/>
              </a:solidFill>
            </a:endParaRPr>
          </a:p>
          <a:p>
            <a:pPr marL="0" lvl="0" indent="0" algn="ctr" rtl="0">
              <a:spcBef>
                <a:spcPts val="0"/>
              </a:spcBef>
              <a:spcAft>
                <a:spcPts val="0"/>
              </a:spcAft>
              <a:buNone/>
            </a:pPr>
            <a:r>
              <a:rPr lang="tr">
                <a:solidFill>
                  <a:srgbClr val="B7B7B7"/>
                </a:solidFill>
              </a:rPr>
              <a:t>Given a user question an LLM decides which of the cypher templates to use. The LLM possibly extracts parameters from the user question and plugs them into the template. The query is executed on the database and the results are provided back to the LLM to generate an answer.</a:t>
            </a:r>
            <a:endParaRPr>
              <a:solidFill>
                <a:srgbClr val="B7B7B7"/>
              </a:solidFill>
            </a:endParaRPr>
          </a:p>
        </p:txBody>
      </p:sp>
      <p:sp>
        <p:nvSpPr>
          <p:cNvPr id="375" name="Google Shape;375;p27"/>
          <p:cNvSpPr txBox="1"/>
          <p:nvPr/>
        </p:nvSpPr>
        <p:spPr>
          <a:xfrm>
            <a:off x="6131700" y="745775"/>
            <a:ext cx="3000000" cy="2555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tr" b="1">
                <a:solidFill>
                  <a:srgbClr val="CCCCCC"/>
                </a:solidFill>
              </a:rPr>
              <a:t>Usage</a:t>
            </a:r>
            <a:endParaRPr b="1">
              <a:solidFill>
                <a:srgbClr val="CCCCCC"/>
              </a:solidFill>
            </a:endParaRPr>
          </a:p>
          <a:p>
            <a:pPr marL="0" lvl="0" indent="0" algn="ctr" rtl="0">
              <a:spcBef>
                <a:spcPts val="0"/>
              </a:spcBef>
              <a:spcAft>
                <a:spcPts val="0"/>
              </a:spcAft>
              <a:buNone/>
            </a:pPr>
            <a:r>
              <a:rPr lang="tr">
                <a:solidFill>
                  <a:srgbClr val="B7B7B7"/>
                </a:solidFill>
              </a:rPr>
              <a:t>When the type of questions that a user will pose to the Domain Graph is previously known, these templates can be created. A shortcoming of this approach is the restriction to given template queries. What happens if the user asks a question that would result in a query that isn’t existent in the templates?</a:t>
            </a:r>
            <a:endParaRPr>
              <a:solidFill>
                <a:srgbClr val="B7B7B7"/>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79"/>
        <p:cNvGrpSpPr/>
        <p:nvPr/>
      </p:nvGrpSpPr>
      <p:grpSpPr>
        <a:xfrm>
          <a:off x="0" y="0"/>
          <a:ext cx="0" cy="0"/>
          <a:chOff x="0" y="0"/>
          <a:chExt cx="0" cy="0"/>
        </a:xfrm>
      </p:grpSpPr>
      <p:sp>
        <p:nvSpPr>
          <p:cNvPr id="380" name="Google Shape;380;p28"/>
          <p:cNvSpPr txBox="1"/>
          <p:nvPr/>
        </p:nvSpPr>
        <p:spPr>
          <a:xfrm>
            <a:off x="2276249" y="119025"/>
            <a:ext cx="4877585" cy="646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tr" sz="3000" b="1" dirty="0">
                <a:solidFill>
                  <a:schemeClr val="lt1"/>
                </a:solidFill>
                <a:latin typeface="Times New Roman"/>
                <a:ea typeface="Times New Roman"/>
                <a:cs typeface="Times New Roman"/>
                <a:sym typeface="Times New Roman"/>
              </a:rPr>
              <a:t>Dynamic Cypher Template</a:t>
            </a:r>
            <a:endParaRPr sz="3000" b="1" dirty="0">
              <a:solidFill>
                <a:schemeClr val="lt1"/>
              </a:solidFill>
              <a:latin typeface="Times New Roman"/>
              <a:ea typeface="Times New Roman"/>
              <a:cs typeface="Times New Roman"/>
              <a:sym typeface="Times New Roman"/>
            </a:endParaRPr>
          </a:p>
        </p:txBody>
      </p:sp>
      <p:pic>
        <p:nvPicPr>
          <p:cNvPr id="381" name="Google Shape;381;p28"/>
          <p:cNvPicPr preferRelativeResize="0"/>
          <p:nvPr/>
        </p:nvPicPr>
        <p:blipFill>
          <a:blip r:embed="rId3">
            <a:alphaModFix/>
          </a:blip>
          <a:stretch>
            <a:fillRect/>
          </a:stretch>
        </p:blipFill>
        <p:spPr>
          <a:xfrm>
            <a:off x="2569799" y="3101575"/>
            <a:ext cx="4004398" cy="1912276"/>
          </a:xfrm>
          <a:prstGeom prst="rect">
            <a:avLst/>
          </a:prstGeom>
          <a:noFill/>
          <a:ln>
            <a:noFill/>
          </a:ln>
        </p:spPr>
      </p:pic>
      <p:sp>
        <p:nvSpPr>
          <p:cNvPr id="382" name="Google Shape;382;p28"/>
          <p:cNvSpPr txBox="1"/>
          <p:nvPr/>
        </p:nvSpPr>
        <p:spPr>
          <a:xfrm>
            <a:off x="0" y="913425"/>
            <a:ext cx="3000000" cy="2786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tr" sz="1300" b="1">
                <a:solidFill>
                  <a:srgbClr val="CCCCCC"/>
                </a:solidFill>
              </a:rPr>
              <a:t>Description</a:t>
            </a:r>
            <a:endParaRPr sz="1300" b="1">
              <a:solidFill>
                <a:srgbClr val="CCCCCC"/>
              </a:solidFill>
            </a:endParaRPr>
          </a:p>
          <a:p>
            <a:pPr marL="0" lvl="0" indent="0" algn="ctr" rtl="0">
              <a:spcBef>
                <a:spcPts val="0"/>
              </a:spcBef>
              <a:spcAft>
                <a:spcPts val="0"/>
              </a:spcAft>
              <a:buNone/>
            </a:pPr>
            <a:r>
              <a:rPr lang="tr" sz="1300">
                <a:solidFill>
                  <a:srgbClr val="B7B7B7"/>
                </a:solidFill>
              </a:rPr>
              <a:t>Given a user question an LLM decides which of the Cypher templates to use. The LLM possibly extracts parameters from the user question and plugs them into the template. The query is executed on the database and the results are provided back to the LLM to generate an answer. Multiple templates can also be used in a chain or loop, which then leads to an agentic query system.</a:t>
            </a:r>
            <a:endParaRPr sz="1300">
              <a:solidFill>
                <a:srgbClr val="B7B7B7"/>
              </a:solidFill>
            </a:endParaRPr>
          </a:p>
        </p:txBody>
      </p:sp>
      <p:sp>
        <p:nvSpPr>
          <p:cNvPr id="383" name="Google Shape;383;p28"/>
          <p:cNvSpPr txBox="1"/>
          <p:nvPr/>
        </p:nvSpPr>
        <p:spPr>
          <a:xfrm>
            <a:off x="6144000" y="913425"/>
            <a:ext cx="3000000" cy="1693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tr" b="1">
                <a:solidFill>
                  <a:srgbClr val="CCCCCC"/>
                </a:solidFill>
              </a:rPr>
              <a:t>Usage</a:t>
            </a:r>
            <a:endParaRPr b="1">
              <a:solidFill>
                <a:srgbClr val="CCCCCC"/>
              </a:solidFill>
            </a:endParaRPr>
          </a:p>
          <a:p>
            <a:pPr marL="0" lvl="0" indent="0" algn="ctr" rtl="0">
              <a:spcBef>
                <a:spcPts val="0"/>
              </a:spcBef>
              <a:spcAft>
                <a:spcPts val="0"/>
              </a:spcAft>
              <a:buNone/>
            </a:pPr>
            <a:r>
              <a:rPr lang="tr">
                <a:solidFill>
                  <a:srgbClr val="B7B7B7"/>
                </a:solidFill>
              </a:rPr>
              <a:t>This pattern is an evolution of Cypher Templates. It is much more flexible allowing for more diverse user questions to be answered. Still, the range of questions is limited by the provided snippets.</a:t>
            </a:r>
            <a:endParaRPr>
              <a:solidFill>
                <a:srgbClr val="B7B7B7"/>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87"/>
        <p:cNvGrpSpPr/>
        <p:nvPr/>
      </p:nvGrpSpPr>
      <p:grpSpPr>
        <a:xfrm>
          <a:off x="0" y="0"/>
          <a:ext cx="0" cy="0"/>
          <a:chOff x="0" y="0"/>
          <a:chExt cx="0" cy="0"/>
        </a:xfrm>
      </p:grpSpPr>
      <p:sp>
        <p:nvSpPr>
          <p:cNvPr id="388" name="Google Shape;388;p29"/>
          <p:cNvSpPr txBox="1"/>
          <p:nvPr/>
        </p:nvSpPr>
        <p:spPr>
          <a:xfrm>
            <a:off x="1138050" y="128900"/>
            <a:ext cx="6867900" cy="646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tr" sz="3000" b="1">
                <a:solidFill>
                  <a:schemeClr val="lt1"/>
                </a:solidFill>
                <a:latin typeface="Times New Roman"/>
                <a:ea typeface="Times New Roman"/>
                <a:cs typeface="Times New Roman"/>
                <a:sym typeface="Times New Roman"/>
              </a:rPr>
              <a:t>Global Community Summary Retriever</a:t>
            </a:r>
            <a:endParaRPr sz="3000" b="1">
              <a:solidFill>
                <a:schemeClr val="lt1"/>
              </a:solidFill>
              <a:latin typeface="Times New Roman"/>
              <a:ea typeface="Times New Roman"/>
              <a:cs typeface="Times New Roman"/>
              <a:sym typeface="Times New Roman"/>
            </a:endParaRPr>
          </a:p>
        </p:txBody>
      </p:sp>
      <p:pic>
        <p:nvPicPr>
          <p:cNvPr id="389" name="Google Shape;389;p29"/>
          <p:cNvPicPr preferRelativeResize="0"/>
          <p:nvPr/>
        </p:nvPicPr>
        <p:blipFill>
          <a:blip r:embed="rId3">
            <a:alphaModFix/>
          </a:blip>
          <a:stretch>
            <a:fillRect/>
          </a:stretch>
        </p:blipFill>
        <p:spPr>
          <a:xfrm>
            <a:off x="3340050" y="937675"/>
            <a:ext cx="2463892" cy="4063300"/>
          </a:xfrm>
          <a:prstGeom prst="rect">
            <a:avLst/>
          </a:prstGeom>
          <a:noFill/>
          <a:ln>
            <a:noFill/>
          </a:ln>
        </p:spPr>
      </p:pic>
      <p:sp>
        <p:nvSpPr>
          <p:cNvPr id="390" name="Google Shape;390;p29"/>
          <p:cNvSpPr txBox="1"/>
          <p:nvPr/>
        </p:nvSpPr>
        <p:spPr>
          <a:xfrm>
            <a:off x="130500" y="775400"/>
            <a:ext cx="3000000" cy="1262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tr" b="1">
                <a:solidFill>
                  <a:srgbClr val="CCCCCC"/>
                </a:solidFill>
              </a:rPr>
              <a:t>Description</a:t>
            </a:r>
            <a:endParaRPr b="1">
              <a:solidFill>
                <a:srgbClr val="CCCCCC"/>
              </a:solidFill>
            </a:endParaRPr>
          </a:p>
          <a:p>
            <a:pPr marL="0" lvl="0" indent="0" algn="ctr" rtl="0">
              <a:spcBef>
                <a:spcPts val="0"/>
              </a:spcBef>
              <a:spcAft>
                <a:spcPts val="0"/>
              </a:spcAft>
              <a:buNone/>
            </a:pPr>
            <a:r>
              <a:rPr lang="tr">
                <a:solidFill>
                  <a:srgbClr val="B7B7B7"/>
                </a:solidFill>
              </a:rPr>
              <a:t>Given the user question and a given Community level, the Community Summaries are retrieved and given to the LLM.</a:t>
            </a:r>
            <a:endParaRPr>
              <a:solidFill>
                <a:srgbClr val="B7B7B7"/>
              </a:solidFill>
            </a:endParaRPr>
          </a:p>
        </p:txBody>
      </p:sp>
      <p:sp>
        <p:nvSpPr>
          <p:cNvPr id="391" name="Google Shape;391;p29"/>
          <p:cNvSpPr txBox="1"/>
          <p:nvPr/>
        </p:nvSpPr>
        <p:spPr>
          <a:xfrm>
            <a:off x="6144000" y="775400"/>
            <a:ext cx="3000000" cy="40635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tr" b="1">
                <a:solidFill>
                  <a:srgbClr val="CCCCCC"/>
                </a:solidFill>
              </a:rPr>
              <a:t>Usage</a:t>
            </a:r>
            <a:endParaRPr b="1">
              <a:solidFill>
                <a:srgbClr val="CCCCCC"/>
              </a:solidFill>
            </a:endParaRPr>
          </a:p>
          <a:p>
            <a:pPr marL="0" lvl="0" indent="0" algn="ctr" rtl="0">
              <a:spcBef>
                <a:spcPts val="0"/>
              </a:spcBef>
              <a:spcAft>
                <a:spcPts val="0"/>
              </a:spcAft>
              <a:buNone/>
            </a:pPr>
            <a:r>
              <a:rPr lang="tr">
                <a:solidFill>
                  <a:srgbClr val="B7B7B7"/>
                </a:solidFill>
              </a:rPr>
              <a:t>This pattern is useful for questions that have a global character. Examples would be summarizing the content of the whole database or looking for topic structures across the whole data. The effort of setting up the required Graph Pattern is quite high since there are a lot of steps to be taken: entity &amp; relationship extraction, Community detection and Community summarizations. It needs to be considered which of these tasks shall be executed by LLMs and which tasks can be handled differently to keep the pre-processing cost acceptable.</a:t>
            </a:r>
            <a:endParaRPr>
              <a:solidFill>
                <a:srgbClr val="B7B7B7"/>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95"/>
        <p:cNvGrpSpPr/>
        <p:nvPr/>
      </p:nvGrpSpPr>
      <p:grpSpPr>
        <a:xfrm>
          <a:off x="0" y="0"/>
          <a:ext cx="0" cy="0"/>
          <a:chOff x="0" y="0"/>
          <a:chExt cx="0" cy="0"/>
        </a:xfrm>
      </p:grpSpPr>
      <p:sp>
        <p:nvSpPr>
          <p:cNvPr id="396" name="Google Shape;396;p30"/>
          <p:cNvSpPr txBox="1"/>
          <p:nvPr/>
        </p:nvSpPr>
        <p:spPr>
          <a:xfrm>
            <a:off x="1774950" y="138775"/>
            <a:ext cx="5594100" cy="646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tr" sz="3000" b="1">
                <a:solidFill>
                  <a:srgbClr val="274E13"/>
                </a:solidFill>
                <a:latin typeface="Times New Roman"/>
                <a:ea typeface="Times New Roman"/>
                <a:cs typeface="Times New Roman"/>
                <a:sym typeface="Times New Roman"/>
              </a:rPr>
              <a:t>Graph-Enhanced Vector Search</a:t>
            </a:r>
            <a:endParaRPr sz="3000" b="1">
              <a:solidFill>
                <a:srgbClr val="274E13"/>
              </a:solidFill>
              <a:latin typeface="Times New Roman"/>
              <a:ea typeface="Times New Roman"/>
              <a:cs typeface="Times New Roman"/>
              <a:sym typeface="Times New Roman"/>
            </a:endParaRPr>
          </a:p>
        </p:txBody>
      </p:sp>
      <p:pic>
        <p:nvPicPr>
          <p:cNvPr id="397" name="Google Shape;397;p30"/>
          <p:cNvPicPr preferRelativeResize="0"/>
          <p:nvPr/>
        </p:nvPicPr>
        <p:blipFill>
          <a:blip r:embed="rId3">
            <a:alphaModFix/>
          </a:blip>
          <a:stretch>
            <a:fillRect/>
          </a:stretch>
        </p:blipFill>
        <p:spPr>
          <a:xfrm>
            <a:off x="2912151" y="987645"/>
            <a:ext cx="3319699" cy="3168219"/>
          </a:xfrm>
          <a:prstGeom prst="rect">
            <a:avLst/>
          </a:prstGeom>
          <a:noFill/>
          <a:ln>
            <a:noFill/>
          </a:ln>
        </p:spPr>
      </p:pic>
      <p:sp>
        <p:nvSpPr>
          <p:cNvPr id="398" name="Google Shape;398;p30"/>
          <p:cNvSpPr txBox="1"/>
          <p:nvPr/>
        </p:nvSpPr>
        <p:spPr>
          <a:xfrm>
            <a:off x="0" y="958825"/>
            <a:ext cx="3000000" cy="27705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tr" b="1">
                <a:solidFill>
                  <a:srgbClr val="CCCCCC"/>
                </a:solidFill>
              </a:rPr>
              <a:t>Description</a:t>
            </a:r>
            <a:endParaRPr b="1">
              <a:solidFill>
                <a:srgbClr val="CCCCCC"/>
              </a:solidFill>
            </a:endParaRPr>
          </a:p>
          <a:p>
            <a:pPr marL="0" lvl="0" indent="0" algn="ctr" rtl="0">
              <a:spcBef>
                <a:spcPts val="0"/>
              </a:spcBef>
              <a:spcAft>
                <a:spcPts val="0"/>
              </a:spcAft>
              <a:buNone/>
            </a:pPr>
            <a:r>
              <a:rPr lang="tr">
                <a:solidFill>
                  <a:srgbClr val="B7B7B7"/>
                </a:solidFill>
              </a:rPr>
              <a:t>The user question is embedded using the same embedder that has been used before to create embeddings. A vector similarity search is executed on the Chunk embeddings to find k (number previously configured by developer / user) most similar Chunks. A traversal starting at the found chunks is executed to retrieve more context.</a:t>
            </a:r>
            <a:endParaRPr>
              <a:solidFill>
                <a:srgbClr val="B7B7B7"/>
              </a:solidFill>
            </a:endParaRPr>
          </a:p>
        </p:txBody>
      </p:sp>
      <p:sp>
        <p:nvSpPr>
          <p:cNvPr id="399" name="Google Shape;399;p30"/>
          <p:cNvSpPr txBox="1"/>
          <p:nvPr/>
        </p:nvSpPr>
        <p:spPr>
          <a:xfrm>
            <a:off x="6144000" y="958825"/>
            <a:ext cx="3000000" cy="40635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tr" b="1">
                <a:solidFill>
                  <a:srgbClr val="CCCCCC"/>
                </a:solidFill>
              </a:rPr>
              <a:t>Usage</a:t>
            </a:r>
            <a:endParaRPr b="1">
              <a:solidFill>
                <a:srgbClr val="CCCCCC"/>
              </a:solidFill>
            </a:endParaRPr>
          </a:p>
          <a:p>
            <a:pPr marL="0" lvl="0" indent="0" algn="ctr" rtl="0">
              <a:spcBef>
                <a:spcPts val="0"/>
              </a:spcBef>
              <a:spcAft>
                <a:spcPts val="0"/>
              </a:spcAft>
              <a:buNone/>
            </a:pPr>
            <a:r>
              <a:rPr lang="tr">
                <a:solidFill>
                  <a:srgbClr val="B7B7B7"/>
                </a:solidFill>
              </a:rPr>
              <a:t>This pattern is useful for retrieving more enriched context than the results of executing only a vector search as in e.g. Basic Retrievers or Parent-Child Retrievers. The additional traversal retrieves the interaction of entities within the provided data which reveals much richer information than the retrieval of specific text chunks. Naturally, the preprocessing for this GraphRAG pattern is effort. Furthermore, the amount of context that is returned by the Graph Traversal can be much larger context which the LLM needs be able to process.</a:t>
            </a:r>
            <a:endParaRPr>
              <a:solidFill>
                <a:srgbClr val="B7B7B7"/>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03"/>
        <p:cNvGrpSpPr/>
        <p:nvPr/>
      </p:nvGrpSpPr>
      <p:grpSpPr>
        <a:xfrm>
          <a:off x="0" y="0"/>
          <a:ext cx="0" cy="0"/>
          <a:chOff x="0" y="0"/>
          <a:chExt cx="0" cy="0"/>
        </a:xfrm>
      </p:grpSpPr>
      <p:sp>
        <p:nvSpPr>
          <p:cNvPr id="404" name="Google Shape;404;p31"/>
          <p:cNvSpPr txBox="1"/>
          <p:nvPr/>
        </p:nvSpPr>
        <p:spPr>
          <a:xfrm>
            <a:off x="1793250" y="138775"/>
            <a:ext cx="5557500" cy="646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tr" sz="3000" b="1">
                <a:solidFill>
                  <a:schemeClr val="lt1"/>
                </a:solidFill>
                <a:latin typeface="Times New Roman"/>
                <a:ea typeface="Times New Roman"/>
                <a:cs typeface="Times New Roman"/>
                <a:sym typeface="Times New Roman"/>
              </a:rPr>
              <a:t>Hypothetical Question Retriever</a:t>
            </a:r>
            <a:endParaRPr sz="3000" b="1">
              <a:solidFill>
                <a:schemeClr val="lt1"/>
              </a:solidFill>
              <a:latin typeface="Times New Roman"/>
              <a:ea typeface="Times New Roman"/>
              <a:cs typeface="Times New Roman"/>
              <a:sym typeface="Times New Roman"/>
            </a:endParaRPr>
          </a:p>
        </p:txBody>
      </p:sp>
      <p:pic>
        <p:nvPicPr>
          <p:cNvPr id="405" name="Google Shape;405;p31"/>
          <p:cNvPicPr preferRelativeResize="0"/>
          <p:nvPr/>
        </p:nvPicPr>
        <p:blipFill>
          <a:blip r:embed="rId3">
            <a:alphaModFix/>
          </a:blip>
          <a:stretch>
            <a:fillRect/>
          </a:stretch>
        </p:blipFill>
        <p:spPr>
          <a:xfrm>
            <a:off x="3084050" y="1252988"/>
            <a:ext cx="2975899" cy="2637525"/>
          </a:xfrm>
          <a:prstGeom prst="rect">
            <a:avLst/>
          </a:prstGeom>
          <a:noFill/>
          <a:ln>
            <a:noFill/>
          </a:ln>
        </p:spPr>
      </p:pic>
      <p:sp>
        <p:nvSpPr>
          <p:cNvPr id="406" name="Google Shape;406;p31"/>
          <p:cNvSpPr txBox="1"/>
          <p:nvPr/>
        </p:nvSpPr>
        <p:spPr>
          <a:xfrm>
            <a:off x="84050" y="1253000"/>
            <a:ext cx="3000000" cy="2555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tr" b="1">
                <a:solidFill>
                  <a:srgbClr val="CCCCCC"/>
                </a:solidFill>
              </a:rPr>
              <a:t>Description</a:t>
            </a:r>
            <a:endParaRPr b="1">
              <a:solidFill>
                <a:srgbClr val="CCCCCC"/>
              </a:solidFill>
            </a:endParaRPr>
          </a:p>
          <a:p>
            <a:pPr marL="0" lvl="0" indent="0" algn="ctr" rtl="0">
              <a:spcBef>
                <a:spcPts val="0"/>
              </a:spcBef>
              <a:spcAft>
                <a:spcPts val="0"/>
              </a:spcAft>
              <a:buNone/>
            </a:pPr>
            <a:r>
              <a:rPr lang="tr">
                <a:solidFill>
                  <a:srgbClr val="B7B7B7"/>
                </a:solidFill>
              </a:rPr>
              <a:t>The user question is embedded using the same embedder that has been used before to create the question embeddings. A vector similarity search is executed on the previously generated questions. k (number previously configured by developer / user) most similar questions are found and their related Chunks are retrieved.</a:t>
            </a:r>
            <a:endParaRPr>
              <a:solidFill>
                <a:srgbClr val="B7B7B7"/>
              </a:solidFill>
            </a:endParaRPr>
          </a:p>
        </p:txBody>
      </p:sp>
      <p:sp>
        <p:nvSpPr>
          <p:cNvPr id="407" name="Google Shape;407;p31"/>
          <p:cNvSpPr txBox="1"/>
          <p:nvPr/>
        </p:nvSpPr>
        <p:spPr>
          <a:xfrm>
            <a:off x="6144000" y="1253000"/>
            <a:ext cx="3000000" cy="2339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tr" b="1">
                <a:solidFill>
                  <a:srgbClr val="CCCCCC"/>
                </a:solidFill>
              </a:rPr>
              <a:t>Usage</a:t>
            </a:r>
            <a:endParaRPr b="1">
              <a:solidFill>
                <a:srgbClr val="CCCCCC"/>
              </a:solidFill>
            </a:endParaRPr>
          </a:p>
          <a:p>
            <a:pPr marL="0" lvl="0" indent="0" algn="ctr" rtl="0">
              <a:spcBef>
                <a:spcPts val="0"/>
              </a:spcBef>
              <a:spcAft>
                <a:spcPts val="0"/>
              </a:spcAft>
              <a:buNone/>
            </a:pPr>
            <a:r>
              <a:rPr lang="tr">
                <a:solidFill>
                  <a:srgbClr val="B7B7B7"/>
                </a:solidFill>
              </a:rPr>
              <a:t>This pattern can yield better results in the vector similarity search than a question-to-chunk similarity search as used in e.g. Basic Retrievers or Parent-Child Retrievers. However, it also requires more pre-processing effort and cost in LLM calls for the question generation.</a:t>
            </a:r>
            <a:endParaRPr>
              <a:solidFill>
                <a:srgbClr val="B7B7B7"/>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11"/>
        <p:cNvGrpSpPr/>
        <p:nvPr/>
      </p:nvGrpSpPr>
      <p:grpSpPr>
        <a:xfrm>
          <a:off x="0" y="0"/>
          <a:ext cx="0" cy="0"/>
          <a:chOff x="0" y="0"/>
          <a:chExt cx="0" cy="0"/>
        </a:xfrm>
      </p:grpSpPr>
      <p:sp>
        <p:nvSpPr>
          <p:cNvPr id="412" name="Google Shape;412;p32"/>
          <p:cNvSpPr txBox="1"/>
          <p:nvPr/>
        </p:nvSpPr>
        <p:spPr>
          <a:xfrm>
            <a:off x="3166350" y="89400"/>
            <a:ext cx="2811300" cy="646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tr" sz="3000" b="1">
                <a:solidFill>
                  <a:schemeClr val="lt1"/>
                </a:solidFill>
                <a:latin typeface="Times New Roman"/>
                <a:ea typeface="Times New Roman"/>
                <a:cs typeface="Times New Roman"/>
                <a:sym typeface="Times New Roman"/>
              </a:rPr>
              <a:t>Local Retriever</a:t>
            </a:r>
            <a:endParaRPr sz="3000" b="1">
              <a:solidFill>
                <a:schemeClr val="lt1"/>
              </a:solidFill>
              <a:latin typeface="Times New Roman"/>
              <a:ea typeface="Times New Roman"/>
              <a:cs typeface="Times New Roman"/>
              <a:sym typeface="Times New Roman"/>
            </a:endParaRPr>
          </a:p>
        </p:txBody>
      </p:sp>
      <p:pic>
        <p:nvPicPr>
          <p:cNvPr id="413" name="Google Shape;413;p32"/>
          <p:cNvPicPr preferRelativeResize="0"/>
          <p:nvPr/>
        </p:nvPicPr>
        <p:blipFill>
          <a:blip r:embed="rId3">
            <a:alphaModFix/>
          </a:blip>
          <a:stretch>
            <a:fillRect/>
          </a:stretch>
        </p:blipFill>
        <p:spPr>
          <a:xfrm>
            <a:off x="3614038" y="991934"/>
            <a:ext cx="1915925" cy="3159626"/>
          </a:xfrm>
          <a:prstGeom prst="rect">
            <a:avLst/>
          </a:prstGeom>
          <a:noFill/>
          <a:ln>
            <a:noFill/>
          </a:ln>
        </p:spPr>
      </p:pic>
      <p:sp>
        <p:nvSpPr>
          <p:cNvPr id="414" name="Google Shape;414;p32"/>
          <p:cNvSpPr txBox="1"/>
          <p:nvPr/>
        </p:nvSpPr>
        <p:spPr>
          <a:xfrm>
            <a:off x="0" y="991925"/>
            <a:ext cx="3000000" cy="2555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tr" b="1">
                <a:solidFill>
                  <a:srgbClr val="CCCCCC"/>
                </a:solidFill>
              </a:rPr>
              <a:t>Description</a:t>
            </a:r>
            <a:endParaRPr b="1">
              <a:solidFill>
                <a:srgbClr val="CCCCCC"/>
              </a:solidFill>
            </a:endParaRPr>
          </a:p>
          <a:p>
            <a:pPr marL="0" lvl="0" indent="0" algn="ctr" rtl="0">
              <a:spcBef>
                <a:spcPts val="0"/>
              </a:spcBef>
              <a:spcAft>
                <a:spcPts val="0"/>
              </a:spcAft>
              <a:buNone/>
            </a:pPr>
            <a:r>
              <a:rPr lang="tr">
                <a:solidFill>
                  <a:srgbClr val="B7B7B7"/>
                </a:solidFill>
              </a:rPr>
              <a:t>The user question is embedded using the same embedder that has been used before to create the entity embeddings. A vector similarity search is executed on the entity embeddings to find k (number previously configured by developer / user) most similar entities. A graph traversal starting from the found entities is executed.</a:t>
            </a:r>
            <a:endParaRPr>
              <a:solidFill>
                <a:srgbClr val="B7B7B7"/>
              </a:solidFill>
            </a:endParaRPr>
          </a:p>
        </p:txBody>
      </p:sp>
      <p:sp>
        <p:nvSpPr>
          <p:cNvPr id="415" name="Google Shape;415;p32"/>
          <p:cNvSpPr txBox="1"/>
          <p:nvPr/>
        </p:nvSpPr>
        <p:spPr>
          <a:xfrm>
            <a:off x="6144000" y="991925"/>
            <a:ext cx="3000000" cy="3848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tr" b="1">
                <a:solidFill>
                  <a:srgbClr val="CCCCCC"/>
                </a:solidFill>
              </a:rPr>
              <a:t>Usage</a:t>
            </a:r>
            <a:endParaRPr b="1">
              <a:solidFill>
                <a:srgbClr val="CCCCCC"/>
              </a:solidFill>
            </a:endParaRPr>
          </a:p>
          <a:p>
            <a:pPr marL="0" lvl="0" indent="0" algn="ctr" rtl="0">
              <a:spcBef>
                <a:spcPts val="0"/>
              </a:spcBef>
              <a:spcAft>
                <a:spcPts val="0"/>
              </a:spcAft>
              <a:buNone/>
            </a:pPr>
            <a:r>
              <a:rPr lang="tr">
                <a:solidFill>
                  <a:srgbClr val="B7B7B7"/>
                </a:solidFill>
              </a:rPr>
              <a:t>This pattern is useful for knowledge exploration around specific entities. The retriever will find all connected entities and hence all relationships to other entities within the complete dataset. The effort of setting up the required Graph Pattern is quite high since there are a lot of steps to be taken: entity &amp; relationship extraction, Community detection and Community summarizations. It needs to be considered which of these tasks shall be executed by LLMs and which tasks can be handled differently to keep the pre-processing cost acceptable.</a:t>
            </a:r>
            <a:endParaRPr>
              <a:solidFill>
                <a:srgbClr val="B7B7B7"/>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19"/>
        <p:cNvGrpSpPr/>
        <p:nvPr/>
      </p:nvGrpSpPr>
      <p:grpSpPr>
        <a:xfrm>
          <a:off x="0" y="0"/>
          <a:ext cx="0" cy="0"/>
          <a:chOff x="0" y="0"/>
          <a:chExt cx="0" cy="0"/>
        </a:xfrm>
      </p:grpSpPr>
      <p:sp>
        <p:nvSpPr>
          <p:cNvPr id="420" name="Google Shape;420;p33"/>
          <p:cNvSpPr txBox="1"/>
          <p:nvPr/>
        </p:nvSpPr>
        <p:spPr>
          <a:xfrm>
            <a:off x="2911050" y="99275"/>
            <a:ext cx="3321900" cy="646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tr" sz="3000" b="1">
                <a:solidFill>
                  <a:schemeClr val="lt1"/>
                </a:solidFill>
                <a:latin typeface="Times New Roman"/>
                <a:ea typeface="Times New Roman"/>
                <a:cs typeface="Times New Roman"/>
                <a:sym typeface="Times New Roman"/>
              </a:rPr>
              <a:t>Metadata Filtering</a:t>
            </a:r>
            <a:endParaRPr sz="3000" b="1">
              <a:solidFill>
                <a:schemeClr val="lt1"/>
              </a:solidFill>
              <a:latin typeface="Times New Roman"/>
              <a:ea typeface="Times New Roman"/>
              <a:cs typeface="Times New Roman"/>
              <a:sym typeface="Times New Roman"/>
            </a:endParaRPr>
          </a:p>
        </p:txBody>
      </p:sp>
      <p:sp>
        <p:nvSpPr>
          <p:cNvPr id="421" name="Google Shape;421;p33"/>
          <p:cNvSpPr txBox="1"/>
          <p:nvPr/>
        </p:nvSpPr>
        <p:spPr>
          <a:xfrm>
            <a:off x="565450" y="1401900"/>
            <a:ext cx="3000000" cy="2339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tr" b="1">
                <a:solidFill>
                  <a:srgbClr val="CCCCCC"/>
                </a:solidFill>
              </a:rPr>
              <a:t>Description</a:t>
            </a:r>
            <a:endParaRPr b="1">
              <a:solidFill>
                <a:srgbClr val="CCCCCC"/>
              </a:solidFill>
            </a:endParaRPr>
          </a:p>
          <a:p>
            <a:pPr marL="0" lvl="0" indent="0" algn="ctr" rtl="0">
              <a:spcBef>
                <a:spcPts val="0"/>
              </a:spcBef>
              <a:spcAft>
                <a:spcPts val="0"/>
              </a:spcAft>
              <a:buNone/>
            </a:pPr>
            <a:r>
              <a:rPr lang="tr">
                <a:solidFill>
                  <a:srgbClr val="B7B7B7"/>
                </a:solidFill>
              </a:rPr>
              <a:t>Metadata information that is present in the underlying database is retrieved from the user question. The user question is embedded using the same embedder that has been used before. A vector similarity search is executed only on the embeddings of nodes that meet the filtering requirements.</a:t>
            </a:r>
            <a:endParaRPr>
              <a:solidFill>
                <a:srgbClr val="B7B7B7"/>
              </a:solidFill>
            </a:endParaRPr>
          </a:p>
        </p:txBody>
      </p:sp>
      <p:sp>
        <p:nvSpPr>
          <p:cNvPr id="422" name="Google Shape;422;p33"/>
          <p:cNvSpPr txBox="1"/>
          <p:nvPr/>
        </p:nvSpPr>
        <p:spPr>
          <a:xfrm>
            <a:off x="5382800" y="678450"/>
            <a:ext cx="3000000" cy="3786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tr" sz="1300" b="1">
                <a:solidFill>
                  <a:srgbClr val="CCCCCC"/>
                </a:solidFill>
              </a:rPr>
              <a:t>Usage</a:t>
            </a:r>
            <a:endParaRPr sz="1300" b="1">
              <a:solidFill>
                <a:srgbClr val="CCCCCC"/>
              </a:solidFill>
            </a:endParaRPr>
          </a:p>
          <a:p>
            <a:pPr marL="0" lvl="0" indent="0" algn="ctr" rtl="0">
              <a:spcBef>
                <a:spcPts val="0"/>
              </a:spcBef>
              <a:spcAft>
                <a:spcPts val="0"/>
              </a:spcAft>
              <a:buNone/>
            </a:pPr>
            <a:r>
              <a:rPr lang="tr" sz="1300">
                <a:solidFill>
                  <a:srgbClr val="B7B7B7"/>
                </a:solidFill>
              </a:rPr>
              <a:t>It is always useful to have structured data that can help filtering the dataset. If applied correctly, metadata filtering will lead to less hallucinations within the answers. However, if we only have unstructured data without metadata, the metadata extraction first needs to be executed, e.g. by an LLM. This can lead to inconsistencies and relevant documents being excluded from the search.</a:t>
            </a:r>
            <a:endParaRPr sz="1300">
              <a:solidFill>
                <a:srgbClr val="B7B7B7"/>
              </a:solidFill>
            </a:endParaRPr>
          </a:p>
          <a:p>
            <a:pPr marL="0" lvl="0" indent="0" algn="ctr" rtl="0">
              <a:spcBef>
                <a:spcPts val="0"/>
              </a:spcBef>
              <a:spcAft>
                <a:spcPts val="0"/>
              </a:spcAft>
              <a:buNone/>
            </a:pPr>
            <a:r>
              <a:rPr lang="tr" sz="1300">
                <a:solidFill>
                  <a:srgbClr val="B7B7B7"/>
                </a:solidFill>
              </a:rPr>
              <a:t>Metadata filtering can happen before or after the vector search. Filtering can also happen pattern-based where nodes are not only filtered based on given values but also on existing or non-existing patterns.</a:t>
            </a:r>
            <a:endParaRPr sz="1300">
              <a:solidFill>
                <a:srgbClr val="B7B7B7"/>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26"/>
        <p:cNvGrpSpPr/>
        <p:nvPr/>
      </p:nvGrpSpPr>
      <p:grpSpPr>
        <a:xfrm>
          <a:off x="0" y="0"/>
          <a:ext cx="0" cy="0"/>
          <a:chOff x="0" y="0"/>
          <a:chExt cx="0" cy="0"/>
        </a:xfrm>
      </p:grpSpPr>
      <p:sp>
        <p:nvSpPr>
          <p:cNvPr id="427" name="Google Shape;427;p34"/>
          <p:cNvSpPr txBox="1"/>
          <p:nvPr/>
        </p:nvSpPr>
        <p:spPr>
          <a:xfrm>
            <a:off x="2575500" y="69675"/>
            <a:ext cx="3993000" cy="646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tr" sz="3000" b="1">
                <a:solidFill>
                  <a:schemeClr val="lt1"/>
                </a:solidFill>
                <a:latin typeface="Times New Roman"/>
                <a:ea typeface="Times New Roman"/>
                <a:cs typeface="Times New Roman"/>
                <a:sym typeface="Times New Roman"/>
              </a:rPr>
              <a:t>Parent-Child Retriever</a:t>
            </a:r>
            <a:endParaRPr sz="3000" b="1">
              <a:solidFill>
                <a:schemeClr val="lt1"/>
              </a:solidFill>
              <a:latin typeface="Times New Roman"/>
              <a:ea typeface="Times New Roman"/>
              <a:cs typeface="Times New Roman"/>
              <a:sym typeface="Times New Roman"/>
            </a:endParaRPr>
          </a:p>
        </p:txBody>
      </p:sp>
      <p:pic>
        <p:nvPicPr>
          <p:cNvPr id="428" name="Google Shape;428;p34"/>
          <p:cNvPicPr preferRelativeResize="0"/>
          <p:nvPr/>
        </p:nvPicPr>
        <p:blipFill>
          <a:blip r:embed="rId3">
            <a:alphaModFix/>
          </a:blip>
          <a:stretch>
            <a:fillRect/>
          </a:stretch>
        </p:blipFill>
        <p:spPr>
          <a:xfrm>
            <a:off x="3063513" y="981325"/>
            <a:ext cx="3016975" cy="3565526"/>
          </a:xfrm>
          <a:prstGeom prst="rect">
            <a:avLst/>
          </a:prstGeom>
          <a:noFill/>
          <a:ln>
            <a:noFill/>
          </a:ln>
        </p:spPr>
      </p:pic>
      <p:sp>
        <p:nvSpPr>
          <p:cNvPr id="429" name="Google Shape;429;p34"/>
          <p:cNvSpPr txBox="1"/>
          <p:nvPr/>
        </p:nvSpPr>
        <p:spPr>
          <a:xfrm>
            <a:off x="0" y="981325"/>
            <a:ext cx="3000000" cy="3632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tr" b="1">
                <a:solidFill>
                  <a:srgbClr val="CCCCCC"/>
                </a:solidFill>
              </a:rPr>
              <a:t>Description</a:t>
            </a:r>
            <a:endParaRPr b="1">
              <a:solidFill>
                <a:srgbClr val="CCCCCC"/>
              </a:solidFill>
            </a:endParaRPr>
          </a:p>
          <a:p>
            <a:pPr marL="0" lvl="0" indent="0" algn="ctr" rtl="0">
              <a:spcBef>
                <a:spcPts val="0"/>
              </a:spcBef>
              <a:spcAft>
                <a:spcPts val="0"/>
              </a:spcAft>
              <a:buNone/>
            </a:pPr>
            <a:r>
              <a:rPr lang="tr">
                <a:solidFill>
                  <a:srgbClr val="B7B7B7"/>
                </a:solidFill>
              </a:rPr>
              <a:t>The user question is embedded using the same embedder that has been used before to create the Chunk embeddings. A vector similarity search is executed on the Child Chunk embeddings to find k (number previously configured by developer / user) most similar Chunks. The Parent of the found Child Chunks are retrieved and additional metadata from the parent returned. Optionally chunks for the same parent are aggregated and their scores are averaged or picked by max.</a:t>
            </a:r>
            <a:endParaRPr>
              <a:solidFill>
                <a:srgbClr val="B7B7B7"/>
              </a:solidFill>
            </a:endParaRPr>
          </a:p>
        </p:txBody>
      </p:sp>
      <p:sp>
        <p:nvSpPr>
          <p:cNvPr id="430" name="Google Shape;430;p34"/>
          <p:cNvSpPr txBox="1"/>
          <p:nvPr/>
        </p:nvSpPr>
        <p:spPr>
          <a:xfrm>
            <a:off x="6144025" y="981325"/>
            <a:ext cx="3000000" cy="2986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tr" b="1">
                <a:solidFill>
                  <a:srgbClr val="CCCCCC"/>
                </a:solidFill>
              </a:rPr>
              <a:t>Usage</a:t>
            </a:r>
            <a:endParaRPr b="1">
              <a:solidFill>
                <a:srgbClr val="CCCCCC"/>
              </a:solidFill>
            </a:endParaRPr>
          </a:p>
          <a:p>
            <a:pPr marL="0" lvl="0" indent="0" algn="ctr" rtl="0">
              <a:spcBef>
                <a:spcPts val="0"/>
              </a:spcBef>
              <a:spcAft>
                <a:spcPts val="0"/>
              </a:spcAft>
              <a:buNone/>
            </a:pPr>
            <a:r>
              <a:rPr lang="tr">
                <a:solidFill>
                  <a:srgbClr val="B7B7B7"/>
                </a:solidFill>
              </a:rPr>
              <a:t>This pattern is a useful evolution of the Basic Retriever. It is especially useful when several topics are covered in a chunk which subsequently influence the embedding negatively while smaller chunks will have more meaningful vector representations which can then lead to better similarity search results. With limited additional effort, better results can be obtained.</a:t>
            </a:r>
            <a:endParaRPr>
              <a:solidFill>
                <a:srgbClr val="B7B7B7"/>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34"/>
        <p:cNvGrpSpPr/>
        <p:nvPr/>
      </p:nvGrpSpPr>
      <p:grpSpPr>
        <a:xfrm>
          <a:off x="0" y="0"/>
          <a:ext cx="0" cy="0"/>
          <a:chOff x="0" y="0"/>
          <a:chExt cx="0" cy="0"/>
        </a:xfrm>
      </p:grpSpPr>
      <p:sp>
        <p:nvSpPr>
          <p:cNvPr id="435" name="Google Shape;435;p35"/>
          <p:cNvSpPr txBox="1"/>
          <p:nvPr/>
        </p:nvSpPr>
        <p:spPr>
          <a:xfrm>
            <a:off x="3336750" y="59800"/>
            <a:ext cx="2470500" cy="646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tr" sz="3000" b="1">
                <a:solidFill>
                  <a:schemeClr val="lt1"/>
                </a:solidFill>
                <a:latin typeface="Times New Roman"/>
                <a:ea typeface="Times New Roman"/>
                <a:cs typeface="Times New Roman"/>
                <a:sym typeface="Times New Roman"/>
              </a:rPr>
              <a:t>Text2Cypher</a:t>
            </a:r>
            <a:endParaRPr sz="3000" b="1">
              <a:solidFill>
                <a:schemeClr val="lt1"/>
              </a:solidFill>
              <a:latin typeface="Times New Roman"/>
              <a:ea typeface="Times New Roman"/>
              <a:cs typeface="Times New Roman"/>
              <a:sym typeface="Times New Roman"/>
            </a:endParaRPr>
          </a:p>
        </p:txBody>
      </p:sp>
      <p:pic>
        <p:nvPicPr>
          <p:cNvPr id="436" name="Google Shape;436;p35"/>
          <p:cNvPicPr preferRelativeResize="0"/>
          <p:nvPr/>
        </p:nvPicPr>
        <p:blipFill>
          <a:blip r:embed="rId3">
            <a:alphaModFix/>
          </a:blip>
          <a:stretch>
            <a:fillRect/>
          </a:stretch>
        </p:blipFill>
        <p:spPr>
          <a:xfrm>
            <a:off x="43500" y="2843774"/>
            <a:ext cx="4682214" cy="2235950"/>
          </a:xfrm>
          <a:prstGeom prst="rect">
            <a:avLst/>
          </a:prstGeom>
          <a:noFill/>
          <a:ln>
            <a:noFill/>
          </a:ln>
        </p:spPr>
      </p:pic>
      <p:sp>
        <p:nvSpPr>
          <p:cNvPr id="437" name="Google Shape;437;p35"/>
          <p:cNvSpPr txBox="1"/>
          <p:nvPr/>
        </p:nvSpPr>
        <p:spPr>
          <a:xfrm>
            <a:off x="43500" y="935175"/>
            <a:ext cx="3000000" cy="1908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tr" b="1">
                <a:solidFill>
                  <a:srgbClr val="CCCCCC"/>
                </a:solidFill>
              </a:rPr>
              <a:t>Description</a:t>
            </a:r>
            <a:endParaRPr b="1">
              <a:solidFill>
                <a:srgbClr val="CCCCCC"/>
              </a:solidFill>
            </a:endParaRPr>
          </a:p>
          <a:p>
            <a:pPr marL="0" lvl="0" indent="0" algn="ctr" rtl="0">
              <a:spcBef>
                <a:spcPts val="0"/>
              </a:spcBef>
              <a:spcAft>
                <a:spcPts val="0"/>
              </a:spcAft>
              <a:buNone/>
            </a:pPr>
            <a:r>
              <a:rPr lang="tr">
                <a:solidFill>
                  <a:srgbClr val="B7B7B7"/>
                </a:solidFill>
              </a:rPr>
              <a:t>The user question is combined with a graph schema and translated by the LLM to a Cypher query, which is then executed against the database. The data returned by the execution is provided to the LLM for question answering.</a:t>
            </a:r>
            <a:endParaRPr>
              <a:solidFill>
                <a:srgbClr val="B7B7B7"/>
              </a:solidFill>
            </a:endParaRPr>
          </a:p>
        </p:txBody>
      </p:sp>
      <p:sp>
        <p:nvSpPr>
          <p:cNvPr id="438" name="Google Shape;438;p35"/>
          <p:cNvSpPr txBox="1"/>
          <p:nvPr/>
        </p:nvSpPr>
        <p:spPr>
          <a:xfrm>
            <a:off x="6144000" y="369725"/>
            <a:ext cx="3000000" cy="47100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tr" b="1">
                <a:solidFill>
                  <a:srgbClr val="CCCCCC"/>
                </a:solidFill>
              </a:rPr>
              <a:t>Usage</a:t>
            </a:r>
            <a:endParaRPr sz="1500" b="1">
              <a:solidFill>
                <a:srgbClr val="CCCCCC"/>
              </a:solidFill>
            </a:endParaRPr>
          </a:p>
          <a:p>
            <a:pPr marL="0" lvl="0" indent="0" algn="ctr" rtl="0">
              <a:spcBef>
                <a:spcPts val="0"/>
              </a:spcBef>
              <a:spcAft>
                <a:spcPts val="0"/>
              </a:spcAft>
              <a:buNone/>
            </a:pPr>
            <a:r>
              <a:rPr lang="tr">
                <a:solidFill>
                  <a:srgbClr val="B7B7B7"/>
                </a:solidFill>
              </a:rPr>
              <a:t>This pattern is highly flexible. There are no predefined queries and (in theory) the LLM can generate any query that fits the provided schema. However, this pattern is not 100% reliable as it is limited by the Cypher query language understanding of the foundation models. This situation can be improved by fine-tuning models for improved generation (see below). LLMs are not perfect when translating text to Cypher, so there needs to be either a human it the loop (HITL) or appropriate guardrails like syntax checks or read-only execution. In case of error the question, schema and error can be retried with the LLM for a better result.</a:t>
            </a:r>
            <a:endParaRPr>
              <a:solidFill>
                <a:srgbClr val="B7B7B7"/>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42"/>
        <p:cNvGrpSpPr/>
        <p:nvPr/>
      </p:nvGrpSpPr>
      <p:grpSpPr>
        <a:xfrm>
          <a:off x="0" y="0"/>
          <a:ext cx="0" cy="0"/>
          <a:chOff x="0" y="0"/>
          <a:chExt cx="0" cy="0"/>
        </a:xfrm>
      </p:grpSpPr>
      <p:sp>
        <p:nvSpPr>
          <p:cNvPr id="443" name="Google Shape;443;p36"/>
          <p:cNvSpPr txBox="1"/>
          <p:nvPr/>
        </p:nvSpPr>
        <p:spPr>
          <a:xfrm>
            <a:off x="2961750" y="89400"/>
            <a:ext cx="3220500" cy="646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tr" sz="3000" b="1">
                <a:solidFill>
                  <a:schemeClr val="lt1"/>
                </a:solidFill>
                <a:latin typeface="Times New Roman"/>
                <a:ea typeface="Times New Roman"/>
                <a:cs typeface="Times New Roman"/>
                <a:sym typeface="Times New Roman"/>
              </a:rPr>
              <a:t>Graph to Sentence</a:t>
            </a:r>
            <a:endParaRPr sz="3000" b="1">
              <a:solidFill>
                <a:schemeClr val="lt1"/>
              </a:solidFill>
              <a:latin typeface="Times New Roman"/>
              <a:ea typeface="Times New Roman"/>
              <a:cs typeface="Times New Roman"/>
              <a:sym typeface="Times New Roman"/>
            </a:endParaRPr>
          </a:p>
        </p:txBody>
      </p:sp>
      <p:pic>
        <p:nvPicPr>
          <p:cNvPr id="444" name="Google Shape;444;p36"/>
          <p:cNvPicPr preferRelativeResize="0"/>
          <p:nvPr/>
        </p:nvPicPr>
        <p:blipFill>
          <a:blip r:embed="rId3">
            <a:alphaModFix/>
          </a:blip>
          <a:stretch>
            <a:fillRect/>
          </a:stretch>
        </p:blipFill>
        <p:spPr>
          <a:xfrm>
            <a:off x="0" y="888300"/>
            <a:ext cx="9144000" cy="3162255"/>
          </a:xfrm>
          <a:prstGeom prst="rect">
            <a:avLst/>
          </a:prstGeom>
          <a:noFill/>
          <a:ln>
            <a:noFill/>
          </a:ln>
        </p:spPr>
      </p:pic>
      <p:cxnSp>
        <p:nvCxnSpPr>
          <p:cNvPr id="445" name="Google Shape;445;p36"/>
          <p:cNvCxnSpPr/>
          <p:nvPr/>
        </p:nvCxnSpPr>
        <p:spPr>
          <a:xfrm>
            <a:off x="1788875" y="2323950"/>
            <a:ext cx="5795100" cy="977400"/>
          </a:xfrm>
          <a:prstGeom prst="straightConnector1">
            <a:avLst/>
          </a:prstGeom>
          <a:noFill/>
          <a:ln w="9525" cap="flat" cmpd="sng">
            <a:solidFill>
              <a:srgbClr val="FF0000"/>
            </a:solidFill>
            <a:prstDash val="solid"/>
            <a:round/>
            <a:headEnd type="none" w="med" len="med"/>
            <a:tailEnd type="triangle" w="med" len="med"/>
          </a:ln>
        </p:spPr>
      </p:cxnSp>
      <p:cxnSp>
        <p:nvCxnSpPr>
          <p:cNvPr id="446" name="Google Shape;446;p36"/>
          <p:cNvCxnSpPr/>
          <p:nvPr/>
        </p:nvCxnSpPr>
        <p:spPr>
          <a:xfrm>
            <a:off x="5461400" y="2116625"/>
            <a:ext cx="2122500" cy="1352400"/>
          </a:xfrm>
          <a:prstGeom prst="straightConnector1">
            <a:avLst/>
          </a:prstGeom>
          <a:noFill/>
          <a:ln w="9525" cap="flat" cmpd="sng">
            <a:solidFill>
              <a:srgbClr val="FF0000"/>
            </a:solidFill>
            <a:prstDash val="solid"/>
            <a:round/>
            <a:headEnd type="none" w="med" len="med"/>
            <a:tailEnd type="triangle" w="med" len="med"/>
          </a:ln>
        </p:spPr>
      </p:cxnSp>
      <p:cxnSp>
        <p:nvCxnSpPr>
          <p:cNvPr id="447" name="Google Shape;447;p36"/>
          <p:cNvCxnSpPr/>
          <p:nvPr/>
        </p:nvCxnSpPr>
        <p:spPr>
          <a:xfrm>
            <a:off x="3437550" y="1988300"/>
            <a:ext cx="4867200" cy="1352400"/>
          </a:xfrm>
          <a:prstGeom prst="straightConnector1">
            <a:avLst/>
          </a:prstGeom>
          <a:noFill/>
          <a:ln w="9525" cap="flat" cmpd="sng">
            <a:solidFill>
              <a:srgbClr val="FF0000"/>
            </a:solidFill>
            <a:prstDash val="solid"/>
            <a:round/>
            <a:headEnd type="none" w="med" len="med"/>
            <a:tailEnd type="triangle" w="med" len="med"/>
          </a:ln>
        </p:spPr>
      </p:cxnSp>
      <p:cxnSp>
        <p:nvCxnSpPr>
          <p:cNvPr id="448" name="Google Shape;448;p36"/>
          <p:cNvCxnSpPr/>
          <p:nvPr/>
        </p:nvCxnSpPr>
        <p:spPr>
          <a:xfrm flipH="1">
            <a:off x="2697275" y="2254850"/>
            <a:ext cx="4343700" cy="2033700"/>
          </a:xfrm>
          <a:prstGeom prst="straightConnector1">
            <a:avLst/>
          </a:prstGeom>
          <a:noFill/>
          <a:ln w="9525" cap="flat" cmpd="sng">
            <a:solidFill>
              <a:srgbClr val="0000FF"/>
            </a:solidFill>
            <a:prstDash val="solid"/>
            <a:round/>
            <a:headEnd type="none" w="med" len="med"/>
            <a:tailEnd type="triangle" w="med" len="med"/>
          </a:ln>
        </p:spPr>
      </p:cxnSp>
      <p:sp>
        <p:nvSpPr>
          <p:cNvPr id="449" name="Google Shape;449;p36"/>
          <p:cNvSpPr txBox="1"/>
          <p:nvPr/>
        </p:nvSpPr>
        <p:spPr>
          <a:xfrm>
            <a:off x="2092950" y="4288550"/>
            <a:ext cx="8688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tr" sz="1300" b="1"/>
              <a:t>BGE-M3</a:t>
            </a:r>
            <a:endParaRPr sz="1300" b="1"/>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53"/>
        <p:cNvGrpSpPr/>
        <p:nvPr/>
      </p:nvGrpSpPr>
      <p:grpSpPr>
        <a:xfrm>
          <a:off x="0" y="0"/>
          <a:ext cx="0" cy="0"/>
          <a:chOff x="0" y="0"/>
          <a:chExt cx="0" cy="0"/>
        </a:xfrm>
      </p:grpSpPr>
      <p:pic>
        <p:nvPicPr>
          <p:cNvPr id="454" name="Google Shape;454;p37"/>
          <p:cNvPicPr preferRelativeResize="0"/>
          <p:nvPr/>
        </p:nvPicPr>
        <p:blipFill>
          <a:blip r:embed="rId3">
            <a:alphaModFix/>
          </a:blip>
          <a:stretch>
            <a:fillRect/>
          </a:stretch>
        </p:blipFill>
        <p:spPr>
          <a:xfrm>
            <a:off x="0" y="0"/>
            <a:ext cx="4438650" cy="2019300"/>
          </a:xfrm>
          <a:prstGeom prst="rect">
            <a:avLst/>
          </a:prstGeom>
          <a:noFill/>
          <a:ln>
            <a:noFill/>
          </a:ln>
        </p:spPr>
      </p:pic>
      <p:pic>
        <p:nvPicPr>
          <p:cNvPr id="455" name="Google Shape;455;p37"/>
          <p:cNvPicPr preferRelativeResize="0"/>
          <p:nvPr/>
        </p:nvPicPr>
        <p:blipFill>
          <a:blip r:embed="rId4">
            <a:alphaModFix/>
          </a:blip>
          <a:stretch>
            <a:fillRect/>
          </a:stretch>
        </p:blipFill>
        <p:spPr>
          <a:xfrm>
            <a:off x="0" y="2779050"/>
            <a:ext cx="4445602" cy="2364450"/>
          </a:xfrm>
          <a:prstGeom prst="rect">
            <a:avLst/>
          </a:prstGeom>
          <a:noFill/>
          <a:ln>
            <a:noFill/>
          </a:ln>
        </p:spPr>
      </p:pic>
      <p:cxnSp>
        <p:nvCxnSpPr>
          <p:cNvPr id="456" name="Google Shape;456;p37"/>
          <p:cNvCxnSpPr>
            <a:stCxn id="454" idx="2"/>
            <a:endCxn id="455" idx="0"/>
          </p:cNvCxnSpPr>
          <p:nvPr/>
        </p:nvCxnSpPr>
        <p:spPr>
          <a:xfrm>
            <a:off x="2219325" y="2019300"/>
            <a:ext cx="3600" cy="759900"/>
          </a:xfrm>
          <a:prstGeom prst="straightConnector1">
            <a:avLst/>
          </a:prstGeom>
          <a:noFill/>
          <a:ln w="9525" cap="flat" cmpd="sng">
            <a:solidFill>
              <a:srgbClr val="FF0000"/>
            </a:solidFill>
            <a:prstDash val="solid"/>
            <a:round/>
            <a:headEnd type="none" w="med" len="med"/>
            <a:tailEnd type="triangle" w="med" len="med"/>
          </a:ln>
        </p:spPr>
      </p:cxnSp>
      <p:pic>
        <p:nvPicPr>
          <p:cNvPr id="457" name="Google Shape;457;p37"/>
          <p:cNvPicPr preferRelativeResize="0"/>
          <p:nvPr/>
        </p:nvPicPr>
        <p:blipFill>
          <a:blip r:embed="rId5">
            <a:alphaModFix/>
          </a:blip>
          <a:stretch>
            <a:fillRect/>
          </a:stretch>
        </p:blipFill>
        <p:spPr>
          <a:xfrm>
            <a:off x="4832600" y="0"/>
            <a:ext cx="4311400" cy="5143501"/>
          </a:xfrm>
          <a:prstGeom prst="rect">
            <a:avLst/>
          </a:prstGeom>
          <a:noFill/>
          <a:ln>
            <a:noFill/>
          </a:ln>
        </p:spPr>
      </p:pic>
      <p:cxnSp>
        <p:nvCxnSpPr>
          <p:cNvPr id="458" name="Google Shape;458;p37"/>
          <p:cNvCxnSpPr>
            <a:stCxn id="455" idx="3"/>
            <a:endCxn id="457" idx="1"/>
          </p:cNvCxnSpPr>
          <p:nvPr/>
        </p:nvCxnSpPr>
        <p:spPr>
          <a:xfrm rot="10800000" flipH="1">
            <a:off x="4445602" y="2571675"/>
            <a:ext cx="387000" cy="1389600"/>
          </a:xfrm>
          <a:prstGeom prst="straightConnector1">
            <a:avLst/>
          </a:prstGeom>
          <a:noFill/>
          <a:ln w="9525" cap="flat" cmpd="sng">
            <a:solidFill>
              <a:srgbClr val="FF0000"/>
            </a:solidFill>
            <a:prstDash val="solid"/>
            <a:round/>
            <a:headEnd type="none" w="med" len="med"/>
            <a:tailEnd type="triangle" w="med" len="med"/>
          </a:ln>
        </p:spPr>
      </p:cxn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62"/>
        <p:cNvGrpSpPr/>
        <p:nvPr/>
      </p:nvGrpSpPr>
      <p:grpSpPr>
        <a:xfrm>
          <a:off x="0" y="0"/>
          <a:ext cx="0" cy="0"/>
          <a:chOff x="0" y="0"/>
          <a:chExt cx="0" cy="0"/>
        </a:xfrm>
      </p:grpSpPr>
      <p:pic>
        <p:nvPicPr>
          <p:cNvPr id="463" name="Google Shape;463;p38"/>
          <p:cNvPicPr preferRelativeResize="0"/>
          <p:nvPr/>
        </p:nvPicPr>
        <p:blipFill>
          <a:blip r:embed="rId3">
            <a:alphaModFix/>
          </a:blip>
          <a:stretch>
            <a:fillRect/>
          </a:stretch>
        </p:blipFill>
        <p:spPr>
          <a:xfrm>
            <a:off x="2210363" y="0"/>
            <a:ext cx="4723275" cy="3304275"/>
          </a:xfrm>
          <a:prstGeom prst="rect">
            <a:avLst/>
          </a:prstGeom>
          <a:noFill/>
          <a:ln>
            <a:noFill/>
          </a:ln>
        </p:spPr>
      </p:pic>
      <p:pic>
        <p:nvPicPr>
          <p:cNvPr id="464" name="Google Shape;464;p38"/>
          <p:cNvPicPr preferRelativeResize="0"/>
          <p:nvPr/>
        </p:nvPicPr>
        <p:blipFill>
          <a:blip r:embed="rId4">
            <a:alphaModFix/>
          </a:blip>
          <a:stretch>
            <a:fillRect/>
          </a:stretch>
        </p:blipFill>
        <p:spPr>
          <a:xfrm>
            <a:off x="152400" y="3826576"/>
            <a:ext cx="8839200" cy="467958"/>
          </a:xfrm>
          <a:prstGeom prst="rect">
            <a:avLst/>
          </a:prstGeom>
          <a:noFill/>
          <a:ln>
            <a:noFill/>
          </a:ln>
        </p:spPr>
      </p:pic>
      <p:cxnSp>
        <p:nvCxnSpPr>
          <p:cNvPr id="465" name="Google Shape;465;p38"/>
          <p:cNvCxnSpPr>
            <a:stCxn id="463" idx="2"/>
            <a:endCxn id="464" idx="0"/>
          </p:cNvCxnSpPr>
          <p:nvPr/>
        </p:nvCxnSpPr>
        <p:spPr>
          <a:xfrm>
            <a:off x="4572000" y="3304275"/>
            <a:ext cx="0" cy="522300"/>
          </a:xfrm>
          <a:prstGeom prst="straightConnector1">
            <a:avLst/>
          </a:prstGeom>
          <a:noFill/>
          <a:ln w="9525" cap="flat" cmpd="sng">
            <a:solidFill>
              <a:srgbClr val="FF0000"/>
            </a:solidFill>
            <a:prstDash val="solid"/>
            <a:round/>
            <a:headEnd type="none" w="med" len="med"/>
            <a:tailEnd type="triangle" w="med" len="med"/>
          </a:ln>
        </p:spPr>
      </p:cxn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469"/>
        <p:cNvGrpSpPr/>
        <p:nvPr/>
      </p:nvGrpSpPr>
      <p:grpSpPr>
        <a:xfrm>
          <a:off x="0" y="0"/>
          <a:ext cx="0" cy="0"/>
          <a:chOff x="0" y="0"/>
          <a:chExt cx="0" cy="0"/>
        </a:xfrm>
      </p:grpSpPr>
      <p:pic>
        <p:nvPicPr>
          <p:cNvPr id="470" name="Google Shape;470;p39"/>
          <p:cNvPicPr preferRelativeResize="0"/>
          <p:nvPr/>
        </p:nvPicPr>
        <p:blipFill>
          <a:blip r:embed="rId3">
            <a:alphaModFix/>
          </a:blip>
          <a:stretch>
            <a:fillRect/>
          </a:stretch>
        </p:blipFill>
        <p:spPr>
          <a:xfrm>
            <a:off x="0" y="0"/>
            <a:ext cx="9143999" cy="3853751"/>
          </a:xfrm>
          <a:prstGeom prst="rect">
            <a:avLst/>
          </a:prstGeom>
          <a:noFill/>
          <a:ln>
            <a:noFill/>
          </a:ln>
        </p:spPr>
      </p:pic>
      <p:pic>
        <p:nvPicPr>
          <p:cNvPr id="471" name="Google Shape;471;p39"/>
          <p:cNvPicPr preferRelativeResize="0"/>
          <p:nvPr/>
        </p:nvPicPr>
        <p:blipFill>
          <a:blip r:embed="rId4">
            <a:alphaModFix/>
          </a:blip>
          <a:stretch>
            <a:fillRect/>
          </a:stretch>
        </p:blipFill>
        <p:spPr>
          <a:xfrm>
            <a:off x="0" y="4197825"/>
            <a:ext cx="9143999" cy="945675"/>
          </a:xfrm>
          <a:prstGeom prst="rect">
            <a:avLst/>
          </a:prstGeom>
          <a:noFill/>
          <a:ln>
            <a:noFill/>
          </a:ln>
        </p:spPr>
      </p:pic>
      <p:cxnSp>
        <p:nvCxnSpPr>
          <p:cNvPr id="472" name="Google Shape;472;p39"/>
          <p:cNvCxnSpPr>
            <a:stCxn id="470" idx="2"/>
            <a:endCxn id="471" idx="0"/>
          </p:cNvCxnSpPr>
          <p:nvPr/>
        </p:nvCxnSpPr>
        <p:spPr>
          <a:xfrm>
            <a:off x="4572000" y="3853751"/>
            <a:ext cx="0" cy="344100"/>
          </a:xfrm>
          <a:prstGeom prst="straightConnector1">
            <a:avLst/>
          </a:prstGeom>
          <a:noFill/>
          <a:ln w="9525" cap="flat" cmpd="sng">
            <a:solidFill>
              <a:srgbClr val="FF0000"/>
            </a:solidFill>
            <a:prstDash val="solid"/>
            <a:round/>
            <a:headEnd type="none" w="med" len="med"/>
            <a:tailEnd type="triangle" w="med" len="med"/>
          </a:ln>
        </p:spPr>
      </p:cxn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476"/>
        <p:cNvGrpSpPr/>
        <p:nvPr/>
      </p:nvGrpSpPr>
      <p:grpSpPr>
        <a:xfrm>
          <a:off x="0" y="0"/>
          <a:ext cx="0" cy="0"/>
          <a:chOff x="0" y="0"/>
          <a:chExt cx="0" cy="0"/>
        </a:xfrm>
      </p:grpSpPr>
      <p:pic>
        <p:nvPicPr>
          <p:cNvPr id="477" name="Google Shape;477;p40"/>
          <p:cNvPicPr preferRelativeResize="0"/>
          <p:nvPr/>
        </p:nvPicPr>
        <p:blipFill>
          <a:blip r:embed="rId3">
            <a:alphaModFix/>
          </a:blip>
          <a:stretch>
            <a:fillRect/>
          </a:stretch>
        </p:blipFill>
        <p:spPr>
          <a:xfrm>
            <a:off x="1475475" y="779000"/>
            <a:ext cx="6193050" cy="4364500"/>
          </a:xfrm>
          <a:prstGeom prst="rect">
            <a:avLst/>
          </a:prstGeom>
          <a:noFill/>
          <a:ln>
            <a:noFill/>
          </a:ln>
        </p:spPr>
      </p:pic>
      <p:sp>
        <p:nvSpPr>
          <p:cNvPr id="478" name="Google Shape;478;p40"/>
          <p:cNvSpPr txBox="1"/>
          <p:nvPr/>
        </p:nvSpPr>
        <p:spPr>
          <a:xfrm>
            <a:off x="3954300" y="71150"/>
            <a:ext cx="1235400" cy="646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tr" sz="3000" b="1">
                <a:solidFill>
                  <a:schemeClr val="lt1"/>
                </a:solidFill>
                <a:latin typeface="Times New Roman"/>
                <a:ea typeface="Times New Roman"/>
                <a:cs typeface="Times New Roman"/>
                <a:sym typeface="Times New Roman"/>
              </a:rPr>
              <a:t>1-hop</a:t>
            </a:r>
            <a:endParaRPr sz="3000" b="1">
              <a:solidFill>
                <a:schemeClr val="lt1"/>
              </a:solidFill>
              <a:latin typeface="Times New Roman"/>
              <a:ea typeface="Times New Roman"/>
              <a:cs typeface="Times New Roman"/>
              <a:sym typeface="Times New Roman"/>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482"/>
        <p:cNvGrpSpPr/>
        <p:nvPr/>
      </p:nvGrpSpPr>
      <p:grpSpPr>
        <a:xfrm>
          <a:off x="0" y="0"/>
          <a:ext cx="0" cy="0"/>
          <a:chOff x="0" y="0"/>
          <a:chExt cx="0" cy="0"/>
        </a:xfrm>
      </p:grpSpPr>
      <p:sp>
        <p:nvSpPr>
          <p:cNvPr id="483" name="Google Shape;483;p41"/>
          <p:cNvSpPr txBox="1"/>
          <p:nvPr/>
        </p:nvSpPr>
        <p:spPr>
          <a:xfrm>
            <a:off x="3954300" y="0"/>
            <a:ext cx="1235400" cy="646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tr" sz="3000" b="1">
                <a:solidFill>
                  <a:schemeClr val="lt1"/>
                </a:solidFill>
                <a:latin typeface="Times New Roman"/>
                <a:ea typeface="Times New Roman"/>
                <a:cs typeface="Times New Roman"/>
                <a:sym typeface="Times New Roman"/>
              </a:rPr>
              <a:t>2-hop</a:t>
            </a:r>
            <a:endParaRPr sz="3000" b="1">
              <a:solidFill>
                <a:schemeClr val="lt1"/>
              </a:solidFill>
              <a:latin typeface="Times New Roman"/>
              <a:ea typeface="Times New Roman"/>
              <a:cs typeface="Times New Roman"/>
              <a:sym typeface="Times New Roman"/>
            </a:endParaRPr>
          </a:p>
        </p:txBody>
      </p:sp>
      <p:pic>
        <p:nvPicPr>
          <p:cNvPr id="484" name="Google Shape;484;p41"/>
          <p:cNvPicPr preferRelativeResize="0"/>
          <p:nvPr/>
        </p:nvPicPr>
        <p:blipFill>
          <a:blip r:embed="rId3">
            <a:alphaModFix/>
          </a:blip>
          <a:stretch>
            <a:fillRect/>
          </a:stretch>
        </p:blipFill>
        <p:spPr>
          <a:xfrm>
            <a:off x="1700845" y="646500"/>
            <a:ext cx="5742305" cy="4497001"/>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DB778B77-326E-B526-E758-98F48B017F7A}"/>
              </a:ext>
            </a:extLst>
          </p:cNvPr>
          <p:cNvSpPr>
            <a:spLocks noGrp="1"/>
          </p:cNvSpPr>
          <p:nvPr>
            <p:ph type="title"/>
          </p:nvPr>
        </p:nvSpPr>
        <p:spPr>
          <a:xfrm>
            <a:off x="1197232" y="1640100"/>
            <a:ext cx="6749535" cy="1863300"/>
          </a:xfrm>
        </p:spPr>
        <p:txBody>
          <a:bodyPr>
            <a:normAutofit fontScale="90000"/>
          </a:bodyPr>
          <a:lstStyle/>
          <a:p>
            <a:r>
              <a:rPr lang="tr-TR" b="0" dirty="0">
                <a:solidFill>
                  <a:schemeClr val="bg1"/>
                </a:solidFill>
              </a:rPr>
              <a:t>TEŞEKKÜRLER</a:t>
            </a:r>
          </a:p>
        </p:txBody>
      </p:sp>
    </p:spTree>
    <p:extLst>
      <p:ext uri="{BB962C8B-B14F-4D97-AF65-F5344CB8AC3E}">
        <p14:creationId xmlns:p14="http://schemas.microsoft.com/office/powerpoint/2010/main" val="615884542"/>
      </p:ext>
    </p:extLst>
  </p:cSld>
  <p:clrMapOvr>
    <a:masterClrMapping/>
  </p:clrMapOvr>
</p:sld>
</file>

<file path=ppt/theme/theme1.xml><?xml version="1.0" encoding="utf-8"?>
<a:theme xmlns:a="http://schemas.openxmlformats.org/drawingml/2006/main" name="Momentum">
  <a:themeElements>
    <a:clrScheme name="Momentum">
      <a:dk1>
        <a:srgbClr val="C0791B"/>
      </a:dk1>
      <a:lt1>
        <a:srgbClr val="FFFFFF"/>
      </a:lt1>
      <a:dk2>
        <a:srgbClr val="424242"/>
      </a:dk2>
      <a:lt2>
        <a:srgbClr val="8DD8D3"/>
      </a:lt2>
      <a:accent1>
        <a:srgbClr val="0B6374"/>
      </a:accent1>
      <a:accent2>
        <a:srgbClr val="FD5B58"/>
      </a:accent2>
      <a:accent3>
        <a:srgbClr val="599191"/>
      </a:accent3>
      <a:accent4>
        <a:srgbClr val="D7E6A3"/>
      </a:accent4>
      <a:accent5>
        <a:srgbClr val="27278B"/>
      </a:accent5>
      <a:accent6>
        <a:srgbClr val="D558AB"/>
      </a:accent6>
      <a:hlink>
        <a:srgbClr val="27278B"/>
      </a:hlink>
      <a:folHlink>
        <a:srgbClr val="2727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4155</Words>
  <Application>Microsoft Office PowerPoint</Application>
  <PresentationFormat>Ekran Gösterisi (16:9)</PresentationFormat>
  <Paragraphs>226</Paragraphs>
  <Slides>30</Slides>
  <Notes>29</Notes>
  <HiddenSlides>0</HiddenSlides>
  <MMClips>0</MMClips>
  <ScaleCrop>false</ScaleCrop>
  <HeadingPairs>
    <vt:vector size="6" baseType="variant">
      <vt:variant>
        <vt:lpstr>Kullanılan Yazı Tipleri</vt:lpstr>
      </vt:variant>
      <vt:variant>
        <vt:i4>7</vt:i4>
      </vt:variant>
      <vt:variant>
        <vt:lpstr>Tema</vt:lpstr>
      </vt:variant>
      <vt:variant>
        <vt:i4>1</vt:i4>
      </vt:variant>
      <vt:variant>
        <vt:lpstr>Slayt Başlıkları</vt:lpstr>
      </vt:variant>
      <vt:variant>
        <vt:i4>30</vt:i4>
      </vt:variant>
    </vt:vector>
  </HeadingPairs>
  <TitlesOfParts>
    <vt:vector size="38" baseType="lpstr">
      <vt:lpstr>Inter ExtraBold</vt:lpstr>
      <vt:lpstr>Inter SemiBold</vt:lpstr>
      <vt:lpstr>Inter</vt:lpstr>
      <vt:lpstr>Nunito</vt:lpstr>
      <vt:lpstr>Maven Pro</vt:lpstr>
      <vt:lpstr>Times New Roman</vt:lpstr>
      <vt:lpstr>Arial</vt:lpstr>
      <vt:lpstr>Momentum</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TEŞEKKÜRLER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Cüneyt Başkurt</cp:lastModifiedBy>
  <cp:revision>1</cp:revision>
  <dcterms:modified xsi:type="dcterms:W3CDTF">2026-08-20T10:37:51Z</dcterms:modified>
</cp:coreProperties>
</file>